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Nunito"/>
      <p:regular r:id="rId11"/>
      <p:bold r:id="rId12"/>
      <p:italic r:id="rId13"/>
      <p:boldItalic r:id="rId14"/>
    </p:embeddedFont>
    <p:embeddedFont>
      <p:font typeface="Maven Pro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VUVN5ih8SzIm/Zd0fdK7xm/Es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6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avenPro-regular.fntdata"/><Relationship Id="rId14" Type="http://schemas.openxmlformats.org/officeDocument/2006/relationships/font" Target="fonts/Nunito-boldItalic.fntdata"/><Relationship Id="rId17" Type="http://customschemas.google.com/relationships/presentationmetadata" Target="metadata"/><Relationship Id="rId16" Type="http://schemas.openxmlformats.org/officeDocument/2006/relationships/font" Target="fonts/MavenPr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3bfd5caf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3bfd5caf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f3bfd5caf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3bfd5cafa_0_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f3bfd5cafa_0_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f3bfd5cafa_0_2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g3f3bfd5cafa_0_10"/>
          <p:cNvGrpSpPr/>
          <p:nvPr/>
        </p:nvGrpSpPr>
        <p:grpSpPr>
          <a:xfrm>
            <a:off x="9790426" y="4546120"/>
            <a:ext cx="2255173" cy="2310006"/>
            <a:chOff x="7343003" y="3409675"/>
            <a:chExt cx="1691422" cy="1732548"/>
          </a:xfrm>
        </p:grpSpPr>
        <p:grpSp>
          <p:nvGrpSpPr>
            <p:cNvPr id="15" name="Google Shape;15;g3f3bfd5cafa_0_10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6" name="Google Shape;16;g3f3bfd5cafa_0_10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g3f3bfd5cafa_0_10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g3f3bfd5cafa_0_10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9" name="Google Shape;19;g3f3bfd5cafa_0_10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g3f3bfd5cafa_0_10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g3f3bfd5cafa_0_10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" name="Google Shape;22;g3f3bfd5cafa_0_10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3" name="Google Shape;23;g3f3bfd5cafa_0_10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g3f3bfd5cafa_0_10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g3f3bfd5cafa_0_10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g3f3bfd5cafa_0_10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g3f3bfd5cafa_0_10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8" name="Google Shape;28;g3f3bfd5cafa_0_10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g3f3bfd5cafa_0_10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g3f3bfd5cafa_0_10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g3f3bfd5cafa_0_10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g3f3bfd5cafa_0_10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" name="Google Shape;33;g3f3bfd5cafa_0_10"/>
          <p:cNvGrpSpPr/>
          <p:nvPr/>
        </p:nvGrpSpPr>
        <p:grpSpPr>
          <a:xfrm>
            <a:off x="6724502" y="0"/>
            <a:ext cx="5085303" cy="5118675"/>
            <a:chOff x="5043503" y="0"/>
            <a:chExt cx="3814072" cy="3839102"/>
          </a:xfrm>
        </p:grpSpPr>
        <p:sp>
          <p:nvSpPr>
            <p:cNvPr id="34" name="Google Shape;34;g3f3bfd5cafa_0_10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f3bfd5cafa_0_10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" name="Google Shape;36;g3f3bfd5cafa_0_10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7" name="Google Shape;37;g3f3bfd5cafa_0_10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g3f3bfd5cafa_0_10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g3f3bfd5cafa_0_10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g3f3bfd5cafa_0_10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" name="Google Shape;41;g3f3bfd5cafa_0_10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42" name="Google Shape;42;g3f3bfd5cafa_0_10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g3f3bfd5cafa_0_10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" name="Google Shape;44;g3f3bfd5cafa_0_10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g3f3bfd5cafa_0_10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g3f3bfd5cafa_0_10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g3f3bfd5cafa_0_10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g3f3bfd5cafa_0_10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g3f3bfd5cafa_0_10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g3f3bfd5cafa_0_10"/>
          <p:cNvSpPr txBox="1"/>
          <p:nvPr>
            <p:ph type="ctrTitle"/>
          </p:nvPr>
        </p:nvSpPr>
        <p:spPr>
          <a:xfrm>
            <a:off x="1098667" y="2151750"/>
            <a:ext cx="56739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g3f3bfd5cafa_0_10"/>
          <p:cNvSpPr txBox="1"/>
          <p:nvPr>
            <p:ph idx="1" type="subTitle"/>
          </p:nvPr>
        </p:nvSpPr>
        <p:spPr>
          <a:xfrm>
            <a:off x="1098667" y="4795067"/>
            <a:ext cx="5673900" cy="927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g3f3bfd5cafa_0_1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g3f3bfd5cafa_0_50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55" name="Google Shape;55;g3f3bfd5cafa_0_50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6" name="Google Shape;56;g3f3bfd5cafa_0_50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g3f3bfd5cafa_0_50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g3f3bfd5cafa_0_50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9" name="Google Shape;59;g3f3bfd5cafa_0_50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g3f3bfd5cafa_0_50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g3f3bfd5cafa_0_50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" name="Google Shape;62;g3f3bfd5cafa_0_50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3" name="Google Shape;63;g3f3bfd5cafa_0_50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g3f3bfd5cafa_0_50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g3f3bfd5cafa_0_50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g3f3bfd5cafa_0_50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7" name="Google Shape;67;g3f3bfd5cafa_0_50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68" name="Google Shape;68;g3f3bfd5cafa_0_50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9" name="Google Shape;69;g3f3bfd5cafa_0_50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g3f3bfd5cafa_0_50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g3f3bfd5cafa_0_50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2" name="Google Shape;72;g3f3bfd5cafa_0_50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g3f3bfd5cafa_0_50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g3f3bfd5cafa_0_50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g3f3bfd5cafa_0_50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6" name="Google Shape;76;g3f3bfd5cafa_0_50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g3f3bfd5cafa_0_50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g3f3bfd5cafa_0_50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g3f3bfd5cafa_0_50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" name="Google Shape;80;g3f3bfd5cafa_0_50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1" name="Google Shape;81;g3f3bfd5cafa_0_50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g3f3bfd5cafa_0_50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g3f3bfd5cafa_0_50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g3f3bfd5cafa_0_50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g3f3bfd5cafa_0_50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6" name="Google Shape;86;g3f3bfd5cafa_0_50"/>
          <p:cNvSpPr txBox="1"/>
          <p:nvPr>
            <p:ph type="title"/>
          </p:nvPr>
        </p:nvSpPr>
        <p:spPr>
          <a:xfrm>
            <a:off x="1098667" y="2151767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g3f3bfd5cafa_0_5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g3f3bfd5cafa_0_85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90" name="Google Shape;90;g3f3bfd5cafa_0_8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f3bfd5cafa_0_8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g3f3bfd5cafa_0_85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3" name="Google Shape;93;g3f3bfd5cafa_0_85"/>
          <p:cNvSpPr txBox="1"/>
          <p:nvPr>
            <p:ph idx="1" type="body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4" name="Google Shape;94;g3f3bfd5cafa_0_85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g3f3bfd5cafa_0_92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97" name="Google Shape;97;g3f3bfd5cafa_0_9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g3f3bfd5cafa_0_9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g3f3bfd5cafa_0_92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0" name="Google Shape;100;g3f3bfd5cafa_0_92"/>
          <p:cNvSpPr txBox="1"/>
          <p:nvPr>
            <p:ph idx="1" type="body"/>
          </p:nvPr>
        </p:nvSpPr>
        <p:spPr>
          <a:xfrm>
            <a:off x="1738400" y="2653400"/>
            <a:ext cx="45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1" name="Google Shape;101;g3f3bfd5cafa_0_92"/>
          <p:cNvSpPr txBox="1"/>
          <p:nvPr>
            <p:ph idx="2" type="body"/>
          </p:nvPr>
        </p:nvSpPr>
        <p:spPr>
          <a:xfrm>
            <a:off x="6538200" y="2653400"/>
            <a:ext cx="45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2" name="Google Shape;102;g3f3bfd5cafa_0_9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g3f3bfd5cafa_0_100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5" name="Google Shape;105;g3f3bfd5cafa_0_10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g3f3bfd5cafa_0_10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g3f3bfd5cafa_0_100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8" name="Google Shape;108;g3f3bfd5cafa_0_10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g3f3bfd5cafa_0_106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11" name="Google Shape;111;g3f3bfd5cafa_0_10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g3f3bfd5cafa_0_10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g3f3bfd5cafa_0_106"/>
          <p:cNvSpPr txBox="1"/>
          <p:nvPr>
            <p:ph type="title"/>
          </p:nvPr>
        </p:nvSpPr>
        <p:spPr>
          <a:xfrm>
            <a:off x="1738400" y="798100"/>
            <a:ext cx="4416000" cy="212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4" name="Google Shape;114;g3f3bfd5cafa_0_106"/>
          <p:cNvSpPr txBox="1"/>
          <p:nvPr>
            <p:ph idx="1" type="body"/>
          </p:nvPr>
        </p:nvSpPr>
        <p:spPr>
          <a:xfrm>
            <a:off x="1738400" y="3079567"/>
            <a:ext cx="4416000" cy="2962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5" name="Google Shape;115;g3f3bfd5cafa_0_106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g3f3bfd5cafa_0_113"/>
          <p:cNvGrpSpPr/>
          <p:nvPr/>
        </p:nvGrpSpPr>
        <p:grpSpPr>
          <a:xfrm>
            <a:off x="9155392" y="1742"/>
            <a:ext cx="3023192" cy="3468833"/>
            <a:chOff x="6790514" y="1306"/>
            <a:chExt cx="2267451" cy="2601690"/>
          </a:xfrm>
        </p:grpSpPr>
        <p:grpSp>
          <p:nvGrpSpPr>
            <p:cNvPr id="118" name="Google Shape;118;g3f3bfd5cafa_0_113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9" name="Google Shape;119;g3f3bfd5cafa_0_113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g3f3bfd5cafa_0_113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g3f3bfd5cafa_0_113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g3f3bfd5cafa_0_113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23" name="Google Shape;123;g3f3bfd5cafa_0_113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g3f3bfd5cafa_0_113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g3f3bfd5cafa_0_113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g3f3bfd5cafa_0_113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7" name="Google Shape;127;g3f3bfd5cafa_0_113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g3f3bfd5cafa_0_113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9" name="Google Shape;129;g3f3bfd5cafa_0_113"/>
          <p:cNvSpPr txBox="1"/>
          <p:nvPr>
            <p:ph type="title"/>
          </p:nvPr>
        </p:nvSpPr>
        <p:spPr>
          <a:xfrm>
            <a:off x="1098667" y="1018133"/>
            <a:ext cx="7810500" cy="476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g3f3bfd5cafa_0_11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g3f3bfd5cafa_0_128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33" name="Google Shape;133;g3f3bfd5cafa_0_12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g3f3bfd5cafa_0_12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g3f3bfd5cafa_0_128"/>
          <p:cNvSpPr txBox="1"/>
          <p:nvPr>
            <p:ph type="title"/>
          </p:nvPr>
        </p:nvSpPr>
        <p:spPr>
          <a:xfrm>
            <a:off x="1738400" y="798100"/>
            <a:ext cx="4574100" cy="2653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6" name="Google Shape;136;g3f3bfd5cafa_0_128"/>
          <p:cNvSpPr txBox="1"/>
          <p:nvPr>
            <p:ph idx="1" type="subTitle"/>
          </p:nvPr>
        </p:nvSpPr>
        <p:spPr>
          <a:xfrm>
            <a:off x="1738400" y="3657604"/>
            <a:ext cx="4574100" cy="968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7" name="Google Shape;137;g3f3bfd5cafa_0_128"/>
          <p:cNvSpPr txBox="1"/>
          <p:nvPr>
            <p:ph idx="2" type="body"/>
          </p:nvPr>
        </p:nvSpPr>
        <p:spPr>
          <a:xfrm>
            <a:off x="6538267" y="881333"/>
            <a:ext cx="4574100" cy="51609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38" name="Google Shape;138;g3f3bfd5cafa_0_128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g3f3bfd5cafa_0_136"/>
          <p:cNvGrpSpPr/>
          <p:nvPr/>
        </p:nvGrpSpPr>
        <p:grpSpPr>
          <a:xfrm>
            <a:off x="951176" y="5129497"/>
            <a:ext cx="1100560" cy="1100560"/>
            <a:chOff x="348199" y="179450"/>
            <a:chExt cx="1116300" cy="1116300"/>
          </a:xfrm>
        </p:grpSpPr>
        <p:sp>
          <p:nvSpPr>
            <p:cNvPr id="141" name="Google Shape;141;g3f3bfd5cafa_0_13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g3f3bfd5cafa_0_13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g3f3bfd5cafa_0_136"/>
          <p:cNvSpPr txBox="1"/>
          <p:nvPr>
            <p:ph idx="1" type="body"/>
          </p:nvPr>
        </p:nvSpPr>
        <p:spPr>
          <a:xfrm>
            <a:off x="1738400" y="5518633"/>
            <a:ext cx="7790700" cy="71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44" name="Google Shape;144;g3f3bfd5cafa_0_136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g3f3bfd5cafa_0_142"/>
          <p:cNvGrpSpPr/>
          <p:nvPr/>
        </p:nvGrpSpPr>
        <p:grpSpPr>
          <a:xfrm>
            <a:off x="69" y="5465463"/>
            <a:ext cx="12191743" cy="1392365"/>
            <a:chOff x="52" y="4099200"/>
            <a:chExt cx="9144036" cy="1044300"/>
          </a:xfrm>
        </p:grpSpPr>
        <p:grpSp>
          <p:nvGrpSpPr>
            <p:cNvPr id="147" name="Google Shape;147;g3f3bfd5cafa_0_142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8" name="Google Shape;148;g3f3bfd5cafa_0_14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g3f3bfd5cafa_0_14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g3f3bfd5cafa_0_14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g3f3bfd5cafa_0_14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" name="Google Shape;152;g3f3bfd5cafa_0_142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3" name="Google Shape;153;g3f3bfd5cafa_0_14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g3f3bfd5cafa_0_14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g3f3bfd5cafa_0_14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g3f3bfd5cafa_0_142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g3f3bfd5cafa_0_14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" name="Google Shape;158;g3f3bfd5cafa_0_142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9" name="Google Shape;159;g3f3bfd5cafa_0_14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g3f3bfd5cafa_0_14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g3f3bfd5cafa_0_14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g3f3bfd5cafa_0_14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g3f3bfd5cafa_0_142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4" name="Google Shape;164;g3f3bfd5cafa_0_14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g3f3bfd5cafa_0_14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g3f3bfd5cafa_0_14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" name="Google Shape;167;g3f3bfd5cafa_0_142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8" name="Google Shape;168;g3f3bfd5cafa_0_142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g3f3bfd5cafa_0_142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g3f3bfd5cafa_0_142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g3f3bfd5cafa_0_142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g3f3bfd5cafa_0_142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" name="Google Shape;173;g3f3bfd5cafa_0_142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4" name="Google Shape;174;g3f3bfd5cafa_0_142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g3f3bfd5cafa_0_142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g3f3bfd5cafa_0_142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g3f3bfd5cafa_0_142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g3f3bfd5cafa_0_142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9" name="Google Shape;179;g3f3bfd5cafa_0_142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g3f3bfd5cafa_0_142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g3f3bfd5cafa_0_142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" name="Google Shape;182;g3f3bfd5cafa_0_142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3" name="Google Shape;183;g3f3bfd5cafa_0_142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g3f3bfd5cafa_0_142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g3f3bfd5cafa_0_142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g3f3bfd5cafa_0_142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g3f3bfd5cafa_0_142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" name="Google Shape;188;g3f3bfd5cafa_0_142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9" name="Google Shape;189;g3f3bfd5cafa_0_142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g3f3bfd5cafa_0_142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g3f3bfd5cafa_0_142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g3f3bfd5cafa_0_142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" name="Google Shape;193;g3f3bfd5cafa_0_142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4" name="Google Shape;194;g3f3bfd5cafa_0_142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g3f3bfd5cafa_0_142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g3f3bfd5cafa_0_142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g3f3bfd5cafa_0_142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g3f3bfd5cafa_0_142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9" name="Google Shape;199;g3f3bfd5cafa_0_142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g3f3bfd5cafa_0_142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g3f3bfd5cafa_0_142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" name="Google Shape;202;g3f3bfd5cafa_0_142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3" name="Google Shape;203;g3f3bfd5cafa_0_142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g3f3bfd5cafa_0_142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g3f3bfd5cafa_0_142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g3f3bfd5cafa_0_142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7" name="Google Shape;207;g3f3bfd5cafa_0_142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8" name="Google Shape;208;g3f3bfd5cafa_0_142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g3f3bfd5cafa_0_142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g3f3bfd5cafa_0_142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g3f3bfd5cafa_0_142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2" name="Google Shape;212;g3f3bfd5cafa_0_142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3" name="Google Shape;213;g3f3bfd5cafa_0_142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g3f3bfd5cafa_0_142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g3f3bfd5cafa_0_142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g3f3bfd5cafa_0_142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g3f3bfd5cafa_0_142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" name="Google Shape;218;g3f3bfd5cafa_0_142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9" name="Google Shape;219;g3f3bfd5cafa_0_142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g3f3bfd5cafa_0_142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g3f3bfd5cafa_0_142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g3f3bfd5cafa_0_142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g3f3bfd5cafa_0_142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4" name="Google Shape;224;g3f3bfd5cafa_0_142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g3f3bfd5cafa_0_142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g3f3bfd5cafa_0_142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7" name="Google Shape;227;g3f3bfd5cafa_0_142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8" name="Google Shape;228;g3f3bfd5cafa_0_142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g3f3bfd5cafa_0_142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g3f3bfd5cafa_0_142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g3f3bfd5cafa_0_142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g3f3bfd5cafa_0_142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3" name="Google Shape;233;g3f3bfd5cafa_0_142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g3f3bfd5cafa_0_142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g3f3bfd5cafa_0_142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g3f3bfd5cafa_0_142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g3f3bfd5cafa_0_142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8" name="Google Shape;238;g3f3bfd5cafa_0_142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9" name="Google Shape;239;g3f3bfd5cafa_0_142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g3f3bfd5cafa_0_142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g3f3bfd5cafa_0_142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g3f3bfd5cafa_0_142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g3f3bfd5cafa_0_142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4" name="Google Shape;244;g3f3bfd5cafa_0_142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g3f3bfd5cafa_0_142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g3f3bfd5cafa_0_142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" name="Google Shape;247;g3f3bfd5cafa_0_142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8" name="Google Shape;248;g3f3bfd5cafa_0_142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g3f3bfd5cafa_0_142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g3f3bfd5cafa_0_142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g3f3bfd5cafa_0_142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g3f3bfd5cafa_0_142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g3f3bfd5cafa_0_142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4" name="Google Shape;254;g3f3bfd5cafa_0_142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g3f3bfd5cafa_0_142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g3f3bfd5cafa_0_142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g3f3bfd5cafa_0_142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g3f3bfd5cafa_0_142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9" name="Google Shape;259;g3f3bfd5cafa_0_142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g3f3bfd5cafa_0_142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g3f3bfd5cafa_0_142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g3f3bfd5cafa_0_142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g3f3bfd5cafa_0_142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4" name="Google Shape;264;g3f3bfd5cafa_0_142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g3f3bfd5cafa_0_142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g3f3bfd5cafa_0_142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7" name="Google Shape;267;g3f3bfd5cafa_0_142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8" name="Google Shape;268;g3f3bfd5cafa_0_142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g3f3bfd5cafa_0_142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g3f3bfd5cafa_0_142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g3f3bfd5cafa_0_142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2" name="Google Shape;272;g3f3bfd5cafa_0_142"/>
          <p:cNvSpPr txBox="1"/>
          <p:nvPr>
            <p:ph hasCustomPrompt="1" type="title"/>
          </p:nvPr>
        </p:nvSpPr>
        <p:spPr>
          <a:xfrm>
            <a:off x="1851500" y="1030300"/>
            <a:ext cx="8489100" cy="248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g3f3bfd5cafa_0_142"/>
          <p:cNvSpPr txBox="1"/>
          <p:nvPr>
            <p:ph idx="1" type="body"/>
          </p:nvPr>
        </p:nvSpPr>
        <p:spPr>
          <a:xfrm>
            <a:off x="1851500" y="3616400"/>
            <a:ext cx="8489100" cy="14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g3f3bfd5cafa_0_14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3bfd5cafa_0_27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3bfd5cafa_0_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1" name="Google Shape;11;g3f3bfd5cafa_0_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Nunito"/>
              <a:buChar char="●"/>
              <a:defRPr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g3f3bfd5cafa_0_6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n you make the image in the above slide to a woman in the center" id="283" name="Google Shape;283;g3f3bfd5caf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"/>
          <p:cNvSpPr/>
          <p:nvPr/>
        </p:nvSpPr>
        <p:spPr>
          <a:xfrm>
            <a:off x="640080" y="502920"/>
            <a:ext cx="2148840" cy="384048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"/>
          <p:cNvSpPr/>
          <p:nvPr/>
        </p:nvSpPr>
        <p:spPr>
          <a:xfrm>
            <a:off x="640080" y="502920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  ·  MONDAY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"/>
          <p:cNvSpPr/>
          <p:nvPr/>
        </p:nvSpPr>
        <p:spPr>
          <a:xfrm>
            <a:off x="640080" y="96012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Getting Started with Git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"/>
          <p:cNvSpPr/>
          <p:nvPr/>
        </p:nvSpPr>
        <p:spPr>
          <a:xfrm>
            <a:off x="10378440" y="502920"/>
            <a:ext cx="1051560" cy="10515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git-branch.png" id="293" name="Google Shape;2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5041" y="739521"/>
            <a:ext cx="578358" cy="578358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"/>
          <p:cNvSpPr/>
          <p:nvPr/>
        </p:nvSpPr>
        <p:spPr>
          <a:xfrm>
            <a:off x="640075" y="1965949"/>
            <a:ext cx="7041000" cy="4471500"/>
          </a:xfrm>
          <a:prstGeom prst="roundRect">
            <a:avLst>
              <a:gd fmla="val 2637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5" name="Google Shape;295;p2"/>
          <p:cNvSpPr/>
          <p:nvPr/>
        </p:nvSpPr>
        <p:spPr>
          <a:xfrm>
            <a:off x="960120" y="219456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Some of the </a:t>
            </a: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-US" sz="1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ommands </a:t>
            </a: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 I </a:t>
            </a:r>
            <a:r>
              <a:rPr b="1" lang="en-US" sz="1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learned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"/>
          <p:cNvSpPr/>
          <p:nvPr/>
        </p:nvSpPr>
        <p:spPr>
          <a:xfrm>
            <a:off x="960120" y="2651760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git init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"/>
          <p:cNvSpPr/>
          <p:nvPr/>
        </p:nvSpPr>
        <p:spPr>
          <a:xfrm>
            <a:off x="960120" y="2944368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 up a brand-new Git repository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"/>
          <p:cNvSpPr/>
          <p:nvPr/>
        </p:nvSpPr>
        <p:spPr>
          <a:xfrm>
            <a:off x="960120" y="3291840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git add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"/>
          <p:cNvSpPr/>
          <p:nvPr/>
        </p:nvSpPr>
        <p:spPr>
          <a:xfrm>
            <a:off x="960120" y="3584448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changed files, ready to be saved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"/>
          <p:cNvSpPr/>
          <p:nvPr/>
        </p:nvSpPr>
        <p:spPr>
          <a:xfrm>
            <a:off x="960120" y="3931920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git commit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"/>
          <p:cNvSpPr/>
          <p:nvPr/>
        </p:nvSpPr>
        <p:spPr>
          <a:xfrm>
            <a:off x="960120" y="4224528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Save a snapshot of staged work with a message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"/>
          <p:cNvSpPr/>
          <p:nvPr/>
        </p:nvSpPr>
        <p:spPr>
          <a:xfrm>
            <a:off x="960120" y="4572000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git push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"/>
          <p:cNvSpPr/>
          <p:nvPr/>
        </p:nvSpPr>
        <p:spPr>
          <a:xfrm>
            <a:off x="960120" y="4864608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local commits to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"/>
          <p:cNvSpPr/>
          <p:nvPr/>
        </p:nvSpPr>
        <p:spPr>
          <a:xfrm>
            <a:off x="960120" y="5212080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ourier New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"/>
          <p:cNvSpPr/>
          <p:nvPr/>
        </p:nvSpPr>
        <p:spPr>
          <a:xfrm>
            <a:off x="960120" y="5504688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"/>
          <p:cNvSpPr/>
          <p:nvPr/>
        </p:nvSpPr>
        <p:spPr>
          <a:xfrm>
            <a:off x="960145" y="5106985"/>
            <a:ext cx="5852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git sta</a:t>
            </a:r>
            <a:r>
              <a:rPr b="1" lang="en-US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tus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"/>
          <p:cNvSpPr/>
          <p:nvPr/>
        </p:nvSpPr>
        <p:spPr>
          <a:xfrm>
            <a:off x="960145" y="5385868"/>
            <a:ext cx="5852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 what's changed and review 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"/>
          <p:cNvSpPr/>
          <p:nvPr/>
        </p:nvSpPr>
        <p:spPr>
          <a:xfrm>
            <a:off x="7578865" y="2121448"/>
            <a:ext cx="4114800" cy="41604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"/>
          <p:cNvSpPr/>
          <p:nvPr/>
        </p:nvSpPr>
        <p:spPr>
          <a:xfrm>
            <a:off x="7680960" y="2240280"/>
            <a:ext cx="685800" cy="6858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lightbulb.png" id="310" name="Google Shape;31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35265" y="2394585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"/>
          <p:cNvSpPr/>
          <p:nvPr/>
        </p:nvSpPr>
        <p:spPr>
          <a:xfrm>
            <a:off x="8503920" y="23317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Key Takeaway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"/>
          <p:cNvSpPr/>
          <p:nvPr/>
        </p:nvSpPr>
        <p:spPr>
          <a:xfrm>
            <a:off x="7680960" y="3154680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Today was about building the foundation: understanding how Git tracks every change I make, and how those changes get saved as a clear, versioned history of my 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"/>
          <p:cNvSpPr/>
          <p:nvPr/>
        </p:nvSpPr>
        <p:spPr>
          <a:xfrm>
            <a:off x="7680960" y="4846320"/>
            <a:ext cx="3566160" cy="9144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"/>
          <p:cNvSpPr/>
          <p:nvPr/>
        </p:nvSpPr>
        <p:spPr>
          <a:xfrm>
            <a:off x="7680960" y="502920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These commands are now part of my everyday workflow for saving and tracking progress.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"/>
          <p:cNvSpPr txBox="1"/>
          <p:nvPr/>
        </p:nvSpPr>
        <p:spPr>
          <a:xfrm>
            <a:off x="881850" y="5641850"/>
            <a:ext cx="10128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git ls -files</a:t>
            </a:r>
            <a:endParaRPr b="1">
              <a:solidFill>
                <a:srgbClr val="02C39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ourier New"/>
              <a:buNone/>
            </a:pPr>
            <a:r>
              <a:t/>
            </a:r>
            <a:endParaRPr b="1">
              <a:solidFill>
                <a:srgbClr val="02C39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16" name="Google Shape;316;p2"/>
          <p:cNvSpPr/>
          <p:nvPr/>
        </p:nvSpPr>
        <p:spPr>
          <a:xfrm>
            <a:off x="799370" y="5902518"/>
            <a:ext cx="5852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Used to list all tracked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"/>
          <p:cNvSpPr/>
          <p:nvPr/>
        </p:nvSpPr>
        <p:spPr>
          <a:xfrm>
            <a:off x="640080" y="502920"/>
            <a:ext cx="2148840" cy="384048"/>
          </a:xfrm>
          <a:prstGeom prst="roundRect">
            <a:avLst>
              <a:gd fmla="val 50000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"/>
          <p:cNvSpPr/>
          <p:nvPr/>
        </p:nvSpPr>
        <p:spPr>
          <a:xfrm>
            <a:off x="640080" y="502920"/>
            <a:ext cx="2148840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DAY 2  ·  TUESDAY</a:t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"/>
          <p:cNvSpPr/>
          <p:nvPr/>
        </p:nvSpPr>
        <p:spPr>
          <a:xfrm>
            <a:off x="640080" y="960120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Pushing Progress &amp;</a:t>
            </a:r>
            <a:r>
              <a:rPr b="1" lang="en-US" sz="3000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 Navigating through</a:t>
            </a:r>
            <a:r>
              <a:rPr b="1" i="0" lang="en-US" sz="30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 Schoology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"/>
          <p:cNvSpPr/>
          <p:nvPr/>
        </p:nvSpPr>
        <p:spPr>
          <a:xfrm>
            <a:off x="640080" y="1965960"/>
            <a:ext cx="5212080" cy="4160520"/>
          </a:xfrm>
          <a:prstGeom prst="roundRect">
            <a:avLst>
              <a:gd fmla="val 2637" name="adj"/>
            </a:avLst>
          </a:prstGeom>
          <a:solidFill>
            <a:srgbClr val="FFFF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"/>
          <p:cNvSpPr/>
          <p:nvPr/>
        </p:nvSpPr>
        <p:spPr>
          <a:xfrm>
            <a:off x="960120" y="2286000"/>
            <a:ext cx="822960" cy="8229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upload.png" id="327" name="Google Shape;3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5286" y="2471166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"/>
          <p:cNvSpPr/>
          <p:nvPr/>
        </p:nvSpPr>
        <p:spPr>
          <a:xfrm>
            <a:off x="1965960" y="2286000"/>
            <a:ext cx="3611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GitHub: Work Pushed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"/>
          <p:cNvSpPr/>
          <p:nvPr/>
        </p:nvSpPr>
        <p:spPr>
          <a:xfrm>
            <a:off x="1005840" y="3337560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check.png" id="330" name="Google Shape;3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1677" y="3403397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"/>
          <p:cNvSpPr/>
          <p:nvPr/>
        </p:nvSpPr>
        <p:spPr>
          <a:xfrm>
            <a:off x="1463040" y="3264408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Pushed all progress made so far up to my GitHub repository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"/>
          <p:cNvSpPr/>
          <p:nvPr/>
        </p:nvSpPr>
        <p:spPr>
          <a:xfrm>
            <a:off x="1005840" y="4114800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check.png" id="333" name="Google Shape;33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1677" y="4180637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"/>
          <p:cNvSpPr/>
          <p:nvPr/>
        </p:nvSpPr>
        <p:spPr>
          <a:xfrm>
            <a:off x="1463040" y="4041648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Repo now reflects the most current, up-to-date version of my 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"/>
          <p:cNvSpPr/>
          <p:nvPr/>
        </p:nvSpPr>
        <p:spPr>
          <a:xfrm>
            <a:off x="1005840" y="4892040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check.png" id="336" name="Google Shape;33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1677" y="4957877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"/>
          <p:cNvSpPr/>
          <p:nvPr/>
        </p:nvSpPr>
        <p:spPr>
          <a:xfrm>
            <a:off x="1463040" y="4818888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Getting comfortable with commit-then-push as a daily habit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"/>
          <p:cNvSpPr/>
          <p:nvPr/>
        </p:nvSpPr>
        <p:spPr>
          <a:xfrm>
            <a:off x="6309360" y="1965960"/>
            <a:ext cx="5212080" cy="4160520"/>
          </a:xfrm>
          <a:prstGeom prst="roundRect">
            <a:avLst>
              <a:gd fmla="val 2637" name="adj"/>
            </a:avLst>
          </a:prstGeom>
          <a:solidFill>
            <a:srgbClr val="FFFF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"/>
          <p:cNvSpPr/>
          <p:nvPr/>
        </p:nvSpPr>
        <p:spPr>
          <a:xfrm>
            <a:off x="6629400" y="2286000"/>
            <a:ext cx="822960" cy="8229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grad-cap.png" id="340" name="Google Shape;34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4566" y="2471166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"/>
          <p:cNvSpPr/>
          <p:nvPr/>
        </p:nvSpPr>
        <p:spPr>
          <a:xfrm>
            <a:off x="7635240" y="2286000"/>
            <a:ext cx="3611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Schoology: LMS Basics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"/>
          <p:cNvSpPr/>
          <p:nvPr/>
        </p:nvSpPr>
        <p:spPr>
          <a:xfrm>
            <a:off x="6675120" y="3337560"/>
            <a:ext cx="292608" cy="2926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check.png" id="343" name="Google Shape;34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0957" y="3403397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"/>
          <p:cNvSpPr/>
          <p:nvPr/>
        </p:nvSpPr>
        <p:spPr>
          <a:xfrm>
            <a:off x="7132320" y="3264408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Explored how courses are structured inside Schoology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"/>
          <p:cNvSpPr/>
          <p:nvPr/>
        </p:nvSpPr>
        <p:spPr>
          <a:xfrm>
            <a:off x="6675120" y="4114800"/>
            <a:ext cx="292608" cy="2926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check.png" id="346" name="Google Shape;34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0957" y="4180637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"/>
          <p:cNvSpPr/>
          <p:nvPr/>
        </p:nvSpPr>
        <p:spPr>
          <a:xfrm>
            <a:off x="7132320" y="4041648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Learned to navigate through modules and course materials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"/>
          <p:cNvSpPr/>
          <p:nvPr/>
        </p:nvSpPr>
        <p:spPr>
          <a:xfrm>
            <a:off x="6675120" y="4892040"/>
            <a:ext cx="292608" cy="2926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check.png" id="349" name="Google Shape;34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0957" y="4957877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"/>
          <p:cNvSpPr/>
          <p:nvPr/>
        </p:nvSpPr>
        <p:spPr>
          <a:xfrm>
            <a:off x="7132320" y="4818888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Learned the steps to submit assignments correctly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"/>
          <p:cNvSpPr/>
          <p:nvPr/>
        </p:nvSpPr>
        <p:spPr>
          <a:xfrm>
            <a:off x="640080" y="502920"/>
            <a:ext cx="2286000" cy="384048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"/>
          <p:cNvSpPr/>
          <p:nvPr/>
        </p:nvSpPr>
        <p:spPr>
          <a:xfrm>
            <a:off x="640080" y="5029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  ·  WEDNESDAY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"/>
          <p:cNvSpPr/>
          <p:nvPr/>
        </p:nvSpPr>
        <p:spPr>
          <a:xfrm>
            <a:off x="640080" y="96012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Choosing My Track: Two Paths, One Decision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"/>
          <p:cNvSpPr/>
          <p:nvPr/>
        </p:nvSpPr>
        <p:spPr>
          <a:xfrm>
            <a:off x="640080" y="1965960"/>
            <a:ext cx="5029200" cy="397764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"/>
          <p:cNvSpPr/>
          <p:nvPr/>
        </p:nvSpPr>
        <p:spPr>
          <a:xfrm>
            <a:off x="640080" y="1965960"/>
            <a:ext cx="5029200" cy="777240"/>
          </a:xfrm>
          <a:prstGeom prst="roundRect">
            <a:avLst>
              <a:gd fmla="val 14118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"/>
          <p:cNvSpPr/>
          <p:nvPr/>
        </p:nvSpPr>
        <p:spPr>
          <a:xfrm>
            <a:off x="640080" y="2423160"/>
            <a:ext cx="502920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"/>
          <p:cNvSpPr/>
          <p:nvPr/>
        </p:nvSpPr>
        <p:spPr>
          <a:xfrm>
            <a:off x="868680" y="213055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shield.png" id="363" name="Google Shape;3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" y="223113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"/>
          <p:cNvSpPr/>
          <p:nvPr/>
        </p:nvSpPr>
        <p:spPr>
          <a:xfrm>
            <a:off x="1508760" y="196596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Cybersecurity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"/>
          <p:cNvSpPr/>
          <p:nvPr/>
        </p:nvSpPr>
        <p:spPr>
          <a:xfrm>
            <a:off x="1005840" y="3044952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"/>
          <p:cNvSpPr/>
          <p:nvPr/>
        </p:nvSpPr>
        <p:spPr>
          <a:xfrm>
            <a:off x="1234440" y="289864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Focused on protecting systems, networks &amp; data from threats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"/>
          <p:cNvSpPr/>
          <p:nvPr/>
        </p:nvSpPr>
        <p:spPr>
          <a:xfrm>
            <a:off x="1005840" y="3776472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"/>
          <p:cNvSpPr/>
          <p:nvPr/>
        </p:nvSpPr>
        <p:spPr>
          <a:xfrm>
            <a:off x="1234440" y="363016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Roles like security analyst, pentester, SOC analyst</a:t>
            </a:r>
            <a:r>
              <a:rPr lang="en-US" sz="1250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 and many more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"/>
          <p:cNvSpPr/>
          <p:nvPr/>
        </p:nvSpPr>
        <p:spPr>
          <a:xfrm>
            <a:off x="1005840" y="4507992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"/>
          <p:cNvSpPr/>
          <p:nvPr/>
        </p:nvSpPr>
        <p:spPr>
          <a:xfrm>
            <a:off x="1234440" y="436168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Fast-growing demand for defenders across every industry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"/>
          <p:cNvSpPr/>
          <p:nvPr/>
        </p:nvSpPr>
        <p:spPr>
          <a:xfrm>
            <a:off x="6492240" y="1965960"/>
            <a:ext cx="5029200" cy="397764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D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"/>
          <p:cNvSpPr/>
          <p:nvPr/>
        </p:nvSpPr>
        <p:spPr>
          <a:xfrm>
            <a:off x="6492240" y="1965960"/>
            <a:ext cx="5029200" cy="777240"/>
          </a:xfrm>
          <a:prstGeom prst="roundRect">
            <a:avLst>
              <a:gd fmla="val 14118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"/>
          <p:cNvSpPr/>
          <p:nvPr/>
        </p:nvSpPr>
        <p:spPr>
          <a:xfrm>
            <a:off x="6492240" y="2423160"/>
            <a:ext cx="5029200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"/>
          <p:cNvSpPr/>
          <p:nvPr/>
        </p:nvSpPr>
        <p:spPr>
          <a:xfrm>
            <a:off x="6720840" y="213055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laptop-code.png" id="375" name="Google Shape;37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1424" y="223113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"/>
          <p:cNvSpPr/>
          <p:nvPr/>
        </p:nvSpPr>
        <p:spPr>
          <a:xfrm>
            <a:off x="7360920" y="196596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Backend Web Dev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"/>
          <p:cNvSpPr/>
          <p:nvPr/>
        </p:nvSpPr>
        <p:spPr>
          <a:xfrm>
            <a:off x="6858000" y="3044952"/>
            <a:ext cx="82296" cy="822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"/>
          <p:cNvSpPr/>
          <p:nvPr/>
        </p:nvSpPr>
        <p:spPr>
          <a:xfrm>
            <a:off x="7086600" y="289864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Focused on building the server-side logic behind applications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"/>
          <p:cNvSpPr/>
          <p:nvPr/>
        </p:nvSpPr>
        <p:spPr>
          <a:xfrm>
            <a:off x="6858000" y="3776472"/>
            <a:ext cx="82296" cy="822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"/>
          <p:cNvSpPr/>
          <p:nvPr/>
        </p:nvSpPr>
        <p:spPr>
          <a:xfrm>
            <a:off x="7086600" y="363016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Working with APIs, databases, and application architecture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"/>
          <p:cNvSpPr/>
          <p:nvPr/>
        </p:nvSpPr>
        <p:spPr>
          <a:xfrm>
            <a:off x="6858000" y="4507992"/>
            <a:ext cx="82296" cy="8229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"/>
          <p:cNvSpPr/>
          <p:nvPr/>
        </p:nvSpPr>
        <p:spPr>
          <a:xfrm>
            <a:off x="7086600" y="436168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Strong focus on systems design and problem solving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"/>
          <p:cNvSpPr/>
          <p:nvPr/>
        </p:nvSpPr>
        <p:spPr>
          <a:xfrm>
            <a:off x="5641848" y="3520440"/>
            <a:ext cx="914400" cy="914400"/>
          </a:xfrm>
          <a:prstGeom prst="ellipse">
            <a:avLst/>
          </a:prstGeom>
          <a:solidFill>
            <a:srgbClr val="0D1B2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"/>
          <p:cNvSpPr/>
          <p:nvPr/>
        </p:nvSpPr>
        <p:spPr>
          <a:xfrm>
            <a:off x="5641848" y="35204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300"/>
              <a:buFont typeface="Calibri"/>
              <a:buNone/>
            </a:pPr>
            <a:r>
              <a:rPr b="0" i="1" lang="en-US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Spent the day researching both paths to make an informed, confident choice</a:t>
            </a:r>
            <a:r>
              <a:rPr i="1" lang="en-US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1">
              <a:solidFill>
                <a:srgbClr val="5A6B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300"/>
              <a:buFont typeface="Calibri"/>
              <a:buNone/>
            </a:pPr>
            <a:r>
              <a:rPr i="1" lang="en-US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Resources used Gemini Notebook LM, Chat GPT</a:t>
            </a:r>
            <a:r>
              <a:rPr b="0" i="1" lang="en-US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3bfd5cafa_0_281"/>
          <p:cNvSpPr/>
          <p:nvPr/>
        </p:nvSpPr>
        <p:spPr>
          <a:xfrm>
            <a:off x="640080" y="502920"/>
            <a:ext cx="2194500" cy="384000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f3bfd5cafa_0_281"/>
          <p:cNvSpPr/>
          <p:nvPr/>
        </p:nvSpPr>
        <p:spPr>
          <a:xfrm>
            <a:off x="640080" y="502920"/>
            <a:ext cx="2194500" cy="384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  ·  THURSDAY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f3bfd5cafa_0_281"/>
          <p:cNvSpPr/>
          <p:nvPr/>
        </p:nvSpPr>
        <p:spPr>
          <a:xfrm>
            <a:off x="640080" y="1005840"/>
            <a:ext cx="10881300" cy="1188600"/>
          </a:xfrm>
          <a:prstGeom prst="roundRect">
            <a:avLst>
              <a:gd fmla="val 10769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f3bfd5cafa_0_281"/>
          <p:cNvSpPr/>
          <p:nvPr/>
        </p:nvSpPr>
        <p:spPr>
          <a:xfrm>
            <a:off x="896112" y="1207008"/>
            <a:ext cx="777300" cy="7773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shield.png" id="395" name="Google Shape;395;g3f3bfd5cafa_0_2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991" y="1381887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f3bfd5cafa_0_281"/>
          <p:cNvSpPr/>
          <p:nvPr/>
        </p:nvSpPr>
        <p:spPr>
          <a:xfrm>
            <a:off x="1874520" y="1170432"/>
            <a:ext cx="905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DECISION MADE: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f3bfd5cafa_0_281"/>
          <p:cNvSpPr/>
          <p:nvPr/>
        </p:nvSpPr>
        <p:spPr>
          <a:xfrm>
            <a:off x="1874520" y="1389888"/>
            <a:ext cx="9052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Cybersecurity it is!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f3bfd5cafa_0_281"/>
          <p:cNvSpPr/>
          <p:nvPr/>
        </p:nvSpPr>
        <p:spPr>
          <a:xfrm>
            <a:off x="640080" y="2331720"/>
            <a:ext cx="10881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Now Exploring: Roles &amp; Responsibilities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f3bfd5cafa_0_281"/>
          <p:cNvSpPr/>
          <p:nvPr/>
        </p:nvSpPr>
        <p:spPr>
          <a:xfrm>
            <a:off x="640080" y="2761488"/>
            <a:ext cx="2606100" cy="16917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5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f3bfd5cafa_0_281"/>
          <p:cNvSpPr/>
          <p:nvPr/>
        </p:nvSpPr>
        <p:spPr>
          <a:xfrm>
            <a:off x="1677924" y="2907792"/>
            <a:ext cx="530400" cy="530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network.png" id="401" name="Google Shape;401;g3f3bfd5cafa_0_2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7253" y="3027121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g3f3bfd5cafa_0_281"/>
          <p:cNvSpPr/>
          <p:nvPr/>
        </p:nvSpPr>
        <p:spPr>
          <a:xfrm>
            <a:off x="731520" y="3511296"/>
            <a:ext cx="242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Security Analyst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f3bfd5cafa_0_281"/>
          <p:cNvSpPr/>
          <p:nvPr/>
        </p:nvSpPr>
        <p:spPr>
          <a:xfrm>
            <a:off x="777240" y="3950208"/>
            <a:ext cx="2331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870"/>
              <a:buFont typeface="Calibri"/>
              <a:buNone/>
            </a:pPr>
            <a:r>
              <a:rPr b="0" i="0" lang="en-US" sz="87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Monitors networks &amp; systems for threats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f3bfd5cafa_0_281"/>
          <p:cNvSpPr/>
          <p:nvPr/>
        </p:nvSpPr>
        <p:spPr>
          <a:xfrm>
            <a:off x="3474720" y="2761488"/>
            <a:ext cx="2606100" cy="16917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5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f3bfd5cafa_0_281"/>
          <p:cNvSpPr/>
          <p:nvPr/>
        </p:nvSpPr>
        <p:spPr>
          <a:xfrm>
            <a:off x="4512564" y="2907792"/>
            <a:ext cx="530400" cy="530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bug.png" id="406" name="Google Shape;406;g3f3bfd5cafa_0_2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1893" y="3027121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g3f3bfd5cafa_0_281"/>
          <p:cNvSpPr/>
          <p:nvPr/>
        </p:nvSpPr>
        <p:spPr>
          <a:xfrm>
            <a:off x="3566160" y="3511296"/>
            <a:ext cx="242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Penetration Tester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f3bfd5cafa_0_281"/>
          <p:cNvSpPr/>
          <p:nvPr/>
        </p:nvSpPr>
        <p:spPr>
          <a:xfrm>
            <a:off x="3611880" y="3950208"/>
            <a:ext cx="2331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870"/>
              <a:buFont typeface="Calibri"/>
              <a:buNone/>
            </a:pPr>
            <a:r>
              <a:rPr b="0" i="0" lang="en-US" sz="87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Simulates attacks to find weaknesses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f3bfd5cafa_0_281"/>
          <p:cNvSpPr/>
          <p:nvPr/>
        </p:nvSpPr>
        <p:spPr>
          <a:xfrm>
            <a:off x="6309360" y="2761488"/>
            <a:ext cx="2606100" cy="16917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5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f3bfd5cafa_0_281"/>
          <p:cNvSpPr/>
          <p:nvPr/>
        </p:nvSpPr>
        <p:spPr>
          <a:xfrm>
            <a:off x="7347204" y="2907792"/>
            <a:ext cx="530400" cy="5304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code.png" id="411" name="Google Shape;411;g3f3bfd5cafa_0_2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66533" y="3027121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3f3bfd5cafa_0_281"/>
          <p:cNvSpPr/>
          <p:nvPr/>
        </p:nvSpPr>
        <p:spPr>
          <a:xfrm>
            <a:off x="6400800" y="3511296"/>
            <a:ext cx="242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Security Engineer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f3bfd5cafa_0_281"/>
          <p:cNvSpPr/>
          <p:nvPr/>
        </p:nvSpPr>
        <p:spPr>
          <a:xfrm>
            <a:off x="6446520" y="3950208"/>
            <a:ext cx="2331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870"/>
              <a:buFont typeface="Calibri"/>
              <a:buNone/>
            </a:pPr>
            <a:r>
              <a:rPr b="0" i="0" lang="en-US" sz="87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Builds &amp; maintains secure systems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f3bfd5cafa_0_281"/>
          <p:cNvSpPr/>
          <p:nvPr/>
        </p:nvSpPr>
        <p:spPr>
          <a:xfrm>
            <a:off x="9144000" y="2761488"/>
            <a:ext cx="2606100" cy="16917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5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3bfd5cafa_0_281"/>
          <p:cNvSpPr/>
          <p:nvPr/>
        </p:nvSpPr>
        <p:spPr>
          <a:xfrm>
            <a:off x="10181844" y="2907792"/>
            <a:ext cx="530400" cy="530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user-secret.png" id="416" name="Google Shape;416;g3f3bfd5cafa_0_28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01173" y="3027121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3f3bfd5cafa_0_281"/>
          <p:cNvSpPr/>
          <p:nvPr/>
        </p:nvSpPr>
        <p:spPr>
          <a:xfrm>
            <a:off x="9235440" y="3511296"/>
            <a:ext cx="242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Incident Responder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f3bfd5cafa_0_281"/>
          <p:cNvSpPr/>
          <p:nvPr/>
        </p:nvSpPr>
        <p:spPr>
          <a:xfrm>
            <a:off x="9281160" y="3950208"/>
            <a:ext cx="2331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870"/>
              <a:buFont typeface="Calibri"/>
              <a:buNone/>
            </a:pPr>
            <a:r>
              <a:rPr b="0" i="0" lang="en-US" sz="87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Investigates &amp; contains breaches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3bfd5cafa_0_281"/>
          <p:cNvSpPr/>
          <p:nvPr/>
        </p:nvSpPr>
        <p:spPr>
          <a:xfrm>
            <a:off x="640080" y="4581144"/>
            <a:ext cx="2606100" cy="16917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5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f3bfd5cafa_0_281"/>
          <p:cNvSpPr/>
          <p:nvPr/>
        </p:nvSpPr>
        <p:spPr>
          <a:xfrm>
            <a:off x="1677924" y="4727448"/>
            <a:ext cx="530400" cy="530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cloud.png" id="421" name="Google Shape;421;g3f3bfd5cafa_0_28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97253" y="4846777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f3bfd5cafa_0_281"/>
          <p:cNvSpPr/>
          <p:nvPr/>
        </p:nvSpPr>
        <p:spPr>
          <a:xfrm>
            <a:off x="731520" y="5330952"/>
            <a:ext cx="242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Cloud Security Engineer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f3bfd5cafa_0_281"/>
          <p:cNvSpPr/>
          <p:nvPr/>
        </p:nvSpPr>
        <p:spPr>
          <a:xfrm>
            <a:off x="777240" y="5769864"/>
            <a:ext cx="2331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870"/>
              <a:buFont typeface="Calibri"/>
              <a:buNone/>
            </a:pPr>
            <a:r>
              <a:rPr b="0" i="0" lang="en-US" sz="87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Secures cloud infrastructure &amp; services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f3bfd5cafa_0_281"/>
          <p:cNvSpPr/>
          <p:nvPr/>
        </p:nvSpPr>
        <p:spPr>
          <a:xfrm>
            <a:off x="3474720" y="4581144"/>
            <a:ext cx="2606100" cy="16917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5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f3bfd5cafa_0_281"/>
          <p:cNvSpPr/>
          <p:nvPr/>
        </p:nvSpPr>
        <p:spPr>
          <a:xfrm>
            <a:off x="4512564" y="4727448"/>
            <a:ext cx="530400" cy="530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fingerprint.png" id="426" name="Google Shape;426;g3f3bfd5cafa_0_28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31893" y="4846777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f3bfd5cafa_0_281"/>
          <p:cNvSpPr/>
          <p:nvPr/>
        </p:nvSpPr>
        <p:spPr>
          <a:xfrm>
            <a:off x="3566160" y="5330952"/>
            <a:ext cx="242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Digital Forensics Analyst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f3bfd5cafa_0_281"/>
          <p:cNvSpPr/>
          <p:nvPr/>
        </p:nvSpPr>
        <p:spPr>
          <a:xfrm>
            <a:off x="3611880" y="5769864"/>
            <a:ext cx="2331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870"/>
              <a:buFont typeface="Calibri"/>
              <a:buNone/>
            </a:pPr>
            <a:r>
              <a:rPr b="0" i="0" lang="en-US" sz="87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Investigates devices &amp; data after a breach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f3bfd5cafa_0_281"/>
          <p:cNvSpPr/>
          <p:nvPr/>
        </p:nvSpPr>
        <p:spPr>
          <a:xfrm>
            <a:off x="6309360" y="4581144"/>
            <a:ext cx="2606100" cy="16917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5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f3bfd5cafa_0_281"/>
          <p:cNvSpPr/>
          <p:nvPr/>
        </p:nvSpPr>
        <p:spPr>
          <a:xfrm>
            <a:off x="7347204" y="4727448"/>
            <a:ext cx="530400" cy="5304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briefcase.png" id="431" name="Google Shape;431;g3f3bfd5cafa_0_28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66533" y="4846777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g3f3bfd5cafa_0_281"/>
          <p:cNvSpPr/>
          <p:nvPr/>
        </p:nvSpPr>
        <p:spPr>
          <a:xfrm>
            <a:off x="6400800" y="5330952"/>
            <a:ext cx="242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Security Consultant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f3bfd5cafa_0_281"/>
          <p:cNvSpPr/>
          <p:nvPr/>
        </p:nvSpPr>
        <p:spPr>
          <a:xfrm>
            <a:off x="6446520" y="5769864"/>
            <a:ext cx="2331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870"/>
              <a:buFont typeface="Calibri"/>
              <a:buNone/>
            </a:pPr>
            <a:r>
              <a:rPr b="0" i="0" lang="en-US" sz="87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Advises organizations on risk &amp; strategy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f3bfd5cafa_0_281"/>
          <p:cNvSpPr/>
          <p:nvPr/>
        </p:nvSpPr>
        <p:spPr>
          <a:xfrm>
            <a:off x="9144000" y="4581144"/>
            <a:ext cx="2606100" cy="169170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5E7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f3bfd5cafa_0_281"/>
          <p:cNvSpPr/>
          <p:nvPr/>
        </p:nvSpPr>
        <p:spPr>
          <a:xfrm>
            <a:off x="10181844" y="4727448"/>
            <a:ext cx="530400" cy="530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lock.png" id="436" name="Google Shape;436;g3f3bfd5cafa_0_28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01173" y="4846777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f3bfd5cafa_0_281"/>
          <p:cNvSpPr/>
          <p:nvPr/>
        </p:nvSpPr>
        <p:spPr>
          <a:xfrm>
            <a:off x="9235440" y="5330952"/>
            <a:ext cx="242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Cryptographer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f3bfd5cafa_0_281"/>
          <p:cNvSpPr/>
          <p:nvPr/>
        </p:nvSpPr>
        <p:spPr>
          <a:xfrm>
            <a:off x="9281160" y="5769864"/>
            <a:ext cx="2331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870"/>
              <a:buFont typeface="Calibri"/>
              <a:buNone/>
            </a:pPr>
            <a:r>
              <a:rPr b="0" i="0" lang="en-US" sz="87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Designs systems that keep data encrypted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f3bfd5cafa_0_281"/>
          <p:cNvSpPr/>
          <p:nvPr/>
        </p:nvSpPr>
        <p:spPr>
          <a:xfrm>
            <a:off x="640080" y="6382512"/>
            <a:ext cx="1088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Researching each </a:t>
            </a:r>
            <a:r>
              <a:rPr i="1" lang="en-US" sz="1150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role and the </a:t>
            </a:r>
            <a:r>
              <a:rPr b="0" i="1" lang="en-US" sz="1150" u="none" cap="none" strike="noStrike">
                <a:solidFill>
                  <a:srgbClr val="5A6B7A"/>
                </a:solidFill>
                <a:latin typeface="Calibri"/>
                <a:ea typeface="Calibri"/>
                <a:cs typeface="Calibri"/>
                <a:sym typeface="Calibri"/>
              </a:rPr>
              <a:t> day-to-day duties of it to decide which direction fits best.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7293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"/>
          <p:cNvSpPr/>
          <p:nvPr/>
        </p:nvSpPr>
        <p:spPr>
          <a:xfrm>
            <a:off x="5175504" y="2011680"/>
            <a:ext cx="1828800" cy="1828800"/>
          </a:xfrm>
          <a:prstGeom prst="ellipse">
            <a:avLst/>
          </a:prstGeom>
          <a:solidFill>
            <a:srgbClr val="02C39A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6"/>
          <p:cNvSpPr/>
          <p:nvPr/>
        </p:nvSpPr>
        <p:spPr>
          <a:xfrm>
            <a:off x="5404104" y="2240280"/>
            <a:ext cx="1371600" cy="13716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-shield.png" id="447" name="Google Shape;4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7004" y="258318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6"/>
          <p:cNvSpPr/>
          <p:nvPr/>
        </p:nvSpPr>
        <p:spPr>
          <a:xfrm>
            <a:off x="640080" y="4114800"/>
            <a:ext cx="10881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6"/>
          <p:cNvSpPr/>
          <p:nvPr/>
        </p:nvSpPr>
        <p:spPr>
          <a:xfrm>
            <a:off x="640080" y="4892040"/>
            <a:ext cx="1088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i="1" lang="en-US" sz="18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</a:t>
            </a:r>
            <a:r>
              <a:rPr b="0" i="1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Looking forward to diving deeper into Cybersecurity next week.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2026-07-23T09:01:02Z</dcterms:created>
  <dc:creator>PptxGenJS</dc:creator>
</cp:coreProperties>
</file>