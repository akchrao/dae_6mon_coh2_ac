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12191675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GNZKBjBv8qUyYQ0zJnKwP4vSK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Opening: This is a teach-back deck. Start by saying: OSI is the map, TCP/IP is the real-world protocol suite that moves data. The goal is not to memorize every detail, but to understand where communication happens and how to troubleshoot it.</a:t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Teach-back script: OSI is a model, not a protocol. It gives us a shared language. Each layer has a job, and problems can be isolated by layer.</a:t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Explain: OSI is the reference model. TCP/IP is what we actually see in real networks. TCP sits in the Transport layer; IP sits in the Internet/Network layer.</a:t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a clear phrase: OSI is the vocabulary; TCP/IP is the implementation. TCP maps to OSI Layer 4. IP maps to OSI Layer 3.</a:t>
            </a:r>
            <a:endParaRPr/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the example slowly. Do not jump straight to the application. Say: Each part has a job, so each part can also be a failure point.</a:t>
            </a:r>
            <a:endParaRPr/>
          </a:p>
        </p:txBody>
      </p:sp>
      <p:sp>
        <p:nvSpPr>
          <p:cNvPr id="116" name="Google Shape;11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the three-way handshake as a conversation. The main point: TCP establishes a connection before normal data flow and helps ensure reliable delivery.</a:t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Emphasize professional communication. Don't just say “it is down.” Say what was tested, which layer is affected, and what needs to be checked next.</a:t>
            </a:r>
            <a:endParaRPr/>
          </a:p>
        </p:txBody>
      </p:sp>
      <p:sp>
        <p:nvSpPr>
          <p:cNvPr id="158" name="Google Shape;15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Pause and let someone answer. Then reveal the reasoning: if Layer 1/2/3 are okay, check Layer 4. This makes the presentation interactive.</a:t>
            </a:r>
            <a:endParaRPr/>
          </a:p>
        </p:txBody>
      </p:sp>
      <p:sp>
        <p:nvSpPr>
          <p:cNvPr id="180" name="Google Shape;18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by repeating: OSI is the map, TCP/IP is the road system, TCP is reliable delivery, IP is addressing and routing. This is how we explain and troubleshoot communication.</a:t>
            </a:r>
            <a:endParaRPr/>
          </a:p>
        </p:txBody>
      </p:sp>
      <p:sp>
        <p:nvSpPr>
          <p:cNvPr id="195" name="Google Shape;19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A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F5D95"/>
          </a:solidFill>
          <a:ln cap="flat" cmpd="sng" w="12700">
            <a:solidFill>
              <a:srgbClr val="4F5D9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EF0FA"/>
          </a:solidFill>
          <a:ln cap="flat" cmpd="sng" w="12700">
            <a:solidFill>
              <a:srgbClr val="EEF0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85216" y="868680"/>
            <a:ext cx="4251960" cy="73152"/>
          </a:xfrm>
          <a:prstGeom prst="rect">
            <a:avLst/>
          </a:prstGeom>
          <a:solidFill>
            <a:srgbClr val="618B7B"/>
          </a:solidFill>
          <a:ln cap="flat" cmpd="sng" w="12700">
            <a:solidFill>
              <a:srgbClr val="618B7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48640" y="1042416"/>
            <a:ext cx="6172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4000"/>
              <a:buFont typeface="Play"/>
              <a:buNone/>
            </a:pPr>
            <a:r>
              <a:rPr b="1" i="0" lang="en-US" sz="4000" u="none" cap="none" strike="noStrike">
                <a:solidFill>
                  <a:srgbClr val="20243A"/>
                </a:solidFill>
                <a:latin typeface="Play"/>
                <a:ea typeface="Play"/>
                <a:cs typeface="Play"/>
                <a:sym typeface="Play"/>
              </a:rPr>
              <a:t>OSI Model + TCP/IP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12648" y="2121408"/>
            <a:ext cx="5349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OSI is, how TCP/IP is related, and how to explain the logic with a real example.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818120" y="1078992"/>
            <a:ext cx="3520440" cy="438912"/>
          </a:xfrm>
          <a:prstGeom prst="roundRect">
            <a:avLst>
              <a:gd fmla="val 16667" name="adj"/>
            </a:avLst>
          </a:prstGeom>
          <a:solidFill>
            <a:srgbClr val="ECEFFA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80"/>
              <a:buFont typeface="Arial"/>
              <a:buNone/>
            </a:pPr>
            <a:r>
              <a:rPr b="1" lang="en-US" sz="1380">
                <a:solidFill>
                  <a:srgbClr val="20243A"/>
                </a:solidFill>
              </a:rPr>
              <a:t>                       </a:t>
            </a:r>
            <a:r>
              <a:rPr b="1" i="0" lang="en-US" sz="13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7. Application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818120" y="1609344"/>
            <a:ext cx="3520440" cy="438912"/>
          </a:xfrm>
          <a:prstGeom prst="roundRect">
            <a:avLst>
              <a:gd fmla="val 16667" name="adj"/>
            </a:avLst>
          </a:prstGeom>
          <a:solidFill>
            <a:srgbClr val="F2F0E8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80"/>
              <a:buFont typeface="Arial"/>
              <a:buNone/>
            </a:pPr>
            <a:r>
              <a:rPr b="1" i="0" lang="en-US" sz="13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6. Presentation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818120" y="2139696"/>
            <a:ext cx="3520440" cy="438912"/>
          </a:xfrm>
          <a:prstGeom prst="roundRect">
            <a:avLst>
              <a:gd fmla="val 16667" name="adj"/>
            </a:avLst>
          </a:prstGeom>
          <a:solidFill>
            <a:srgbClr val="ECEFFA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80"/>
              <a:buFont typeface="Arial"/>
              <a:buNone/>
            </a:pPr>
            <a:r>
              <a:rPr b="1" lang="en-US" sz="1380">
                <a:solidFill>
                  <a:srgbClr val="20243A"/>
                </a:solidFill>
              </a:rPr>
              <a:t>                       </a:t>
            </a:r>
            <a:r>
              <a:rPr b="1" i="0" lang="en-US" sz="13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5. Session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818120" y="2670048"/>
            <a:ext cx="3520440" cy="438912"/>
          </a:xfrm>
          <a:prstGeom prst="roundRect">
            <a:avLst>
              <a:gd fmla="val 16667" name="adj"/>
            </a:avLst>
          </a:prstGeom>
          <a:solidFill>
            <a:srgbClr val="EEF5F2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80"/>
              <a:buFont typeface="Arial"/>
              <a:buNone/>
            </a:pPr>
            <a:r>
              <a:rPr b="1" lang="en-US" sz="1380">
                <a:solidFill>
                  <a:srgbClr val="20243A"/>
                </a:solidFill>
              </a:rPr>
              <a:t>                       </a:t>
            </a:r>
            <a:r>
              <a:rPr b="1" i="0" lang="en-US" sz="13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4. Transport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818120" y="3200400"/>
            <a:ext cx="3520440" cy="438912"/>
          </a:xfrm>
          <a:prstGeom prst="roundRect">
            <a:avLst>
              <a:gd fmla="val 16667" name="adj"/>
            </a:avLst>
          </a:prstGeom>
          <a:solidFill>
            <a:srgbClr val="F5EFF3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80"/>
              <a:buFont typeface="Arial"/>
              <a:buNone/>
            </a:pPr>
            <a:r>
              <a:rPr b="1" lang="en-US" sz="1380">
                <a:solidFill>
                  <a:srgbClr val="20243A"/>
                </a:solidFill>
              </a:rPr>
              <a:t>                       </a:t>
            </a:r>
            <a:r>
              <a:rPr b="1" i="0" lang="en-US" sz="13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3. Network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818120" y="3730752"/>
            <a:ext cx="3520440" cy="438912"/>
          </a:xfrm>
          <a:prstGeom prst="roundRect">
            <a:avLst>
              <a:gd fmla="val 16667" name="adj"/>
            </a:avLst>
          </a:prstGeom>
          <a:solidFill>
            <a:srgbClr val="EEF5F2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80"/>
              <a:buFont typeface="Arial"/>
              <a:buNone/>
            </a:pPr>
            <a:r>
              <a:rPr b="1" lang="en-US" sz="1380">
                <a:solidFill>
                  <a:srgbClr val="20243A"/>
                </a:solidFill>
              </a:rPr>
              <a:t>                       </a:t>
            </a:r>
            <a:r>
              <a:rPr b="1" i="0" lang="en-US" sz="13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2. Data Link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818120" y="4261104"/>
            <a:ext cx="3520440" cy="438912"/>
          </a:xfrm>
          <a:prstGeom prst="roundRect">
            <a:avLst>
              <a:gd fmla="val 16667" name="adj"/>
            </a:avLst>
          </a:prstGeom>
          <a:solidFill>
            <a:srgbClr val="EEF0FA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80"/>
              <a:buFont typeface="Arial"/>
              <a:buNone/>
            </a:pPr>
            <a:r>
              <a:rPr b="1" lang="en-US" sz="1380">
                <a:solidFill>
                  <a:srgbClr val="20243A"/>
                </a:solidFill>
              </a:rPr>
              <a:t>                        </a:t>
            </a:r>
            <a:r>
              <a:rPr b="1" i="0" lang="en-US" sz="13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1. Physical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" name="Google Shape;29;p1"/>
          <p:cNvCxnSpPr/>
          <p:nvPr/>
        </p:nvCxnSpPr>
        <p:spPr>
          <a:xfrm>
            <a:off x="9125712" y="4892040"/>
            <a:ext cx="0" cy="566928"/>
          </a:xfrm>
          <a:prstGeom prst="straightConnector1">
            <a:avLst/>
          </a:prstGeom>
          <a:noFill/>
          <a:ln cap="flat" cmpd="sng" w="25400">
            <a:solidFill>
              <a:srgbClr val="4F5D9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" name="Google Shape;30;p1"/>
          <p:cNvSpPr/>
          <p:nvPr/>
        </p:nvSpPr>
        <p:spPr>
          <a:xfrm>
            <a:off x="7936992" y="5541264"/>
            <a:ext cx="2971800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F5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D95"/>
              </a:buClr>
              <a:buSzPts val="1340"/>
              <a:buFont typeface="Arial"/>
              <a:buNone/>
            </a:pPr>
            <a:r>
              <a:rPr b="1" i="0" lang="en-US" sz="1340" u="none" cap="none" strike="noStrike">
                <a:solidFill>
                  <a:srgbClr val="4F5D95"/>
                </a:solidFill>
                <a:latin typeface="Arial"/>
                <a:ea typeface="Arial"/>
                <a:cs typeface="Arial"/>
                <a:sym typeface="Arial"/>
              </a:rPr>
              <a:t>TCP/IP makes the communication actually happen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 txBox="1"/>
          <p:nvPr/>
        </p:nvSpPr>
        <p:spPr>
          <a:xfrm>
            <a:off x="548650" y="223025"/>
            <a:ext cx="5109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F5D95"/>
                </a:solidFill>
                <a:latin typeface="Play"/>
                <a:ea typeface="Play"/>
                <a:cs typeface="Play"/>
                <a:sym typeface="Play"/>
              </a:rPr>
              <a:t>Teach-back Sem_3 week_1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32" name="Google Shape;32;p1"/>
          <p:cNvSpPr txBox="1"/>
          <p:nvPr/>
        </p:nvSpPr>
        <p:spPr>
          <a:xfrm>
            <a:off x="372775" y="3400325"/>
            <a:ext cx="10128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accent1"/>
                </a:solidFill>
              </a:rPr>
              <a:t>OSI stands for Open Systems Interconnection</a:t>
            </a:r>
            <a:endParaRPr sz="25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A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F5D95"/>
          </a:solidFill>
          <a:ln cap="flat" cmpd="sng" w="12700">
            <a:solidFill>
              <a:srgbClr val="4F5D9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EF0FA"/>
          </a:solidFill>
          <a:ln cap="flat" cmpd="sng" w="12700">
            <a:solidFill>
              <a:srgbClr val="EEF0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594360" y="411480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20243A"/>
                </a:solidFill>
                <a:latin typeface="Play"/>
                <a:ea typeface="Play"/>
                <a:cs typeface="Play"/>
                <a:sym typeface="Play"/>
              </a:rPr>
              <a:t>What is the OSI Model?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621792" y="841248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A reference model that breaks network communication into 7 understandable layers.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58368" y="1316736"/>
            <a:ext cx="438912" cy="530352"/>
          </a:xfrm>
          <a:prstGeom prst="roundRect">
            <a:avLst>
              <a:gd fmla="val 16667" name="adj"/>
            </a:avLst>
          </a:prstGeom>
          <a:solidFill>
            <a:srgbClr val="ECEFFA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D95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F5D95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1188720" y="1316736"/>
            <a:ext cx="1554480" cy="530352"/>
          </a:xfrm>
          <a:prstGeom prst="roundRect">
            <a:avLst>
              <a:gd fmla="val 16667" name="adj"/>
            </a:avLst>
          </a:prstGeom>
          <a:solidFill>
            <a:srgbClr val="ECEFFA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80"/>
              <a:buFont typeface="Arial"/>
              <a:buNone/>
            </a:pPr>
            <a:r>
              <a:rPr b="1" i="0" lang="en-US" sz="14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2834640" y="1316736"/>
            <a:ext cx="2514600" cy="5303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User-facing services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5458968" y="1316736"/>
            <a:ext cx="2057400" cy="5303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HTTP, DNS, SMTP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658368" y="1892808"/>
            <a:ext cx="438912" cy="530352"/>
          </a:xfrm>
          <a:prstGeom prst="roundRect">
            <a:avLst>
              <a:gd fmla="val 16667" name="adj"/>
            </a:avLst>
          </a:prstGeom>
          <a:solidFill>
            <a:srgbClr val="F2F0E8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D95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F5D95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1188720" y="1892808"/>
            <a:ext cx="1554480" cy="530352"/>
          </a:xfrm>
          <a:prstGeom prst="roundRect">
            <a:avLst>
              <a:gd fmla="val 16667" name="adj"/>
            </a:avLst>
          </a:prstGeom>
          <a:solidFill>
            <a:srgbClr val="F2F0E8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80"/>
              <a:buFont typeface="Arial"/>
              <a:buNone/>
            </a:pPr>
            <a:r>
              <a:rPr b="1" i="0" lang="en-US" sz="14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2834640" y="1892808"/>
            <a:ext cx="2514600" cy="5303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Format and protect data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5458968" y="1892808"/>
            <a:ext cx="2057400" cy="5303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Encryption, encoding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58368" y="2468880"/>
            <a:ext cx="438912" cy="530352"/>
          </a:xfrm>
          <a:prstGeom prst="roundRect">
            <a:avLst>
              <a:gd fmla="val 16667" name="adj"/>
            </a:avLst>
          </a:prstGeom>
          <a:solidFill>
            <a:srgbClr val="ECEFFA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D95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F5D9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1188720" y="2468880"/>
            <a:ext cx="1554480" cy="530352"/>
          </a:xfrm>
          <a:prstGeom prst="roundRect">
            <a:avLst>
              <a:gd fmla="val 16667" name="adj"/>
            </a:avLst>
          </a:prstGeom>
          <a:solidFill>
            <a:srgbClr val="ECEFFA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80"/>
              <a:buFont typeface="Arial"/>
              <a:buNone/>
            </a:pPr>
            <a:r>
              <a:rPr b="1" i="0" lang="en-US" sz="14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Session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2834640" y="2468880"/>
            <a:ext cx="2514600" cy="5303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Manage conversations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458968" y="2468880"/>
            <a:ext cx="2057400" cy="5303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Start / maintain / end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658368" y="3044952"/>
            <a:ext cx="438912" cy="530352"/>
          </a:xfrm>
          <a:prstGeom prst="roundRect">
            <a:avLst>
              <a:gd fmla="val 16667" name="adj"/>
            </a:avLst>
          </a:prstGeom>
          <a:solidFill>
            <a:srgbClr val="EEF5F2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D95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F5D9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188720" y="3044952"/>
            <a:ext cx="1554480" cy="530352"/>
          </a:xfrm>
          <a:prstGeom prst="roundRect">
            <a:avLst>
              <a:gd fmla="val 16667" name="adj"/>
            </a:avLst>
          </a:prstGeom>
          <a:solidFill>
            <a:srgbClr val="EEF5F2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80"/>
              <a:buFont typeface="Arial"/>
              <a:buNone/>
            </a:pPr>
            <a:r>
              <a:rPr b="1" i="0" lang="en-US" sz="14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2834640" y="3044952"/>
            <a:ext cx="2514600" cy="5303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Deliver data end-to-end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458968" y="3044952"/>
            <a:ext cx="2057400" cy="5303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TCP, UDP, ports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58368" y="3621024"/>
            <a:ext cx="438912" cy="530352"/>
          </a:xfrm>
          <a:prstGeom prst="roundRect">
            <a:avLst>
              <a:gd fmla="val 16667" name="adj"/>
            </a:avLst>
          </a:prstGeom>
          <a:solidFill>
            <a:srgbClr val="F5EFF3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D95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F5D9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188720" y="3621024"/>
            <a:ext cx="1554480" cy="530352"/>
          </a:xfrm>
          <a:prstGeom prst="roundRect">
            <a:avLst>
              <a:gd fmla="val 16667" name="adj"/>
            </a:avLst>
          </a:prstGeom>
          <a:solidFill>
            <a:srgbClr val="F5EFF3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80"/>
              <a:buFont typeface="Arial"/>
              <a:buNone/>
            </a:pPr>
            <a:r>
              <a:rPr b="1" i="0" lang="en-US" sz="14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2834640" y="3621024"/>
            <a:ext cx="2514600" cy="5303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Find the destination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458968" y="3621024"/>
            <a:ext cx="2057400" cy="5303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IP, routers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58368" y="4197096"/>
            <a:ext cx="438912" cy="530352"/>
          </a:xfrm>
          <a:prstGeom prst="roundRect">
            <a:avLst>
              <a:gd fmla="val 16667" name="adj"/>
            </a:avLst>
          </a:prstGeom>
          <a:solidFill>
            <a:srgbClr val="EEF5F2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D95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F5D9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188720" y="4197096"/>
            <a:ext cx="1554480" cy="530352"/>
          </a:xfrm>
          <a:prstGeom prst="roundRect">
            <a:avLst>
              <a:gd fmla="val 16667" name="adj"/>
            </a:avLst>
          </a:prstGeom>
          <a:solidFill>
            <a:srgbClr val="EEF5F2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80"/>
              <a:buFont typeface="Arial"/>
              <a:buNone/>
            </a:pPr>
            <a:r>
              <a:rPr b="1" i="0" lang="en-US" sz="14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Data Link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834640" y="4197096"/>
            <a:ext cx="2514600" cy="5303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Move inside local network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458968" y="4197096"/>
            <a:ext cx="2057400" cy="5303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MAC, switches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58368" y="4773168"/>
            <a:ext cx="438912" cy="530352"/>
          </a:xfrm>
          <a:prstGeom prst="roundRect">
            <a:avLst>
              <a:gd fmla="val 16667" name="adj"/>
            </a:avLst>
          </a:prstGeom>
          <a:solidFill>
            <a:srgbClr val="EEF0FA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D95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F5D9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88720" y="4773168"/>
            <a:ext cx="1554480" cy="530352"/>
          </a:xfrm>
          <a:prstGeom prst="roundRect">
            <a:avLst>
              <a:gd fmla="val 16667" name="adj"/>
            </a:avLst>
          </a:prstGeom>
          <a:solidFill>
            <a:srgbClr val="EEF0FA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80"/>
              <a:buFont typeface="Arial"/>
              <a:buNone/>
            </a:pPr>
            <a:r>
              <a:rPr b="1" i="0" lang="en-US" sz="14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834640" y="4773168"/>
            <a:ext cx="2514600" cy="5303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Carry bits as signals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458968" y="4773168"/>
            <a:ext cx="2057400" cy="5303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Cables, Wi-Fi, fiber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7863840" y="1417320"/>
            <a:ext cx="3429000" cy="1417320"/>
          </a:xfrm>
          <a:prstGeom prst="roundRect">
            <a:avLst>
              <a:gd fmla="val 16667" name="adj"/>
            </a:avLst>
          </a:prstGeom>
          <a:solidFill>
            <a:srgbClr val="F5EFF3"/>
          </a:solidFill>
          <a:ln cap="flat" cmpd="sng" w="13950">
            <a:solidFill>
              <a:srgbClr val="9A6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80"/>
              <a:buFont typeface="Arial"/>
              <a:buNone/>
            </a:pPr>
            <a:r>
              <a:rPr b="0" i="0" lang="en-US" sz="13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Reason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80"/>
              <a:buFont typeface="Arial"/>
              <a:buNone/>
            </a:pPr>
            <a:r>
              <a:rPr b="0" i="0" lang="en-US" sz="13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The OSI model helps teams discuss problems precisely: “Layer 3 routing” is clearer than “the internet is broken.”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863840" y="3154680"/>
            <a:ext cx="3429000" cy="1234440"/>
          </a:xfrm>
          <a:prstGeom prst="roundRect">
            <a:avLst>
              <a:gd fmla="val 16667" name="adj"/>
            </a:avLst>
          </a:prstGeom>
          <a:solidFill>
            <a:srgbClr val="F5EFF3"/>
          </a:solidFill>
          <a:ln cap="flat" cmpd="sng" w="13950">
            <a:solidFill>
              <a:srgbClr val="9A6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80"/>
              <a:buFont typeface="Arial"/>
              <a:buNone/>
            </a:pPr>
            <a:r>
              <a:rPr b="0" i="0" lang="en-US" sz="13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Teach-back line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80"/>
              <a:buFont typeface="Arial"/>
              <a:buNone/>
            </a:pPr>
            <a:r>
              <a:rPr b="0" i="0" lang="en-US" sz="13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OSI is not one single product. It is a map for understanding how data moves.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A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F5D95"/>
          </a:solidFill>
          <a:ln cap="flat" cmpd="sng" w="12700">
            <a:solidFill>
              <a:srgbClr val="4F5D9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EF0FA"/>
          </a:solidFill>
          <a:ln cap="flat" cmpd="sng" w="12700">
            <a:solidFill>
              <a:srgbClr val="EEF0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594360" y="411480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20243A"/>
                </a:solidFill>
                <a:latin typeface="Play"/>
                <a:ea typeface="Play"/>
                <a:cs typeface="Play"/>
                <a:sym typeface="Play"/>
              </a:rPr>
              <a:t>What is TCP/IP?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21792" y="841248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The practical protocol suite used by the Internet and most modern networks.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914400" y="1325880"/>
            <a:ext cx="4754880" cy="758952"/>
          </a:xfrm>
          <a:prstGeom prst="roundRect">
            <a:avLst>
              <a:gd fmla="val 16667" name="adj"/>
            </a:avLst>
          </a:prstGeom>
          <a:solidFill>
            <a:srgbClr val="ECEFFA"/>
          </a:solidFill>
          <a:ln cap="flat" cmpd="sng" w="12700">
            <a:solidFill>
              <a:srgbClr val="4F5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HTTP, HTTPS, DNS, SMTP, SSH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989320" y="1536192"/>
            <a:ext cx="4526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What the user or app wants to do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914400" y="2286000"/>
            <a:ext cx="4754880" cy="758952"/>
          </a:xfrm>
          <a:prstGeom prst="roundRect">
            <a:avLst>
              <a:gd fmla="val 16667" name="adj"/>
            </a:avLst>
          </a:prstGeom>
          <a:solidFill>
            <a:srgbClr val="EEF5F2"/>
          </a:solidFill>
          <a:ln cap="flat" cmpd="sng" w="12700">
            <a:solidFill>
              <a:srgbClr val="4F5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TCP and UDP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989320" y="2496312"/>
            <a:ext cx="4526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End-to-end delivery using ports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914400" y="3246120"/>
            <a:ext cx="4754880" cy="758952"/>
          </a:xfrm>
          <a:prstGeom prst="roundRect">
            <a:avLst>
              <a:gd fmla="val 16667" name="adj"/>
            </a:avLst>
          </a:prstGeom>
          <a:solidFill>
            <a:srgbClr val="F5EFF3"/>
          </a:solidFill>
          <a:ln cap="flat" cmpd="sng" w="12700">
            <a:solidFill>
              <a:srgbClr val="4F5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IP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989320" y="3456432"/>
            <a:ext cx="4526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Addressing and routing between networks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914400" y="4206240"/>
            <a:ext cx="4754880" cy="758952"/>
          </a:xfrm>
          <a:prstGeom prst="roundRect">
            <a:avLst>
              <a:gd fmla="val 16667" name="adj"/>
            </a:avLst>
          </a:prstGeom>
          <a:solidFill>
            <a:srgbClr val="EEF5F2"/>
          </a:solidFill>
          <a:ln cap="flat" cmpd="sng" w="12700">
            <a:solidFill>
              <a:srgbClr val="4F5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Network Access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Ethernet, Wi-Fi, MAC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989320" y="4416552"/>
            <a:ext cx="4526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Local delivery and physical access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038443" y="5399540"/>
            <a:ext cx="4114800" cy="694800"/>
          </a:xfrm>
          <a:prstGeom prst="roundRect">
            <a:avLst>
              <a:gd fmla="val 16667" name="adj"/>
            </a:avLst>
          </a:prstGeom>
          <a:solidFill>
            <a:srgbClr val="F5EFF3"/>
          </a:solidFill>
          <a:ln cap="flat" cmpd="sng" w="13950">
            <a:solidFill>
              <a:srgbClr val="9A6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80"/>
              <a:buFont typeface="Arial"/>
              <a:buNone/>
            </a:pPr>
            <a:r>
              <a:rPr b="0" i="0" lang="en-US" sz="13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Simple answer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80"/>
              <a:buFont typeface="Arial"/>
              <a:buNone/>
            </a:pPr>
            <a:r>
              <a:rPr b="0" i="0" lang="en-US" sz="13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TCP/IP is the protocol family that makes real network communication work.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F5D95"/>
          </a:solidFill>
          <a:ln cap="flat" cmpd="sng" w="12700">
            <a:solidFill>
              <a:srgbClr val="4F5D9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EF0FA"/>
          </a:solidFill>
          <a:ln cap="flat" cmpd="sng" w="12700">
            <a:solidFill>
              <a:srgbClr val="EEF0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594360" y="411480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20243A"/>
                </a:solidFill>
                <a:latin typeface="Play"/>
                <a:ea typeface="Play"/>
                <a:cs typeface="Play"/>
                <a:sym typeface="Play"/>
              </a:rPr>
              <a:t>How are OSI and TCP/IP connected?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21792" y="841248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OSI explains the layers; TCP/IP provides the working protocols used in those layers.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868680" y="1417320"/>
            <a:ext cx="3749040" cy="658368"/>
          </a:xfrm>
          <a:prstGeom prst="roundRect">
            <a:avLst>
              <a:gd fmla="val 16667" name="adj"/>
            </a:avLst>
          </a:prstGeom>
          <a:solidFill>
            <a:srgbClr val="ECEFFA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OSI 7-5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Application / Presentation / Session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7498080" y="1417320"/>
            <a:ext cx="3749040" cy="658368"/>
          </a:xfrm>
          <a:prstGeom prst="roundRect">
            <a:avLst>
              <a:gd fmla="val 16667" name="adj"/>
            </a:avLst>
          </a:prstGeom>
          <a:solidFill>
            <a:srgbClr val="EEF5F2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TCP/IP Application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HTTPS, DNS, SSH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p5"/>
          <p:cNvCxnSpPr/>
          <p:nvPr/>
        </p:nvCxnSpPr>
        <p:spPr>
          <a:xfrm>
            <a:off x="4800600" y="1746504"/>
            <a:ext cx="2423160" cy="0"/>
          </a:xfrm>
          <a:prstGeom prst="straightConnector1">
            <a:avLst/>
          </a:prstGeom>
          <a:noFill/>
          <a:ln cap="flat" cmpd="sng" w="20300">
            <a:solidFill>
              <a:srgbClr val="4F5D9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" name="Google Shape;102;p5"/>
          <p:cNvSpPr/>
          <p:nvPr/>
        </p:nvSpPr>
        <p:spPr>
          <a:xfrm>
            <a:off x="868680" y="2487168"/>
            <a:ext cx="3749040" cy="658368"/>
          </a:xfrm>
          <a:prstGeom prst="roundRect">
            <a:avLst>
              <a:gd fmla="val 16667" name="adj"/>
            </a:avLst>
          </a:prstGeom>
          <a:solidFill>
            <a:srgbClr val="F2F0E8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OSI 4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498080" y="2487168"/>
            <a:ext cx="3749040" cy="658368"/>
          </a:xfrm>
          <a:prstGeom prst="roundRect">
            <a:avLst>
              <a:gd fmla="val 16667" name="adj"/>
            </a:avLst>
          </a:prstGeom>
          <a:solidFill>
            <a:srgbClr val="EEF5F2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TCP/IP Transport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TCP, UDP, ports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5"/>
          <p:cNvCxnSpPr/>
          <p:nvPr/>
        </p:nvCxnSpPr>
        <p:spPr>
          <a:xfrm>
            <a:off x="4800600" y="2816352"/>
            <a:ext cx="2423160" cy="0"/>
          </a:xfrm>
          <a:prstGeom prst="straightConnector1">
            <a:avLst/>
          </a:prstGeom>
          <a:noFill/>
          <a:ln cap="flat" cmpd="sng" w="20300">
            <a:solidFill>
              <a:srgbClr val="4F5D9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" name="Google Shape;105;p5"/>
          <p:cNvSpPr/>
          <p:nvPr/>
        </p:nvSpPr>
        <p:spPr>
          <a:xfrm>
            <a:off x="868680" y="3557016"/>
            <a:ext cx="3749040" cy="658368"/>
          </a:xfrm>
          <a:prstGeom prst="roundRect">
            <a:avLst>
              <a:gd fmla="val 16667" name="adj"/>
            </a:avLst>
          </a:prstGeom>
          <a:solidFill>
            <a:srgbClr val="ECEFFA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OSI 3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7498080" y="3557016"/>
            <a:ext cx="3749040" cy="658368"/>
          </a:xfrm>
          <a:prstGeom prst="roundRect">
            <a:avLst>
              <a:gd fmla="val 16667" name="adj"/>
            </a:avLst>
          </a:prstGeom>
          <a:solidFill>
            <a:srgbClr val="EEF5F2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TCP/IP Internet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IP routing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p5"/>
          <p:cNvCxnSpPr/>
          <p:nvPr/>
        </p:nvCxnSpPr>
        <p:spPr>
          <a:xfrm>
            <a:off x="4800600" y="3886200"/>
            <a:ext cx="2423160" cy="0"/>
          </a:xfrm>
          <a:prstGeom prst="straightConnector1">
            <a:avLst/>
          </a:prstGeom>
          <a:noFill/>
          <a:ln cap="flat" cmpd="sng" w="20300">
            <a:solidFill>
              <a:srgbClr val="4F5D9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" name="Google Shape;108;p5"/>
          <p:cNvSpPr/>
          <p:nvPr/>
        </p:nvSpPr>
        <p:spPr>
          <a:xfrm>
            <a:off x="868680" y="4626864"/>
            <a:ext cx="3749040" cy="658368"/>
          </a:xfrm>
          <a:prstGeom prst="roundRect">
            <a:avLst>
              <a:gd fmla="val 16667" name="adj"/>
            </a:avLst>
          </a:prstGeom>
          <a:solidFill>
            <a:srgbClr val="F2F0E8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OSI 2-1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Data Link / Physical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7498080" y="4626864"/>
            <a:ext cx="3749040" cy="658368"/>
          </a:xfrm>
          <a:prstGeom prst="roundRect">
            <a:avLst>
              <a:gd fmla="val 16667" name="adj"/>
            </a:avLst>
          </a:prstGeom>
          <a:solidFill>
            <a:srgbClr val="EEF5F2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TCP/IP Network Access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Ethernet, Wi-Fi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5"/>
          <p:cNvCxnSpPr/>
          <p:nvPr/>
        </p:nvCxnSpPr>
        <p:spPr>
          <a:xfrm>
            <a:off x="4800600" y="4956048"/>
            <a:ext cx="2423160" cy="0"/>
          </a:xfrm>
          <a:prstGeom prst="straightConnector1">
            <a:avLst/>
          </a:prstGeom>
          <a:noFill/>
          <a:ln cap="flat" cmpd="sng" w="20300">
            <a:solidFill>
              <a:srgbClr val="4F5D9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1" name="Google Shape;111;p5"/>
          <p:cNvSpPr/>
          <p:nvPr/>
        </p:nvSpPr>
        <p:spPr>
          <a:xfrm>
            <a:off x="4800600" y="1115568"/>
            <a:ext cx="2423160" cy="384048"/>
          </a:xfrm>
          <a:prstGeom prst="roundRect">
            <a:avLst>
              <a:gd fmla="val 16667" name="adj"/>
            </a:avLst>
          </a:prstGeom>
          <a:solidFill>
            <a:srgbClr val="4F5D95"/>
          </a:solidFill>
          <a:ln cap="flat" cmpd="sng" w="12700">
            <a:solidFill>
              <a:srgbClr val="4F5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relationship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434840" y="5394960"/>
            <a:ext cx="3337560" cy="78638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618B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40"/>
              <a:buFont typeface="Arial"/>
              <a:buNone/>
            </a:pPr>
            <a:r>
              <a:rPr b="1" i="0" lang="en-US" sz="134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TCP is the reliable delivery protocol at the Transport layer.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40"/>
              <a:buFont typeface="Arial"/>
              <a:buNone/>
            </a:pPr>
            <a:r>
              <a:rPr b="1" i="0" lang="en-US" sz="134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IP is the addressing/routing protocol at the Network/Internet layer.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F5D95"/>
          </a:solidFill>
          <a:ln cap="flat" cmpd="sng" w="12700">
            <a:solidFill>
              <a:srgbClr val="4F5D9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EF0FA"/>
          </a:solidFill>
          <a:ln cap="flat" cmpd="sng" w="12700">
            <a:solidFill>
              <a:srgbClr val="EEF0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594360" y="411480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20243A"/>
                </a:solidFill>
                <a:latin typeface="Play"/>
                <a:ea typeface="Play"/>
                <a:cs typeface="Play"/>
                <a:sym typeface="Play"/>
              </a:rPr>
              <a:t>Example: opening a secure website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621792" y="841248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Scenario: a user opens https://hospital.example.com from a laptop.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85800" y="1828800"/>
            <a:ext cx="1417320" cy="768096"/>
          </a:xfrm>
          <a:prstGeom prst="roundRect">
            <a:avLst>
              <a:gd fmla="val 16667" name="adj"/>
            </a:avLst>
          </a:prstGeom>
          <a:solidFill>
            <a:srgbClr val="ECEFFA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70"/>
              <a:buFont typeface="Arial"/>
              <a:buNone/>
            </a:pPr>
            <a:r>
              <a:rPr b="1" i="0" lang="en-US" sz="137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 b="0" i="0" sz="13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70"/>
              <a:buFont typeface="Arial"/>
              <a:buNone/>
            </a:pPr>
            <a:r>
              <a:rPr b="1" i="0" lang="en-US" sz="137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asks for page</a:t>
            </a:r>
            <a:endParaRPr b="0" i="0" sz="13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p6"/>
          <p:cNvCxnSpPr/>
          <p:nvPr/>
        </p:nvCxnSpPr>
        <p:spPr>
          <a:xfrm>
            <a:off x="2167128" y="2212848"/>
            <a:ext cx="384048" cy="0"/>
          </a:xfrm>
          <a:prstGeom prst="straightConnector1">
            <a:avLst/>
          </a:prstGeom>
          <a:noFill/>
          <a:ln cap="flat" cmpd="sng" w="21575">
            <a:solidFill>
              <a:srgbClr val="4F5D9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4" name="Google Shape;124;p6"/>
          <p:cNvSpPr/>
          <p:nvPr/>
        </p:nvSpPr>
        <p:spPr>
          <a:xfrm>
            <a:off x="2578608" y="1828800"/>
            <a:ext cx="1417320" cy="768096"/>
          </a:xfrm>
          <a:prstGeom prst="roundRect">
            <a:avLst>
              <a:gd fmla="val 16667" name="adj"/>
            </a:avLst>
          </a:prstGeom>
          <a:solidFill>
            <a:srgbClr val="F2F0E8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70"/>
              <a:buFont typeface="Arial"/>
              <a:buNone/>
            </a:pPr>
            <a:r>
              <a:rPr b="1" i="0" lang="en-US" sz="137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HTTPS</a:t>
            </a:r>
            <a:endParaRPr b="0" i="0" sz="13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70"/>
              <a:buFont typeface="Arial"/>
              <a:buNone/>
            </a:pPr>
            <a:r>
              <a:rPr b="1" i="0" lang="en-US" sz="137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encrypts request</a:t>
            </a:r>
            <a:endParaRPr b="0" i="0" sz="13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6"/>
          <p:cNvCxnSpPr/>
          <p:nvPr/>
        </p:nvCxnSpPr>
        <p:spPr>
          <a:xfrm>
            <a:off x="4059936" y="2212848"/>
            <a:ext cx="384048" cy="0"/>
          </a:xfrm>
          <a:prstGeom prst="straightConnector1">
            <a:avLst/>
          </a:prstGeom>
          <a:noFill/>
          <a:ln cap="flat" cmpd="sng" w="21575">
            <a:solidFill>
              <a:srgbClr val="4F5D9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6" name="Google Shape;126;p6"/>
          <p:cNvSpPr/>
          <p:nvPr/>
        </p:nvSpPr>
        <p:spPr>
          <a:xfrm>
            <a:off x="4471416" y="1828800"/>
            <a:ext cx="1417320" cy="768096"/>
          </a:xfrm>
          <a:prstGeom prst="roundRect">
            <a:avLst>
              <a:gd fmla="val 16667" name="adj"/>
            </a:avLst>
          </a:prstGeom>
          <a:solidFill>
            <a:srgbClr val="EEF5F2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70"/>
              <a:buFont typeface="Arial"/>
              <a:buNone/>
            </a:pPr>
            <a:r>
              <a:rPr b="1" i="0" lang="en-US" sz="137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TCP :443</a:t>
            </a:r>
            <a:endParaRPr b="0" i="0" sz="13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70"/>
              <a:buFont typeface="Arial"/>
              <a:buNone/>
            </a:pPr>
            <a:r>
              <a:rPr b="1" i="0" lang="en-US" sz="137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reliable connection</a:t>
            </a:r>
            <a:endParaRPr b="0" i="0" sz="13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p6"/>
          <p:cNvCxnSpPr/>
          <p:nvPr/>
        </p:nvCxnSpPr>
        <p:spPr>
          <a:xfrm>
            <a:off x="5952744" y="2212848"/>
            <a:ext cx="384048" cy="0"/>
          </a:xfrm>
          <a:prstGeom prst="straightConnector1">
            <a:avLst/>
          </a:prstGeom>
          <a:noFill/>
          <a:ln cap="flat" cmpd="sng" w="21575">
            <a:solidFill>
              <a:srgbClr val="4F5D9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8" name="Google Shape;128;p6"/>
          <p:cNvSpPr/>
          <p:nvPr/>
        </p:nvSpPr>
        <p:spPr>
          <a:xfrm>
            <a:off x="6364224" y="1828800"/>
            <a:ext cx="1417320" cy="768096"/>
          </a:xfrm>
          <a:prstGeom prst="roundRect">
            <a:avLst>
              <a:gd fmla="val 16667" name="adj"/>
            </a:avLst>
          </a:prstGeom>
          <a:solidFill>
            <a:srgbClr val="F5EFF3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70"/>
              <a:buFont typeface="Arial"/>
              <a:buNone/>
            </a:pPr>
            <a:r>
              <a:rPr b="1" i="0" lang="en-US" sz="137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IP</a:t>
            </a:r>
            <a:endParaRPr b="0" i="0" sz="13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70"/>
              <a:buFont typeface="Arial"/>
              <a:buNone/>
            </a:pPr>
            <a:r>
              <a:rPr b="1" i="0" lang="en-US" sz="137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routes to server</a:t>
            </a:r>
            <a:endParaRPr b="0" i="0" sz="13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" name="Google Shape;129;p6"/>
          <p:cNvCxnSpPr/>
          <p:nvPr/>
        </p:nvCxnSpPr>
        <p:spPr>
          <a:xfrm>
            <a:off x="7845552" y="2212848"/>
            <a:ext cx="384048" cy="0"/>
          </a:xfrm>
          <a:prstGeom prst="straightConnector1">
            <a:avLst/>
          </a:prstGeom>
          <a:noFill/>
          <a:ln cap="flat" cmpd="sng" w="21575">
            <a:solidFill>
              <a:srgbClr val="4F5D9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0" name="Google Shape;130;p6"/>
          <p:cNvSpPr/>
          <p:nvPr/>
        </p:nvSpPr>
        <p:spPr>
          <a:xfrm>
            <a:off x="8257032" y="1828800"/>
            <a:ext cx="1417320" cy="768096"/>
          </a:xfrm>
          <a:prstGeom prst="roundRect">
            <a:avLst>
              <a:gd fmla="val 16667" name="adj"/>
            </a:avLst>
          </a:prstGeom>
          <a:solidFill>
            <a:srgbClr val="EEF5F2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70"/>
              <a:buFont typeface="Arial"/>
              <a:buNone/>
            </a:pPr>
            <a:r>
              <a:rPr b="1" i="0" lang="en-US" sz="137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Wi-Fi / Ethernet</a:t>
            </a:r>
            <a:endParaRPr b="0" i="0" sz="13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70"/>
              <a:buFont typeface="Arial"/>
              <a:buNone/>
            </a:pPr>
            <a:r>
              <a:rPr b="1" i="0" lang="en-US" sz="137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moves locally</a:t>
            </a:r>
            <a:endParaRPr b="0" i="0" sz="13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p6"/>
          <p:cNvCxnSpPr/>
          <p:nvPr/>
        </p:nvCxnSpPr>
        <p:spPr>
          <a:xfrm>
            <a:off x="9738360" y="2212848"/>
            <a:ext cx="384048" cy="0"/>
          </a:xfrm>
          <a:prstGeom prst="straightConnector1">
            <a:avLst/>
          </a:prstGeom>
          <a:noFill/>
          <a:ln cap="flat" cmpd="sng" w="21575">
            <a:solidFill>
              <a:srgbClr val="4F5D9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2" name="Google Shape;132;p6"/>
          <p:cNvSpPr/>
          <p:nvPr/>
        </p:nvSpPr>
        <p:spPr>
          <a:xfrm>
            <a:off x="10149840" y="1828800"/>
            <a:ext cx="1417320" cy="768096"/>
          </a:xfrm>
          <a:prstGeom prst="roundRect">
            <a:avLst>
              <a:gd fmla="val 16667" name="adj"/>
            </a:avLst>
          </a:prstGeom>
          <a:solidFill>
            <a:srgbClr val="EEF0FA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70"/>
              <a:buFont typeface="Arial"/>
              <a:buNone/>
            </a:pPr>
            <a:r>
              <a:rPr b="1" i="0" lang="en-US" sz="137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b="0" i="0" sz="13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70"/>
              <a:buFont typeface="Arial"/>
              <a:buNone/>
            </a:pPr>
            <a:r>
              <a:rPr b="1" i="0" lang="en-US" sz="137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responds</a:t>
            </a:r>
            <a:endParaRPr b="0" i="0" sz="13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731520" y="3200400"/>
            <a:ext cx="3657600" cy="1645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F5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5" lIns="2275" spcFirstLastPara="1" rIns="2275" wrap="square" tIns="2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Logic behind the path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• Application asks for data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• TCP makes delivery reliable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• IP finds the destination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• Ethernet/Wi‑Fi carries it physically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074920" y="3246120"/>
            <a:ext cx="5852160" cy="438912"/>
          </a:xfrm>
          <a:prstGeom prst="roundRect">
            <a:avLst>
              <a:gd fmla="val 16667" name="adj"/>
            </a:avLst>
          </a:prstGeom>
          <a:solidFill>
            <a:srgbClr val="618B7B"/>
          </a:solidFill>
          <a:ln cap="flat" cmpd="sng" w="12700">
            <a:solidFill>
              <a:srgbClr val="618B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0"/>
              <a:buFont typeface="Arial"/>
              <a:buNone/>
            </a:pPr>
            <a:r>
              <a:rPr b="1" i="0" lang="en-US" sz="15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Communication point</a:t>
            </a:r>
            <a:endParaRPr b="0" i="0" sz="15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074920" y="3822192"/>
            <a:ext cx="5852160" cy="960120"/>
          </a:xfrm>
          <a:prstGeom prst="roundRect">
            <a:avLst>
              <a:gd fmla="val 16667" name="adj"/>
            </a:avLst>
          </a:prstGeom>
          <a:solidFill>
            <a:srgbClr val="EEF5F2"/>
          </a:solidFill>
          <a:ln cap="flat" cmpd="sng" w="12700">
            <a:solidFill>
              <a:srgbClr val="618B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5" lIns="2275" spcFirstLastPara="1" rIns="2275" wrap="square" tIns="2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A “website problem” may actually be DNS, TCP port 443, routing, Wi‑Fi, or the app itself.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A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F5D95"/>
          </a:solidFill>
          <a:ln cap="flat" cmpd="sng" w="12700">
            <a:solidFill>
              <a:srgbClr val="4F5D9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EF0FA"/>
          </a:solidFill>
          <a:ln cap="flat" cmpd="sng" w="12700">
            <a:solidFill>
              <a:srgbClr val="EEF0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594360" y="411480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20243A"/>
                </a:solidFill>
                <a:latin typeface="Play"/>
                <a:ea typeface="Play"/>
                <a:cs typeface="Play"/>
                <a:sym typeface="Play"/>
              </a:rPr>
              <a:t>TCP logic: reliable delivery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21792" y="841248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TCP is used when the data must arrive correctly and in order.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914400" y="1554480"/>
            <a:ext cx="1280160" cy="502920"/>
          </a:xfrm>
          <a:prstGeom prst="roundRect">
            <a:avLst>
              <a:gd fmla="val 16667" name="adj"/>
            </a:avLst>
          </a:prstGeom>
          <a:solidFill>
            <a:srgbClr val="ECEFFA"/>
          </a:solidFill>
          <a:ln cap="flat" cmpd="sng" w="12700">
            <a:solidFill>
              <a:srgbClr val="4F5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9985248" y="1554480"/>
            <a:ext cx="1280160" cy="502920"/>
          </a:xfrm>
          <a:prstGeom prst="roundRect">
            <a:avLst>
              <a:gd fmla="val 16667" name="adj"/>
            </a:avLst>
          </a:prstGeom>
          <a:solidFill>
            <a:srgbClr val="EEF5F2"/>
          </a:solidFill>
          <a:ln cap="flat" cmpd="sng" w="12700">
            <a:solidFill>
              <a:srgbClr val="4F5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147;p7"/>
          <p:cNvCxnSpPr/>
          <p:nvPr/>
        </p:nvCxnSpPr>
        <p:spPr>
          <a:xfrm>
            <a:off x="2331720" y="2331720"/>
            <a:ext cx="7498080" cy="0"/>
          </a:xfrm>
          <a:prstGeom prst="straightConnector1">
            <a:avLst/>
          </a:prstGeom>
          <a:noFill/>
          <a:ln cap="flat" cmpd="sng" w="25400">
            <a:solidFill>
              <a:srgbClr val="4F5D9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8" name="Google Shape;148;p7"/>
          <p:cNvSpPr/>
          <p:nvPr/>
        </p:nvSpPr>
        <p:spPr>
          <a:xfrm>
            <a:off x="3931920" y="2130552"/>
            <a:ext cx="448056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70"/>
              <a:buFont typeface="Arial"/>
              <a:buNone/>
            </a:pPr>
            <a:r>
              <a:rPr b="1" i="0" lang="en-US" sz="137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1  SYN — Can we connect?</a:t>
            </a:r>
            <a:endParaRPr b="0" i="0" sz="13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 rot="10800000">
            <a:off x="2331720" y="3044952"/>
            <a:ext cx="7498080" cy="0"/>
          </a:xfrm>
          <a:prstGeom prst="straightConnector1">
            <a:avLst/>
          </a:prstGeom>
          <a:noFill/>
          <a:ln cap="flat" cmpd="sng" w="25400">
            <a:solidFill>
              <a:srgbClr val="618B7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0" name="Google Shape;150;p7"/>
          <p:cNvSpPr/>
          <p:nvPr/>
        </p:nvSpPr>
        <p:spPr>
          <a:xfrm>
            <a:off x="3931920" y="2843784"/>
            <a:ext cx="448056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70"/>
              <a:buFont typeface="Arial"/>
              <a:buNone/>
            </a:pPr>
            <a:r>
              <a:rPr b="1" i="0" lang="en-US" sz="137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2  SYN-ACK — Yes, ready.</a:t>
            </a:r>
            <a:endParaRPr b="0" i="0" sz="13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7"/>
          <p:cNvCxnSpPr/>
          <p:nvPr/>
        </p:nvCxnSpPr>
        <p:spPr>
          <a:xfrm>
            <a:off x="2331720" y="3758184"/>
            <a:ext cx="7498080" cy="0"/>
          </a:xfrm>
          <a:prstGeom prst="straightConnector1">
            <a:avLst/>
          </a:prstGeom>
          <a:noFill/>
          <a:ln cap="flat" cmpd="sng" w="25400">
            <a:solidFill>
              <a:srgbClr val="4F5D9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" name="Google Shape;152;p7"/>
          <p:cNvSpPr/>
          <p:nvPr/>
        </p:nvSpPr>
        <p:spPr>
          <a:xfrm>
            <a:off x="3931920" y="3557016"/>
            <a:ext cx="448056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70"/>
              <a:buFont typeface="Arial"/>
              <a:buNone/>
            </a:pPr>
            <a:r>
              <a:rPr b="1" i="0" lang="en-US" sz="137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3  ACK — Confirmed.</a:t>
            </a:r>
            <a:endParaRPr b="0" i="0" sz="13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2880360" y="4681728"/>
            <a:ext cx="6355080" cy="502920"/>
          </a:xfrm>
          <a:prstGeom prst="roundRect">
            <a:avLst>
              <a:gd fmla="val 16667" name="adj"/>
            </a:avLst>
          </a:prstGeom>
          <a:solidFill>
            <a:srgbClr val="EEF0FA"/>
          </a:solidFill>
          <a:ln cap="flat" cmpd="sng" w="12700">
            <a:solidFill>
              <a:srgbClr val="4F5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After handshake: data moves in ordered segments.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051560" y="5376672"/>
            <a:ext cx="10058400" cy="640080"/>
          </a:xfrm>
          <a:prstGeom prst="roundRect">
            <a:avLst>
              <a:gd fmla="val 16667" name="adj"/>
            </a:avLst>
          </a:prstGeom>
          <a:solidFill>
            <a:srgbClr val="F5EFF3"/>
          </a:solidFill>
          <a:ln cap="flat" cmpd="sng" w="13950">
            <a:solidFill>
              <a:srgbClr val="9A6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80"/>
              <a:buFont typeface="Arial"/>
              <a:buNone/>
            </a:pPr>
            <a:r>
              <a:rPr b="0" i="0" lang="en-US" sz="13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80"/>
              <a:buFont typeface="Arial"/>
              <a:buNone/>
            </a:pPr>
            <a:r>
              <a:rPr b="0" i="0" lang="en-US" sz="13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TCP can detect missing pieces and retransmit them. That is why it is used for HTTPS, SSH, email, APIs, and file transfer.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A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F5D95"/>
          </a:solidFill>
          <a:ln cap="flat" cmpd="sng" w="12700">
            <a:solidFill>
              <a:srgbClr val="4F5D9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EF0FA"/>
          </a:solidFill>
          <a:ln cap="flat" cmpd="sng" w="12700">
            <a:solidFill>
              <a:srgbClr val="EEF0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594360" y="411480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20243A"/>
                </a:solidFill>
                <a:latin typeface="Play"/>
                <a:ea typeface="Play"/>
                <a:cs typeface="Play"/>
                <a:sym typeface="Play"/>
              </a:rPr>
              <a:t>Troubleshooting logic by layer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21792" y="841248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Use the model to ask better questions and communicate the finding clearly.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777240" y="1417320"/>
            <a:ext cx="2057400" cy="475488"/>
          </a:xfrm>
          <a:prstGeom prst="roundRect">
            <a:avLst>
              <a:gd fmla="val 16667" name="adj"/>
            </a:avLst>
          </a:prstGeom>
          <a:solidFill>
            <a:srgbClr val="ECEFFA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1 Physical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3108960" y="1417320"/>
            <a:ext cx="4206240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Is Wi-Fi/cable connected?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777240" y="2203704"/>
            <a:ext cx="2057400" cy="475488"/>
          </a:xfrm>
          <a:prstGeom prst="roundRect">
            <a:avLst>
              <a:gd fmla="val 16667" name="adj"/>
            </a:avLst>
          </a:prstGeom>
          <a:solidFill>
            <a:srgbClr val="EEF5F2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2 Data Link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3108960" y="2203704"/>
            <a:ext cx="4206240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Is LAN/VLAN/MAC okay?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777240" y="2990088"/>
            <a:ext cx="2057400" cy="475488"/>
          </a:xfrm>
          <a:prstGeom prst="roundRect">
            <a:avLst>
              <a:gd fmla="val 16667" name="adj"/>
            </a:avLst>
          </a:prstGeom>
          <a:solidFill>
            <a:srgbClr val="ECEFFA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3 Network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3108960" y="2990088"/>
            <a:ext cx="4206240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Can the device reach the IP?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777240" y="3776472"/>
            <a:ext cx="2057400" cy="475488"/>
          </a:xfrm>
          <a:prstGeom prst="roundRect">
            <a:avLst>
              <a:gd fmla="val 16667" name="adj"/>
            </a:avLst>
          </a:prstGeom>
          <a:solidFill>
            <a:srgbClr val="EEF5F2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4 Transport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3108960" y="3776472"/>
            <a:ext cx="4206240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Is TCP port 443 open?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777240" y="4562856"/>
            <a:ext cx="2057400" cy="475488"/>
          </a:xfrm>
          <a:prstGeom prst="roundRect">
            <a:avLst>
              <a:gd fmla="val 16667" name="adj"/>
            </a:avLst>
          </a:prstGeom>
          <a:solidFill>
            <a:srgbClr val="ECEFFA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7 Application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3108960" y="4562856"/>
            <a:ext cx="4206240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Is the app or login working?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7818120" y="1371600"/>
            <a:ext cx="3291840" cy="475488"/>
          </a:xfrm>
          <a:prstGeom prst="roundRect">
            <a:avLst>
              <a:gd fmla="val 16667" name="adj"/>
            </a:avLst>
          </a:prstGeom>
          <a:solidFill>
            <a:srgbClr val="4F5D95"/>
          </a:solidFill>
          <a:ln cap="flat" cmpd="sng" w="12700">
            <a:solidFill>
              <a:srgbClr val="4F5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Clear status update format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7818120" y="2057400"/>
            <a:ext cx="329184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F5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Issue: user cannot access hospital portal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Test: ping works, port 443 fails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Likely layer: Transport / firewall rule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Next step: verify allowed TCP 443 path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7818120" y="4800600"/>
            <a:ext cx="3291840" cy="868680"/>
          </a:xfrm>
          <a:prstGeom prst="roundRect">
            <a:avLst>
              <a:gd fmla="val 16667" name="adj"/>
            </a:avLst>
          </a:prstGeom>
          <a:solidFill>
            <a:srgbClr val="EEF5F2"/>
          </a:solidFill>
          <a:ln cap="flat" cmpd="sng" w="12700">
            <a:solidFill>
              <a:srgbClr val="618B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80"/>
              <a:buFont typeface="Arial"/>
              <a:buNone/>
            </a:pPr>
            <a:r>
              <a:rPr b="1" i="0" lang="en-US" sz="14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This is “well-established communication”: symptoms, evidence, layer, and next action.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A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F5D95"/>
          </a:solidFill>
          <a:ln cap="flat" cmpd="sng" w="12700">
            <a:solidFill>
              <a:srgbClr val="4F5D9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EF0FA"/>
          </a:solidFill>
          <a:ln cap="flat" cmpd="sng" w="12700">
            <a:solidFill>
              <a:srgbClr val="EEF0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594360" y="411480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20243A"/>
                </a:solidFill>
                <a:latin typeface="Play"/>
                <a:ea typeface="Play"/>
                <a:cs typeface="Play"/>
                <a:sym typeface="Play"/>
              </a:rPr>
              <a:t>Teach-back moment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21792" y="841248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Use this slide to engage the audience instead of only presenting definitions.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822960" y="1325880"/>
            <a:ext cx="1828800" cy="411480"/>
          </a:xfrm>
          <a:prstGeom prst="roundRect">
            <a:avLst>
              <a:gd fmla="val 16667" name="adj"/>
            </a:avLst>
          </a:prstGeom>
          <a:solidFill>
            <a:srgbClr val="4F5D95"/>
          </a:solidFill>
          <a:ln cap="flat" cmpd="sng" w="12700">
            <a:solidFill>
              <a:srgbClr val="4F5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Scenario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822960" y="1847088"/>
            <a:ext cx="461772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F5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5" lIns="2275" spcFirstLastPara="1" rIns="2275" wrap="square" tIns="2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A nurse can connect to Wi‑Fi and ping the server IP. But the hospital web app still does not open in the browser.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960120" y="3977640"/>
            <a:ext cx="4297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• Which OSI layer would you check next?</a:t>
            </a:r>
            <a:br>
              <a:rPr b="0" i="0" lang="en-US" sz="170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• What evidence supports your answer?</a:t>
            </a:r>
            <a:br>
              <a:rPr b="0" i="0" lang="en-US" sz="170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• How would you communicate it to the team?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6597765" y="1783095"/>
            <a:ext cx="4343400" cy="438900"/>
          </a:xfrm>
          <a:prstGeom prst="roundRect">
            <a:avLst>
              <a:gd fmla="val 16667" name="adj"/>
            </a:avLst>
          </a:prstGeom>
          <a:solidFill>
            <a:srgbClr val="EEF0FA"/>
          </a:solidFill>
          <a:ln cap="flat" cmpd="sng" w="12700">
            <a:solidFill>
              <a:srgbClr val="4F5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Suggested answer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6492240" y="2620100"/>
            <a:ext cx="4343400" cy="187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F5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5" lIns="2275" spcFirstLastPara="1" rIns="2275" wrap="square" tIns="2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Since Wi‑Fi works and the IP responds, start checking Layer 4 Transport: TCP port 443, firewall rules, or service availability. Then check Layer 7 if the port is open but the app still fails.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012815" y="5418164"/>
            <a:ext cx="4343400" cy="567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9A6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“The network path exists, but the web service path may be blocked at TCP 443.”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F5D95"/>
          </a:solidFill>
          <a:ln cap="flat" cmpd="sng" w="12700">
            <a:solidFill>
              <a:srgbClr val="4F5D9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EF0FA"/>
          </a:solidFill>
          <a:ln cap="flat" cmpd="sng" w="12700">
            <a:solidFill>
              <a:srgbClr val="EEF0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594360" y="411480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20243A"/>
                </a:solidFill>
                <a:latin typeface="Play"/>
                <a:ea typeface="Play"/>
                <a:cs typeface="Play"/>
                <a:sym typeface="Play"/>
              </a:rPr>
              <a:t>Summary: the whole idea in one view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868680" y="1417320"/>
            <a:ext cx="4434840" cy="438912"/>
          </a:xfrm>
          <a:prstGeom prst="roundRect">
            <a:avLst>
              <a:gd fmla="val 16667" name="adj"/>
            </a:avLst>
          </a:prstGeom>
          <a:solidFill>
            <a:srgbClr val="ECEFFA"/>
          </a:solidFill>
          <a:ln cap="flat" cmpd="sng" w="12700">
            <a:solidFill>
              <a:srgbClr val="4F5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580"/>
              <a:buFont typeface="Arial"/>
              <a:buNone/>
            </a:pPr>
            <a:r>
              <a:rPr b="1" i="0" lang="en-US" sz="15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OSI Model</a:t>
            </a:r>
            <a:endParaRPr b="0" i="0" sz="15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868680" y="1984248"/>
            <a:ext cx="443484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A 7-layer reference map for learning and troubleshooting.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868680" y="2926080"/>
            <a:ext cx="4434840" cy="438912"/>
          </a:xfrm>
          <a:prstGeom prst="roundRect">
            <a:avLst>
              <a:gd fmla="val 16667" name="adj"/>
            </a:avLst>
          </a:prstGeom>
          <a:solidFill>
            <a:srgbClr val="EEF5F2"/>
          </a:solidFill>
          <a:ln cap="flat" cmpd="sng" w="12700">
            <a:solidFill>
              <a:srgbClr val="4F5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580"/>
              <a:buFont typeface="Arial"/>
              <a:buNone/>
            </a:pPr>
            <a:r>
              <a:rPr b="1" i="0" lang="en-US" sz="15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TCP/IP</a:t>
            </a:r>
            <a:endParaRPr b="0" i="0" sz="15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868680" y="3493008"/>
            <a:ext cx="443484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The real protocol suite used by networks and the Internet.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6400800" y="1417320"/>
            <a:ext cx="4434840" cy="438912"/>
          </a:xfrm>
          <a:prstGeom prst="roundRect">
            <a:avLst>
              <a:gd fmla="val 16667" name="adj"/>
            </a:avLst>
          </a:prstGeom>
          <a:solidFill>
            <a:srgbClr val="EEF5F2"/>
          </a:solidFill>
          <a:ln cap="flat" cmpd="sng" w="12700">
            <a:solidFill>
              <a:srgbClr val="4F5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580"/>
              <a:buFont typeface="Arial"/>
              <a:buNone/>
            </a:pPr>
            <a:r>
              <a:rPr b="1" i="0" lang="en-US" sz="15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TCP</a:t>
            </a:r>
            <a:endParaRPr b="0" i="0" sz="15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6400800" y="1984248"/>
            <a:ext cx="443484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Transport-layer protocol for reliable, ordered delivery.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6400800" y="2926080"/>
            <a:ext cx="4434840" cy="438912"/>
          </a:xfrm>
          <a:prstGeom prst="roundRect">
            <a:avLst>
              <a:gd fmla="val 16667" name="adj"/>
            </a:avLst>
          </a:prstGeom>
          <a:solidFill>
            <a:srgbClr val="F5EFF3"/>
          </a:solidFill>
          <a:ln cap="flat" cmpd="sng" w="12700">
            <a:solidFill>
              <a:srgbClr val="4F5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580"/>
              <a:buFont typeface="Arial"/>
              <a:buNone/>
            </a:pPr>
            <a:r>
              <a:rPr b="1" i="0" lang="en-US" sz="15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IP</a:t>
            </a:r>
            <a:endParaRPr b="0" i="0" sz="15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6400800" y="3493008"/>
            <a:ext cx="443484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075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5B6075"/>
                </a:solidFill>
                <a:latin typeface="Arial"/>
                <a:ea typeface="Arial"/>
                <a:cs typeface="Arial"/>
                <a:sym typeface="Arial"/>
              </a:rPr>
              <a:t>Network/Internet-layer protocol for addressing and routing.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2011680" y="5029200"/>
            <a:ext cx="8138160" cy="493776"/>
          </a:xfrm>
          <a:prstGeom prst="roundRect">
            <a:avLst>
              <a:gd fmla="val 16667" name="adj"/>
            </a:avLst>
          </a:prstGeom>
          <a:solidFill>
            <a:srgbClr val="4F5D95"/>
          </a:solidFill>
          <a:ln cap="flat" cmpd="sng" w="12700">
            <a:solidFill>
              <a:srgbClr val="4F5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 mental model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2011680" y="5596128"/>
            <a:ext cx="813816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F5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3A"/>
              </a:buClr>
              <a:buSzPts val="1480"/>
              <a:buFont typeface="Arial"/>
              <a:buNone/>
            </a:pPr>
            <a:r>
              <a:rPr b="1" i="0" lang="en-US" sz="1480" u="none" cap="none" strike="noStrike">
                <a:solidFill>
                  <a:srgbClr val="20243A"/>
                </a:solidFill>
                <a:latin typeface="Arial"/>
                <a:ea typeface="Arial"/>
                <a:cs typeface="Arial"/>
                <a:sym typeface="Arial"/>
              </a:rPr>
              <a:t>Application request → TCP/UDP delivery → IP routing → Ethernet/Wi‑Fi access → physical signal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2026-08-20T03:50:15Z</dcterms:created>
  <dc:creator>OpenAI</dc:creator>
</cp:coreProperties>
</file>