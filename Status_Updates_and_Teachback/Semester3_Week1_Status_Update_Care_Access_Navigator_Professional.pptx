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6YWNjVvKa8oDjwcM2p6L3x9DP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monday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dark_blue_teal_futuristic_digital_backgrou.png" id="16" name="Google Shape;16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150" y="0"/>
            <a:ext cx="1219169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58368" y="530352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B5C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8B5C4"/>
                </a:solidFill>
                <a:latin typeface="Arial"/>
                <a:ea typeface="Arial"/>
                <a:cs typeface="Arial"/>
                <a:sym typeface="Arial"/>
              </a:rPr>
              <a:t>SEMESTER 3  |  WEEK 1 STATUS UPDATE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21792" y="1115568"/>
            <a:ext cx="5852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 Access</a:t>
            </a:r>
            <a:endParaRPr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Play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Navigator</a:t>
            </a:r>
            <a:endParaRPr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67512" y="2487168"/>
            <a:ext cx="5303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CF5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B8ECF5"/>
                </a:solidFill>
                <a:latin typeface="Arial"/>
                <a:ea typeface="Arial"/>
                <a:cs typeface="Arial"/>
                <a:sym typeface="Arial"/>
              </a:rPr>
              <a:t>IAM + GRC Analyst Capstone Status Report by - Akhila Ch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67512" y="2862072"/>
            <a:ext cx="5623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E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DEEF7"/>
                </a:solidFill>
                <a:latin typeface="Arial"/>
                <a:ea typeface="Arial"/>
                <a:cs typeface="Arial"/>
                <a:sym typeface="Arial"/>
              </a:rPr>
              <a:t>Simulated fictional hospital: HealthLine Regional Medical Center (HRMC)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67512" y="3401568"/>
            <a:ext cx="1508760" cy="310896"/>
          </a:xfrm>
          <a:prstGeom prst="roundRect">
            <a:avLst>
              <a:gd fmla="val 11765" name="adj"/>
            </a:avLst>
          </a:prstGeom>
          <a:solidFill>
            <a:srgbClr val="1E8A67"/>
          </a:solidFill>
          <a:ln cap="flat" cmpd="sng" w="9525">
            <a:solidFill>
              <a:srgbClr val="1E8A6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 Portfolio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31720" y="3401568"/>
            <a:ext cx="1508700" cy="310800"/>
          </a:xfrm>
          <a:prstGeom prst="roundRect">
            <a:avLst>
              <a:gd fmla="val 11765" name="adj"/>
            </a:avLst>
          </a:prstGeom>
          <a:solidFill>
            <a:srgbClr val="18B5C4"/>
          </a:solidFill>
          <a:ln cap="flat" cmpd="sng" w="9525">
            <a:solidFill>
              <a:srgbClr val="18B5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Capstone Launch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7512" y="616305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9E5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7512" y="5504688"/>
            <a:ext cx="5623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focus: define the environment, scope, requirements, risks, controls, and first architecture before technical implementation.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995870" y="3401568"/>
            <a:ext cx="1508700" cy="310800"/>
          </a:xfrm>
          <a:prstGeom prst="roundRect">
            <a:avLst>
              <a:gd fmla="val 11765" name="adj"/>
            </a:avLst>
          </a:prstGeom>
          <a:solidFill>
            <a:srgbClr val="F6B26B"/>
          </a:solidFill>
          <a:ln cap="flat" cmpd="sng" w="9525">
            <a:solidFill>
              <a:srgbClr val="18B5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</a:rPr>
              <a:t>Project board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02920" y="146304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CARE ACCESS NAVIGATOR  |  SEMESTER 3 WEEK 1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058400" y="146304"/>
            <a:ext cx="1600200" cy="201168"/>
          </a:xfrm>
          <a:prstGeom prst="roundRect">
            <a:avLst>
              <a:gd fmla="val 18182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Week 1 narrative: from idea to visual blueprint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21208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The capstone moved from portfolio setup and project launch into a structured IAM/GRC planning baseline.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502920" y="1207008"/>
            <a:ext cx="11155680" cy="0"/>
          </a:xfrm>
          <a:prstGeom prst="straightConnector1">
            <a:avLst/>
          </a:prstGeom>
          <a:noFill/>
          <a:ln cap="flat" cmpd="sng" w="1395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1188720" y="1755648"/>
            <a:ext cx="502920" cy="502920"/>
          </a:xfrm>
          <a:prstGeom prst="ellipse">
            <a:avLst/>
          </a:prstGeom>
          <a:solidFill>
            <a:srgbClr val="1E8A67"/>
          </a:solidFill>
          <a:ln cap="flat" cmpd="sng" w="12700">
            <a:solidFill>
              <a:srgbClr val="1E8A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316736" y="18928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1737360" y="2002536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A9C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" name="Google Shape;39;p2"/>
          <p:cNvSpPr/>
          <p:nvPr/>
        </p:nvSpPr>
        <p:spPr>
          <a:xfrm>
            <a:off x="777240" y="244144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A6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E8A67"/>
                </a:solidFill>
                <a:latin typeface="Arial"/>
                <a:ea typeface="Arial"/>
                <a:cs typeface="Arial"/>
                <a:sym typeface="Arial"/>
              </a:rPr>
              <a:t>MONDAY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5798" y="2743212"/>
            <a:ext cx="182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Capstone kick-off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46888" y="3136392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HRMC baseline, users, apps, business case, ePHI boundary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0" y="1755648"/>
            <a:ext cx="502920" cy="502920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785616" y="18928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4206240" y="2002536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A9C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" name="Google Shape;45;p2"/>
          <p:cNvSpPr/>
          <p:nvPr/>
        </p:nvSpPr>
        <p:spPr>
          <a:xfrm>
            <a:off x="3246120" y="244144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B5C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8B5C4"/>
                </a:solidFill>
                <a:latin typeface="Arial"/>
                <a:ea typeface="Arial"/>
                <a:cs typeface="Arial"/>
                <a:sym typeface="Arial"/>
              </a:rPr>
              <a:t>TUESDAY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994653" y="2743212"/>
            <a:ext cx="182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Objectives + scope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15768" y="3136392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Requirements, priorities, tools and assumptions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126480" y="1755648"/>
            <a:ext cx="502920" cy="502920"/>
          </a:xfrm>
          <a:prstGeom prst="ellipse">
            <a:avLst/>
          </a:prstGeom>
          <a:solidFill>
            <a:srgbClr val="165A7A"/>
          </a:solidFill>
          <a:ln cap="flat" cmpd="sng" w="12700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254496" y="189280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6675120" y="2002536"/>
            <a:ext cx="1600200" cy="0"/>
          </a:xfrm>
          <a:prstGeom prst="straightConnector1">
            <a:avLst/>
          </a:prstGeom>
          <a:noFill/>
          <a:ln cap="flat" cmpd="sng" w="25400">
            <a:solidFill>
              <a:srgbClr val="A9C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" name="Google Shape;51;p2"/>
          <p:cNvSpPr/>
          <p:nvPr/>
        </p:nvSpPr>
        <p:spPr>
          <a:xfrm>
            <a:off x="5715000" y="244144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A7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65A7A"/>
                </a:solidFill>
                <a:latin typeface="Arial"/>
                <a:ea typeface="Arial"/>
                <a:cs typeface="Arial"/>
                <a:sym typeface="Arial"/>
              </a:rPr>
              <a:t>WEDNESDAY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463495" y="2743212"/>
            <a:ext cx="1828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Risk + compliance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184648" y="3136392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HIPAA/NIST review, risk register, control objectives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595360" y="1755648"/>
            <a:ext cx="502920" cy="502920"/>
          </a:xfrm>
          <a:prstGeom prst="ellipse">
            <a:avLst/>
          </a:prstGeom>
          <a:solidFill>
            <a:srgbClr val="D98900"/>
          </a:solidFill>
          <a:ln cap="flat" cmpd="sng" w="12700">
            <a:solidFill>
              <a:srgbClr val="D98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723376" y="1892808"/>
            <a:ext cx="22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183880" y="244144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89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98900"/>
                </a:solidFill>
                <a:latin typeface="Arial"/>
                <a:ea typeface="Arial"/>
                <a:cs typeface="Arial"/>
                <a:sym typeface="Arial"/>
              </a:rPr>
              <a:t>THURSDAY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772400" y="272491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Architecture + closeout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653528" y="3136392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Lucidchart blueprint, GitHub save, </a:t>
            </a:r>
            <a:r>
              <a:rPr lang="en-US" sz="850">
                <a:solidFill>
                  <a:srgbClr val="253746"/>
                </a:solidFill>
              </a:rPr>
              <a:t>network and topologies concepts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77240" y="4892040"/>
            <a:ext cx="10652760" cy="658368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Overall status: Week 1 established the planning foundation before detailed technical configuration. Work stayed focused on scenario, scope, requirements, risk, compliance, architecture, evidence, and presentation readiness. Documenting work on </a:t>
            </a:r>
            <a:r>
              <a:rPr b="1" i="0" lang="en-US" sz="11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Monday.com</a:t>
            </a: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 Project board.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960120" y="5779008"/>
            <a:ext cx="10012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Portfolio thread: GitHub pages were refined in parallel, with final saves and evidence organization planned in the Thursday closeout.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02920" y="655624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HealthLine Regional Medical Center (HRMC)  •  Simulated / Non-Production  •  Synthetic Data Only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1384280" y="65562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02920" y="146304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CARE ACCESS NAVIGATOR  |  SEMESTER 3 WEEK 1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058400" y="146304"/>
            <a:ext cx="1600200" cy="201168"/>
          </a:xfrm>
          <a:prstGeom prst="roundRect">
            <a:avLst>
              <a:gd fmla="val 18182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Monday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Monday — Start capstone and define HRMC baseline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21208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The week began by creating the simulated healthcare scenario and the first project baseline.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502920" y="1207008"/>
            <a:ext cx="11155680" cy="0"/>
          </a:xfrm>
          <a:prstGeom prst="straightConnector1">
            <a:avLst/>
          </a:prstGeom>
          <a:noFill/>
          <a:ln cap="flat" cmpd="sng" w="1395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/>
          <p:nvPr/>
        </p:nvSpPr>
        <p:spPr>
          <a:xfrm>
            <a:off x="658368" y="15087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What was completed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658368" y="1856232"/>
            <a:ext cx="2194560" cy="0"/>
          </a:xfrm>
          <a:prstGeom prst="straightConnector1">
            <a:avLst/>
          </a:prstGeom>
          <a:noFill/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758952" y="2066544"/>
            <a:ext cx="109728" cy="109728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60120" y="19842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Continued building portfolio pages on GitHub.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58952" y="2423160"/>
            <a:ext cx="109728" cy="109728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60120" y="234086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Started the Care Access Navigator capstone project.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58952" y="2779776"/>
            <a:ext cx="109728" cy="109728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960120" y="26974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Defined HRMC as a simulated hospital environment.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58952" y="3136392"/>
            <a:ext cx="109728" cy="109728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0120" y="305409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Identified departments, users, applications, and business case.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58952" y="3493008"/>
            <a:ext cx="109728" cy="109728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60120" y="341071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Established the simulated ePHI boundary and synthetic-data rule.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80644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HRMC baseline model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5806440" y="1856232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3"/>
          <p:cNvSpPr/>
          <p:nvPr/>
        </p:nvSpPr>
        <p:spPr>
          <a:xfrm>
            <a:off x="5806440" y="2103120"/>
            <a:ext cx="1234440" cy="274320"/>
          </a:xfrm>
          <a:prstGeom prst="rect">
            <a:avLst/>
          </a:prstGeom>
          <a:solidFill>
            <a:srgbClr val="082A44"/>
          </a:solidFill>
          <a:ln cap="flat" cmpd="sng" w="9525">
            <a:solidFill>
              <a:srgbClr val="082A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114032" y="2103120"/>
            <a:ext cx="3749040" cy="274320"/>
          </a:xfrm>
          <a:prstGeom prst="rect">
            <a:avLst/>
          </a:prstGeom>
          <a:solidFill>
            <a:srgbClr val="082A44"/>
          </a:solidFill>
          <a:ln cap="flat" cmpd="sng" w="9525">
            <a:solidFill>
              <a:srgbClr val="082A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Baseline definition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806440" y="2395728"/>
            <a:ext cx="1234440" cy="475488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114032" y="2395728"/>
            <a:ext cx="3749040" cy="475488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Clinicians, nurses, billing, HR, IT, security analysts, vendors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806440" y="2898648"/>
            <a:ext cx="12344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Systems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114032" y="2898648"/>
            <a:ext cx="37490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EHR, Patient Portal, Revenue Cycle, Workforce Management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5806440" y="3401568"/>
            <a:ext cx="1234440" cy="475488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Sensitive area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114032" y="3401568"/>
            <a:ext cx="3749040" cy="475488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Synthetic patient information and patient-level access evidence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806440" y="3904488"/>
            <a:ext cx="12344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114032" y="3904488"/>
            <a:ext cx="374904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No real patient or production healthcare data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77240" y="5650992"/>
            <a:ext cx="10652760" cy="493776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Monday takeaway: we established what is being protected, who needs access, which systems are involved, and where the simulated sensitive-data boundary exists.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02920" y="655624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HealthLine Regional Medical Center (HRMC)  •  Simulated / Non-Production  •  Synthetic Data Only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1384280" y="65562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502920" y="146304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CARE ACCESS NAVIGATOR  |  SEMESTER 3 WEEK 1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0058400" y="146304"/>
            <a:ext cx="1600200" cy="201168"/>
          </a:xfrm>
          <a:prstGeom prst="roundRect">
            <a:avLst>
              <a:gd fmla="val 18182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Tuesday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Tuesday — Define objectives, scope and initial requirements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21208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Day 2 turned the hospital baseline into a project plan and kept the capstone realistic.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4"/>
          <p:cNvCxnSpPr/>
          <p:nvPr/>
        </p:nvCxnSpPr>
        <p:spPr>
          <a:xfrm>
            <a:off x="502920" y="1207008"/>
            <a:ext cx="11155680" cy="0"/>
          </a:xfrm>
          <a:prstGeom prst="straightConnector1">
            <a:avLst/>
          </a:prstGeom>
          <a:noFill/>
          <a:ln cap="flat" cmpd="sng" w="1395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685800" y="15087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Portfolio progress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685800" y="1847088"/>
            <a:ext cx="2286000" cy="0"/>
          </a:xfrm>
          <a:prstGeom prst="straightConnector1">
            <a:avLst/>
          </a:prstGeom>
          <a:noFill/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685800" y="2084832"/>
            <a:ext cx="3657600" cy="960120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Used TRAE / Agentic VS Code editor to update GitHub pages, improve features and edits, and move the portfolio pages closer to completion.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754880" y="15087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Project baseline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4754880" y="1847088"/>
            <a:ext cx="2286000" cy="0"/>
          </a:xfrm>
          <a:prstGeom prst="straightConnector1">
            <a:avLst/>
          </a:prstGeom>
          <a:noFill/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4754880" y="2057400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236208" y="2057400"/>
            <a:ext cx="4800600" cy="292608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CF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RBAC, lifecycle, governance, monitoring, evidence, reporting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754880" y="2569464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236208" y="2569464"/>
            <a:ext cx="48006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What is included and what is intentionally out of scope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754880" y="3081528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Assumptions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236208" y="3081528"/>
            <a:ext cx="4800600" cy="292608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CF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Synthetic data, lightweight apps, 12-week feasibility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754880" y="3593592"/>
            <a:ext cx="1325880" cy="292608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236208" y="3593592"/>
            <a:ext cx="4800600" cy="2926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F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Business, IAM, lifecycle, approval, ePHI, logging, GRC</a:t>
            </a:r>
            <a:endParaRPr b="0" i="0" sz="8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85800" y="37947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Requirement priorities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85800" y="4187952"/>
            <a:ext cx="777240" cy="292608"/>
          </a:xfrm>
          <a:prstGeom prst="roundRect">
            <a:avLst>
              <a:gd fmla="val 16667" name="adj"/>
            </a:avLst>
          </a:prstGeom>
          <a:solidFill>
            <a:srgbClr val="1E8A67"/>
          </a:solidFill>
          <a:ln cap="flat" cmpd="sng" w="9525">
            <a:solidFill>
              <a:srgbClr val="1E8A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572768" y="413308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Synthetic data, users/roles, RBAC, JML, access review, logging/evidence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389120" y="4187952"/>
            <a:ext cx="777240" cy="292608"/>
          </a:xfrm>
          <a:prstGeom prst="roundRect">
            <a:avLst>
              <a:gd fmla="val 16667" name="adj"/>
            </a:avLst>
          </a:prstGeom>
          <a:solidFill>
            <a:srgbClr val="18B5C4"/>
          </a:solidFill>
          <a:ln cap="flat" cmpd="sng" w="9525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276088" y="413308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Access request approval, vendor/privileged scenarios, monitoring, risk/control tracking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092440" y="4187952"/>
            <a:ext cx="777240" cy="292608"/>
          </a:xfrm>
          <a:prstGeom prst="roundRect">
            <a:avLst>
              <a:gd fmla="val 16667" name="adj"/>
            </a:avLst>
          </a:prstGeom>
          <a:solidFill>
            <a:srgbClr val="D98900"/>
          </a:solidFill>
          <a:ln cap="flat" cmpd="sng" w="9525">
            <a:solidFill>
              <a:srgbClr val="D98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Could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979408" y="4133088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Deeper Entra ID demonstration, automation, extra dashboards or incidents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77240" y="5760720"/>
            <a:ext cx="10652760" cy="493776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Tuesday takeaway: scope and requirements prevent the project from becoming too large and define what the IAM/GRC demonstration must show.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2920" y="655624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HealthLine Regional Medical Center (HRMC)  •  Simulated / Non-Production  •  Synthetic Data Only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1384280" y="65562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502920" y="146304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CARE ACCESS NAVIGATOR  |  SEMESTER 3 WEEK 1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058400" y="146304"/>
            <a:ext cx="1600200" cy="201168"/>
          </a:xfrm>
          <a:prstGeom prst="roundRect">
            <a:avLst>
              <a:gd fmla="val 18182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Wednesday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Wednesday — Establish risk and compliance foundation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1208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Day 3 connected project requirements to frameworks, risk examples, and control objectives.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502920" y="1207008"/>
            <a:ext cx="11155680" cy="0"/>
          </a:xfrm>
          <a:prstGeom prst="straightConnector1">
            <a:avLst/>
          </a:prstGeom>
          <a:noFill/>
          <a:ln cap="flat" cmpd="sng" w="1395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685800" y="15087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Risk &amp; compliance flow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68680" y="1938528"/>
            <a:ext cx="1572768" cy="438912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03504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HIPAA + NIST CSF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5"/>
          <p:cNvCxnSpPr/>
          <p:nvPr/>
        </p:nvCxnSpPr>
        <p:spPr>
          <a:xfrm>
            <a:off x="2514600" y="215798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A9C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5"/>
          <p:cNvSpPr/>
          <p:nvPr/>
        </p:nvSpPr>
        <p:spPr>
          <a:xfrm>
            <a:off x="3474720" y="1938528"/>
            <a:ext cx="1572768" cy="438912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9544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What could go wrong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5"/>
          <p:cNvCxnSpPr/>
          <p:nvPr/>
        </p:nvCxnSpPr>
        <p:spPr>
          <a:xfrm>
            <a:off x="5120640" y="215798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A9C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p5"/>
          <p:cNvSpPr/>
          <p:nvPr/>
        </p:nvSpPr>
        <p:spPr>
          <a:xfrm>
            <a:off x="6080760" y="1938528"/>
            <a:ext cx="1572768" cy="438912"/>
          </a:xfrm>
          <a:prstGeom prst="roundRect">
            <a:avLst>
              <a:gd fmla="val 16667" name="adj"/>
            </a:avLst>
          </a:prstGeom>
          <a:solidFill>
            <a:srgbClr val="1E8A67"/>
          </a:solidFill>
          <a:ln cap="flat" cmpd="sng" w="9525">
            <a:solidFill>
              <a:srgbClr val="1E8A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815584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What should reduce risk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7726680" y="215798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A9C4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3" name="Google Shape;153;p5"/>
          <p:cNvSpPr/>
          <p:nvPr/>
        </p:nvSpPr>
        <p:spPr>
          <a:xfrm>
            <a:off x="8686800" y="1938528"/>
            <a:ext cx="1572768" cy="438912"/>
          </a:xfrm>
          <a:prstGeom prst="roundRect">
            <a:avLst>
              <a:gd fmla="val 16667" name="adj"/>
            </a:avLst>
          </a:prstGeom>
          <a:solidFill>
            <a:srgbClr val="1E8A67"/>
          </a:solidFill>
          <a:ln cap="flat" cmpd="sng" w="9525">
            <a:solidFill>
              <a:srgbClr val="1E8A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421624" y="24871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9"/>
              <a:buFont typeface="Arial"/>
              <a:buNone/>
            </a:pPr>
            <a:r>
              <a:rPr b="0" i="0" lang="en-US" sz="84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How we prove it later</a:t>
            </a:r>
            <a:endParaRPr b="0" i="0" sz="8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85800" y="32461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Key work completed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95528" y="3675888"/>
            <a:ext cx="109728" cy="109728"/>
          </a:xfrm>
          <a:prstGeom prst="ellipse">
            <a:avLst/>
          </a:prstGeom>
          <a:solidFill>
            <a:srgbClr val="165A7A"/>
          </a:solidFill>
          <a:ln cap="flat" cmpd="sng" w="12700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987552" y="3602736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Reviewed HIPAA Security Rule and NIST CSF concepts relevant to identity, access, monitoring, incident response, and risk.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95528" y="4023360"/>
            <a:ext cx="109728" cy="109728"/>
          </a:xfrm>
          <a:prstGeom prst="ellipse">
            <a:avLst/>
          </a:prstGeom>
          <a:solidFill>
            <a:srgbClr val="165A7A"/>
          </a:solidFill>
          <a:ln cap="flat" cmpd="sng" w="12700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87552" y="3950208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Built the initial IAM/GRC risk register and preliminary control objectives.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95528" y="4370832"/>
            <a:ext cx="109728" cy="109728"/>
          </a:xfrm>
          <a:prstGeom prst="ellipse">
            <a:avLst/>
          </a:prstGeom>
          <a:solidFill>
            <a:srgbClr val="165A7A"/>
          </a:solidFill>
          <a:ln cap="flat" cmpd="sng" w="12700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987552" y="4297680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Continued creating matrices and started the Lucidchart diagram.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95528" y="4718304"/>
            <a:ext cx="109728" cy="109728"/>
          </a:xfrm>
          <a:prstGeom prst="ellipse">
            <a:avLst/>
          </a:prstGeom>
          <a:solidFill>
            <a:srgbClr val="165A7A"/>
          </a:solidFill>
          <a:ln cap="flat" cmpd="sng" w="12700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987552" y="4645152"/>
            <a:ext cx="484632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Started Schoology learning: Cyber Threats and Vulnerabilities.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766560" y="32461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Examples of risks identified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766560" y="3611880"/>
            <a:ext cx="960120" cy="274320"/>
          </a:xfrm>
          <a:prstGeom prst="rect">
            <a:avLst/>
          </a:prstGeom>
          <a:solidFill>
            <a:srgbClr val="082A44"/>
          </a:solidFill>
          <a:ln cap="flat" cmpd="sng" w="9525">
            <a:solidFill>
              <a:srgbClr val="082A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818120" y="3611880"/>
            <a:ext cx="3246120" cy="274320"/>
          </a:xfrm>
          <a:prstGeom prst="rect">
            <a:avLst/>
          </a:prstGeom>
          <a:solidFill>
            <a:srgbClr val="082A44"/>
          </a:solidFill>
          <a:ln cap="flat" cmpd="sng" w="9525">
            <a:solidFill>
              <a:srgbClr val="082A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Plain-language example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766560" y="3913632"/>
            <a:ext cx="960120" cy="41148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Mover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818120" y="3913632"/>
            <a:ext cx="3246120" cy="41148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Nurse moves to Billing but keeps old access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766560" y="4352544"/>
            <a:ext cx="9601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Leaver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7818120" y="4352544"/>
            <a:ext cx="32461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Terminated employee account remains active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766560" y="4791456"/>
            <a:ext cx="960120" cy="41148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Vendor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7818120" y="4791456"/>
            <a:ext cx="3246120" cy="41148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Vendor access remains enabled after end date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766560" y="5230368"/>
            <a:ext cx="9601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Monitoring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7818120" y="5230368"/>
            <a:ext cx="324612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High patient-record access is not detected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77240" y="5788152"/>
            <a:ext cx="10652760" cy="493776"/>
          </a:xfrm>
          <a:prstGeom prst="roundRect">
            <a:avLst>
              <a:gd fmla="val 16667" name="adj"/>
            </a:avLst>
          </a:prstGeom>
          <a:solidFill>
            <a:srgbClr val="FFF3D9"/>
          </a:solidFill>
          <a:ln cap="flat" cmpd="sng" w="9525">
            <a:solidFill>
              <a:srgbClr val="FFF3D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Wednesday takeaway: every future control should trace back to a risk and a framework expectation—not just a tool feature.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502920" y="655624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HealthLine Regional Medical Center (HRMC)  •  Simulated / Non-Production  •  Synthetic Data Only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1384280" y="65562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/>
          <p:nvPr/>
        </p:nvSpPr>
        <p:spPr>
          <a:xfrm>
            <a:off x="502920" y="146304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CARE ACCESS NAVIGATOR  |  SEMESTER 3 WEEK 1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058400" y="146304"/>
            <a:ext cx="1600200" cy="201168"/>
          </a:xfrm>
          <a:prstGeom prst="roundRect">
            <a:avLst>
              <a:gd fmla="val 18182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Thursday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Thursday — Architecture, closeout and </a:t>
            </a:r>
            <a:r>
              <a:rPr b="1" lang="en-US" sz="2500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learnt about Networks and Topologies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21208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Day 4 turns the week’s planning work into a visual blueprint and closes the loop through review and documentation.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>
            <a:off x="502920" y="1207008"/>
            <a:ext cx="11155680" cy="0"/>
          </a:xfrm>
          <a:prstGeom prst="straightConnector1">
            <a:avLst/>
          </a:prstGeom>
          <a:noFill/>
          <a:ln cap="flat" cmpd="sng" w="1395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6"/>
          <p:cNvSpPr/>
          <p:nvPr/>
        </p:nvSpPr>
        <p:spPr>
          <a:xfrm>
            <a:off x="59436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Day 4 architecture target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94360" y="1783080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Create the first high-level Lucidchart architecture showing the complete path from users and IAM into applications, logs, SIEM, GRC, and reporting.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94360" y="2761488"/>
            <a:ext cx="1371600" cy="274320"/>
          </a:xfrm>
          <a:prstGeom prst="rect">
            <a:avLst/>
          </a:prstGeom>
          <a:solidFill>
            <a:srgbClr val="082A44"/>
          </a:solidFill>
          <a:ln cap="flat" cmpd="sng" w="9525">
            <a:solidFill>
              <a:srgbClr val="082A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Closeout step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103120" y="2761488"/>
            <a:ext cx="2697480" cy="274320"/>
          </a:xfrm>
          <a:prstGeom prst="rect">
            <a:avLst/>
          </a:prstGeom>
          <a:solidFill>
            <a:srgbClr val="082A44"/>
          </a:solidFill>
          <a:ln cap="flat" cmpd="sng" w="9525">
            <a:solidFill>
              <a:srgbClr val="082A4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94360" y="3072384"/>
            <a:ext cx="1371600" cy="36576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Finish architecture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103120" y="3072384"/>
            <a:ext cx="2697480" cy="36576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Create/adjust the Lucidchart v1 and export it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94360" y="3465576"/>
            <a:ext cx="1371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Review week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103120" y="3465576"/>
            <a:ext cx="269748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Check Days 1–4 alignment and backlogs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94360" y="3858768"/>
            <a:ext cx="1371600" cy="36576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Save to GitHub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103120" y="3858768"/>
            <a:ext cx="2697480" cy="36576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Finalize artifacts and project evidence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94360" y="4251960"/>
            <a:ext cx="137160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b="1" lang="en-US" sz="780">
                <a:solidFill>
                  <a:srgbClr val="253746"/>
                </a:solidFill>
              </a:rPr>
              <a:t>Learn about Networks and Topologies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103120" y="4251960"/>
            <a:ext cx="2697480" cy="3657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lang="en-US" sz="780">
                <a:solidFill>
                  <a:schemeClr val="dk1"/>
                </a:solidFill>
              </a:rPr>
              <a:t>Learnt about Networks PAN,LAN,MAN,WAN.Also learnt about topologies Star,Tree,Mesh,Bus, Ring etc.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94360" y="4645152"/>
            <a:ext cx="1371600" cy="36576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lang="en-US" sz="780">
                <a:solidFill>
                  <a:schemeClr val="dk1"/>
                </a:solidFill>
              </a:rPr>
              <a:t>Present Status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103120" y="4645152"/>
            <a:ext cx="2697480" cy="365760"/>
          </a:xfrm>
          <a:prstGeom prst="rect">
            <a:avLst/>
          </a:prstGeom>
          <a:solidFill>
            <a:srgbClr val="EAF4F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" lIns="875" spcFirstLastPara="1" rIns="875" wrap="square" tIns="8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253746"/>
                </a:solidFill>
              </a:rPr>
              <a:t>Share weekly progress 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HRMC_Day4_High_Level_Architecture.png"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8886" y="1444752"/>
            <a:ext cx="4201427" cy="4434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6021100" y="1357875"/>
            <a:ext cx="4882500" cy="44349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0150">
            <a:solidFill>
              <a:srgbClr val="A9C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777240" y="5943600"/>
            <a:ext cx="10652760" cy="438912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Thursday takeaway: the architecture connects the week’s planning into one blueprint that can guide later IAM, monitoring, GRC, and reporting implementation.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02920" y="655624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HealthLine Regional Medical Center (HRMC)  •  Simulated / Non-Production  •  Synthetic Data Only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1384280" y="65562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502920" y="146304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670"/>
              <a:buFont typeface="Arial"/>
              <a:buNone/>
            </a:pPr>
            <a:r>
              <a:rPr b="1" i="0" lang="en-US" sz="67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CARE ACCESS NAVIGATOR  |  SEMESTER 3 WEEK 1</a:t>
            </a:r>
            <a:endParaRPr b="0" i="0" sz="6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0058400" y="146304"/>
            <a:ext cx="1600200" cy="201168"/>
          </a:xfrm>
          <a:prstGeom prst="roundRect">
            <a:avLst>
              <a:gd fmla="val 18182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capstone evidence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082A44"/>
                </a:solidFill>
                <a:latin typeface="Calibri"/>
                <a:ea typeface="Calibri"/>
                <a:cs typeface="Calibri"/>
                <a:sym typeface="Calibri"/>
              </a:rPr>
              <a:t>Skills demonstrated this week</a:t>
            </a:r>
            <a:endParaRPr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21208" y="91440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The work shows both cybersecurity thinking and practical project execution.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>
            <a:off x="502920" y="1207008"/>
            <a:ext cx="11155680" cy="0"/>
          </a:xfrm>
          <a:prstGeom prst="straightConnector1">
            <a:avLst/>
          </a:prstGeom>
          <a:noFill/>
          <a:ln cap="flat" cmpd="sng" w="1395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7"/>
          <p:cNvSpPr/>
          <p:nvPr/>
        </p:nvSpPr>
        <p:spPr>
          <a:xfrm>
            <a:off x="777240" y="160020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165A7A"/>
          </a:solidFill>
          <a:ln cap="flat" cmpd="sng" w="9525">
            <a:solidFill>
              <a:srgbClr val="16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IAM planning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108960" y="1545336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Defined users, roles, access needs, ePHI boundary, lifecycle expectations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777240" y="2258568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A9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7"/>
          <p:cNvSpPr/>
          <p:nvPr/>
        </p:nvSpPr>
        <p:spPr>
          <a:xfrm>
            <a:off x="777240" y="338328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1E8A67"/>
          </a:solidFill>
          <a:ln cap="flat" cmpd="sng" w="9525">
            <a:solidFill>
              <a:srgbClr val="1E8A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GRC analysis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108960" y="3328416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Mapped risks, control objectives, evidence needs, remediation logic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7"/>
          <p:cNvCxnSpPr/>
          <p:nvPr/>
        </p:nvCxnSpPr>
        <p:spPr>
          <a:xfrm>
            <a:off x="777240" y="4041648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A9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7"/>
          <p:cNvSpPr/>
          <p:nvPr/>
        </p:nvSpPr>
        <p:spPr>
          <a:xfrm>
            <a:off x="6263640" y="160020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18B5C4"/>
          </a:solidFill>
          <a:ln cap="flat" cmpd="sng" w="9525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Security architecture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8595360" y="1545336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Created high-level environment flow across users, IAM, apps, SIEM, GRC, reporting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" name="Google Shape;225;p7"/>
          <p:cNvCxnSpPr/>
          <p:nvPr/>
        </p:nvCxnSpPr>
        <p:spPr>
          <a:xfrm>
            <a:off x="6263640" y="2258568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A9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7"/>
          <p:cNvSpPr/>
          <p:nvPr/>
        </p:nvSpPr>
        <p:spPr>
          <a:xfrm>
            <a:off x="6263640" y="3383280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D98900"/>
          </a:solidFill>
          <a:ln cap="flat" cmpd="sng" w="9525">
            <a:solidFill>
              <a:srgbClr val="D98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0" i="0" sz="14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595360" y="3328416"/>
            <a:ext cx="2788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374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53746"/>
                </a:solidFill>
                <a:latin typeface="Arial"/>
                <a:ea typeface="Arial"/>
                <a:cs typeface="Arial"/>
                <a:sym typeface="Arial"/>
              </a:rPr>
              <a:t>Maintained day-wise artifacts, glossary, Monday.com updates, and GitHub portfolio evidence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7"/>
          <p:cNvCxnSpPr/>
          <p:nvPr/>
        </p:nvCxnSpPr>
        <p:spPr>
          <a:xfrm>
            <a:off x="6263640" y="4041648"/>
            <a:ext cx="4937760" cy="0"/>
          </a:xfrm>
          <a:prstGeom prst="straightConnector1">
            <a:avLst/>
          </a:prstGeom>
          <a:noFill/>
          <a:ln cap="flat" cmpd="sng" w="12700">
            <a:solidFill>
              <a:srgbClr val="A9C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/>
          <p:nvPr/>
        </p:nvSpPr>
        <p:spPr>
          <a:xfrm>
            <a:off x="868680" y="5029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Week 1 evidence artifacts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68680" y="5413248"/>
            <a:ext cx="10241280" cy="566928"/>
          </a:xfrm>
          <a:prstGeom prst="roundRect">
            <a:avLst>
              <a:gd fmla="val 16667" name="adj"/>
            </a:avLst>
          </a:prstGeom>
          <a:solidFill>
            <a:srgbClr val="EAF4FA"/>
          </a:solidFill>
          <a:ln cap="flat" cmpd="sng" w="9525">
            <a:solidFill>
              <a:srgbClr val="EAF4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A4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82A44"/>
                </a:solidFill>
                <a:latin typeface="Arial"/>
                <a:ea typeface="Arial"/>
                <a:cs typeface="Arial"/>
                <a:sym typeface="Arial"/>
              </a:rPr>
              <a:t>Day 1 Environment Baseline  •  Day 2 Objectives/Scope/Requirements  •  Day 3 Risk &amp; Compliance Foundation  •  Day 4 High-Level Architecture/Data Flow  •  GitHub portfolio updates  •  Monday.com status records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005840" y="6199632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Professional value: these artifacts show traceability from business scenario → access requirements → risks → controls → architecture → reporting.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02920" y="6556248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HealthLine Regional Medical Center (HRMC)  •  Simulated / Non-Production  •  Synthetic Data Only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1384280" y="655624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6B7E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536B7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3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cyber_healthcare_right_slice.png"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0"/>
            <a:ext cx="610819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685800" y="594360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B5C4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8B5C4"/>
                </a:solidFill>
                <a:latin typeface="Arial"/>
                <a:ea typeface="Arial"/>
                <a:cs typeface="Arial"/>
                <a:sym typeface="Arial"/>
              </a:rPr>
              <a:t>Week 1 closeout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58368" y="1234440"/>
            <a:ext cx="52120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for</a:t>
            </a:r>
            <a:endParaRPr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 update for Week 1</a:t>
            </a:r>
            <a:endParaRPr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Play"/>
              <a:buNone/>
            </a:pPr>
            <a:r>
              <a:t/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13232" y="309067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CF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ECF5"/>
                </a:solidFill>
                <a:latin typeface="Arial"/>
                <a:ea typeface="Arial"/>
                <a:cs typeface="Arial"/>
                <a:sym typeface="Arial"/>
              </a:rPr>
              <a:t>One-sentence summary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13232" y="3456432"/>
            <a:ext cx="5349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1 successfully established the Care Access Navigator planning baseline and prepared the project to move from documentation into controlled IAM/GRC implementation.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13232" y="46177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ECF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8ECF5"/>
                </a:solidFill>
                <a:latin typeface="Arial"/>
                <a:ea typeface="Arial"/>
                <a:cs typeface="Arial"/>
                <a:sym typeface="Arial"/>
              </a:rPr>
              <a:t>Next direction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13816" y="5001768"/>
            <a:ext cx="91440" cy="91440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987552" y="4910328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Finalize GitHub evidence and artifact links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13816" y="5312664"/>
            <a:ext cx="91440" cy="91440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87552" y="5221224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Confirm backlogs from Days 1–4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13816" y="5623560"/>
            <a:ext cx="91440" cy="91440"/>
          </a:xfrm>
          <a:prstGeom prst="ellipse">
            <a:avLst/>
          </a:prstGeom>
          <a:solidFill>
            <a:srgbClr val="18B5C4"/>
          </a:solidFill>
          <a:ln cap="flat" cmpd="sng" w="12700">
            <a:solidFill>
              <a:srgbClr val="18B5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987552" y="5532120"/>
            <a:ext cx="4663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5F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E8F5FA"/>
                </a:solidFill>
                <a:latin typeface="Arial"/>
                <a:ea typeface="Arial"/>
                <a:cs typeface="Arial"/>
                <a:sym typeface="Arial"/>
              </a:rPr>
              <a:t>Prepare for IAM lab setup and user/group design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537960" y="5440680"/>
            <a:ext cx="1417200" cy="310800"/>
          </a:xfrm>
          <a:prstGeom prst="roundRect">
            <a:avLst>
              <a:gd fmla="val 11765" name="adj"/>
            </a:avLst>
          </a:prstGeom>
          <a:solidFill>
            <a:srgbClr val="1E8A67"/>
          </a:solidFill>
          <a:ln cap="flat" cmpd="sng" w="9525">
            <a:solidFill>
              <a:srgbClr val="1E8A6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Clear baseline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8174736" y="5440680"/>
            <a:ext cx="1417200" cy="310800"/>
          </a:xfrm>
          <a:prstGeom prst="roundRect">
            <a:avLst>
              <a:gd fmla="val 11765" name="adj"/>
            </a:avLst>
          </a:prstGeom>
          <a:solidFill>
            <a:srgbClr val="18B5C4"/>
          </a:solidFill>
          <a:ln cap="flat" cmpd="sng" w="9525">
            <a:solidFill>
              <a:srgbClr val="18B5C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saved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802368" y="5440680"/>
            <a:ext cx="1508700" cy="310800"/>
          </a:xfrm>
          <a:prstGeom prst="roundRect">
            <a:avLst>
              <a:gd fmla="val 11765" name="adj"/>
            </a:avLst>
          </a:prstGeom>
          <a:solidFill>
            <a:srgbClr val="D98900"/>
          </a:solidFill>
          <a:ln cap="flat" cmpd="sng" w="9525">
            <a:solidFill>
              <a:srgbClr val="D989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</a:rPr>
              <a:t>Risk Compliance and Architecture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13232" y="6382512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8D5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8C8D5"/>
                </a:solidFill>
                <a:latin typeface="Arial"/>
                <a:ea typeface="Arial"/>
                <a:cs typeface="Arial"/>
                <a:sym typeface="Arial"/>
              </a:rPr>
              <a:t>Care Access Navigator  •  HRMC IAM + GRC Capstone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2026-08-20T02:33:41Z</dcterms:created>
  <dc:creator>OpenAI</dc:creator>
</cp:coreProperties>
</file>