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1675"/>
  <p:notesSz cx="6858000" cy="12191675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jiOeRN9xe3HCRj804SRR7Sc6fKI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Start by saying: Today I am explaining session token hijacking in simple terms. I will connect it to the Care Access Navigator use case and a daily life analogy.</a:t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Explain that the token is a convenience and security object. The site trusts the token after login.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Connect to Care Access Navigator: the token protects workflow access after login. If it is hijacked, the attacker may appear to be the logged-in navigator.</a:t>
            </a:r>
            <a:endParaRPr/>
          </a:p>
        </p:txBody>
      </p:sp>
      <p:sp>
        <p:nvSpPr>
          <p:cNvPr id="78" name="Google Shape;7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Emphasize patient impact and operational risk: the problem is not just technical; it can affect privacy, trust, and accuracy.</a:t>
            </a:r>
            <a:endParaRPr/>
          </a:p>
        </p:txBody>
      </p:sp>
      <p:sp>
        <p:nvSpPr>
          <p:cNvPr id="103" name="Google Shape;10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Walk through the six examples. Keep it simple and avoid technical depth unless asked.</a:t>
            </a:r>
            <a:endParaRPr/>
          </a:p>
        </p:txBody>
      </p:sp>
      <p:sp>
        <p:nvSpPr>
          <p:cNvPr id="159" name="Google Shape;15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 this slide as the practical checklist. Developers control token settings and users control safe behavior.</a:t>
            </a:r>
            <a:endParaRPr/>
          </a:p>
        </p:txBody>
      </p:sp>
      <p:sp>
        <p:nvSpPr>
          <p:cNvPr id="199" name="Google Shape;19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Make the response easy to remember: detect, revoke, investigate, improve.</a:t>
            </a:r>
            <a:endParaRPr/>
          </a:p>
        </p:txBody>
      </p:sp>
      <p:sp>
        <p:nvSpPr>
          <p:cNvPr id="223" name="Google Shape;2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this slide as the final spoken conclusion. Keep it slow and confident.</a:t>
            </a:r>
            <a:endParaRPr/>
          </a:p>
        </p:txBody>
      </p:sp>
      <p:sp>
        <p:nvSpPr>
          <p:cNvPr id="249" name="Google Shape;2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Use the copied badge analogy: if someone copies a badge and the door accepts it, they get in even if they are not the real person.</a:t>
            </a:r>
            <a:endParaRPr/>
          </a:p>
        </p:txBody>
      </p:sp>
      <p:sp>
        <p:nvSpPr>
          <p:cNvPr id="269" name="Google Shape;26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This analogy is powerful for non-technical people: the password is the first identity check; the session token is the badge used after that.</a:t>
            </a:r>
            <a:endParaRPr/>
          </a:p>
        </p:txBody>
      </p:sp>
      <p:sp>
        <p:nvSpPr>
          <p:cNvPr id="291" name="Google Shape;29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B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Google Shape;12;p14"/>
          <p:cNvCxnSpPr/>
          <p:nvPr/>
        </p:nvCxnSpPr>
        <p:spPr>
          <a:xfrm>
            <a:off x="457200" y="6519672"/>
            <a:ext cx="11247120" cy="0"/>
          </a:xfrm>
          <a:prstGeom prst="straightConnector1">
            <a:avLst/>
          </a:prstGeom>
          <a:noFill/>
          <a:ln cap="flat" cmpd="sng" w="12700">
            <a:solidFill>
              <a:srgbClr val="D9E7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14"/>
          <p:cNvSpPr txBox="1"/>
          <p:nvPr>
            <p:ph idx="12" type="sldNum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8FF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wide_clean_vector_illustration_style_scene_in_a_m_batch_1.png" id="20" name="Google Shape;2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1"/>
          <p:cNvSpPr/>
          <p:nvPr/>
        </p:nvSpPr>
        <p:spPr>
          <a:xfrm>
            <a:off x="0" y="0"/>
            <a:ext cx="6035040" cy="6858000"/>
          </a:xfrm>
          <a:prstGeom prst="rect">
            <a:avLst/>
          </a:prstGeom>
          <a:solidFill>
            <a:srgbClr val="F4FBFF">
              <a:alpha val="92941"/>
            </a:srgbClr>
          </a:solidFill>
          <a:ln cap="flat" cmpd="sng" w="12700">
            <a:solidFill>
              <a:srgbClr val="F4FBF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685800" y="1143000"/>
            <a:ext cx="5074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65A"/>
              </a:buClr>
              <a:buSzPts val="3400"/>
              <a:buFont typeface="Play"/>
              <a:buNone/>
            </a:pPr>
            <a:r>
              <a:rPr b="1" i="0" lang="en-US" sz="3400" u="none" cap="none" strike="noStrike">
                <a:solidFill>
                  <a:srgbClr val="12365A"/>
                </a:solidFill>
              </a:rPr>
              <a:t>Session Token Hijacking</a:t>
            </a:r>
            <a:endParaRPr i="0" sz="3400" u="none" cap="none" strike="noStrike">
              <a:solidFill>
                <a:schemeClr val="dk1"/>
              </a:solidFill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13232" y="2181213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simple teach-back using a Care Access Navigator example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1165832" y="3432800"/>
            <a:ext cx="3520500" cy="384000"/>
          </a:xfrm>
          <a:prstGeom prst="roundRect">
            <a:avLst>
              <a:gd fmla="val 26190" name="adj"/>
            </a:avLst>
          </a:prstGeom>
          <a:solidFill>
            <a:srgbClr val="0E7490">
              <a:alpha val="94902"/>
            </a:srgbClr>
          </a:solidFill>
          <a:ln cap="flat" cmpd="sng" w="1270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1275635" y="3542453"/>
            <a:ext cx="33009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Core idea: stolen token = borrowed login proof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804725" y="4488037"/>
            <a:ext cx="46176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00"/>
              <a:buFont typeface="Arial"/>
              <a:buNone/>
            </a:pPr>
            <a:r>
              <a:rPr lang="en-US" sz="1500">
                <a:solidFill>
                  <a:srgbClr val="0F172A"/>
                </a:solidFill>
              </a:rPr>
              <a:t>Let us see </a:t>
            </a:r>
            <a:r>
              <a:rPr b="0" i="0" lang="en-US" sz="15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 what it is, how attacks happen, and the best ways to prevent and respond.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>
            <p:ph idx="4294967295" type="sldNum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890A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3200" u="none" cap="none" strike="noStrike">
                <a:solidFill>
                  <a:srgbClr val="0F172A"/>
                </a:solidFill>
              </a:rPr>
              <a:t>What is a session token?</a:t>
            </a:r>
            <a:endParaRPr i="0" sz="3200" u="none" cap="none" strike="noStrike">
              <a:solidFill>
                <a:schemeClr val="dk1"/>
              </a:solidFill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685798" y="1115559"/>
            <a:ext cx="795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token is a temporary proof that says “this user already logged in.”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clean_high_quality_3d_cgi_digital_illustration_batch_3.png" id="35" name="Google Shape;3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1325880"/>
            <a:ext cx="4937760" cy="2779776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749808" y="1828800"/>
            <a:ext cx="2011680" cy="777240"/>
          </a:xfrm>
          <a:prstGeom prst="roundRect">
            <a:avLst>
              <a:gd fmla="val 14118" name="adj"/>
            </a:avLst>
          </a:prstGeom>
          <a:solidFill>
            <a:srgbClr val="1E88E5"/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841248" y="1984248"/>
            <a:ext cx="182880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1. User logs in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p2"/>
          <p:cNvCxnSpPr/>
          <p:nvPr/>
        </p:nvCxnSpPr>
        <p:spPr>
          <a:xfrm>
            <a:off x="2816352" y="2212848"/>
            <a:ext cx="612648" cy="0"/>
          </a:xfrm>
          <a:prstGeom prst="straightConnector1">
            <a:avLst/>
          </a:prstGeom>
          <a:noFill/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9" name="Google Shape;39;p2"/>
          <p:cNvSpPr/>
          <p:nvPr/>
        </p:nvSpPr>
        <p:spPr>
          <a:xfrm>
            <a:off x="3520440" y="1828800"/>
            <a:ext cx="2331720" cy="777240"/>
          </a:xfrm>
          <a:prstGeom prst="roundRect">
            <a:avLst>
              <a:gd fmla="val 14118" name="adj"/>
            </a:avLst>
          </a:prstGeom>
          <a:solidFill>
            <a:srgbClr val="0E7490"/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611880" y="1984248"/>
            <a:ext cx="2148840" cy="5212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 Website gives a token</a:t>
            </a:r>
            <a:endParaRPr b="0" i="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" name="Google Shape;41;p2"/>
          <p:cNvCxnSpPr/>
          <p:nvPr/>
        </p:nvCxnSpPr>
        <p:spPr>
          <a:xfrm>
            <a:off x="5925312" y="2212848"/>
            <a:ext cx="521208" cy="0"/>
          </a:xfrm>
          <a:prstGeom prst="straightConnector1">
            <a:avLst/>
          </a:prstGeom>
          <a:noFill/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2" name="Google Shape;42;p2"/>
          <p:cNvSpPr/>
          <p:nvPr/>
        </p:nvSpPr>
        <p:spPr>
          <a:xfrm>
            <a:off x="777240" y="3063240"/>
            <a:ext cx="5440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9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A session token works like a short-term digital ID card. The browser sends it back with each request so the website does not ask for your password again and again.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754372" y="5102350"/>
            <a:ext cx="10629900" cy="749700"/>
          </a:xfrm>
          <a:prstGeom prst="roundRect">
            <a:avLst>
              <a:gd fmla="val 14634" name="adj"/>
            </a:avLst>
          </a:prstGeom>
          <a:solidFill>
            <a:srgbClr val="E0F2FE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960150" y="5317175"/>
            <a:ext cx="1017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65A"/>
              </a:buClr>
              <a:buSzPts val="1350"/>
              <a:buFont typeface="Arial"/>
              <a:buNone/>
            </a:pPr>
            <a:r>
              <a:rPr b="1" i="0" lang="en-US" sz="1550" u="none" cap="none" strike="noStrike">
                <a:solidFill>
                  <a:srgbClr val="12365A"/>
                </a:solidFill>
              </a:rPr>
              <a:t>Important: the token is not your password — but while it is valid, it can act like proof that you are logged in.</a:t>
            </a:r>
            <a:endParaRPr b="1" i="0" sz="1550" u="none" cap="none" strike="noStrike">
              <a:solidFill>
                <a:schemeClr val="dk1"/>
              </a:solidFill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Simple definition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B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/>
        </p:nvSpPr>
        <p:spPr>
          <a:xfrm>
            <a:off x="457200" y="256032"/>
            <a:ext cx="8229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12037"/>
                </a:solidFill>
              </a:rPr>
              <a:t>  What happens in Session token hijacking ?</a:t>
            </a:r>
            <a:endParaRPr/>
          </a:p>
        </p:txBody>
      </p:sp>
      <p:sp>
        <p:nvSpPr>
          <p:cNvPr id="51" name="Google Shape;51;p11"/>
          <p:cNvSpPr txBox="1"/>
          <p:nvPr/>
        </p:nvSpPr>
        <p:spPr>
          <a:xfrm>
            <a:off x="1208019" y="872832"/>
            <a:ext cx="7863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rgbClr val="293A4E"/>
                </a:solidFill>
                <a:latin typeface="Arial"/>
                <a:ea typeface="Arial"/>
                <a:cs typeface="Arial"/>
                <a:sym typeface="Arial"/>
              </a:rPr>
              <a:t>A stolen token </a:t>
            </a:r>
            <a:r>
              <a:rPr b="0" lang="en-US" sz="1450">
                <a:solidFill>
                  <a:srgbClr val="293A4E"/>
                </a:solidFill>
                <a:latin typeface="Arial"/>
                <a:ea typeface="Arial"/>
                <a:cs typeface="Arial"/>
                <a:sym typeface="Arial"/>
              </a:rPr>
              <a:t>ca</a:t>
            </a:r>
            <a:r>
              <a:rPr b="0" lang="en-US" sz="1450">
                <a:solidFill>
                  <a:srgbClr val="293A4E"/>
                </a:solidFill>
                <a:latin typeface="Arial"/>
                <a:ea typeface="Arial"/>
                <a:cs typeface="Arial"/>
                <a:sym typeface="Arial"/>
              </a:rPr>
              <a:t>n act like an already-approved login pass.</a:t>
            </a:r>
            <a:endParaRPr sz="1800"/>
          </a:p>
        </p:txBody>
      </p:sp>
      <p:pic>
        <p:nvPicPr>
          <p:cNvPr descr="wide_flat_vector_illustration_cartoon_infograph.png"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795" y="1261858"/>
            <a:ext cx="4572000" cy="2926079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1"/>
          <p:cNvSpPr/>
          <p:nvPr/>
        </p:nvSpPr>
        <p:spPr>
          <a:xfrm>
            <a:off x="5532125" y="1166650"/>
            <a:ext cx="4776000" cy="9144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325">
            <a:solidFill>
              <a:srgbClr val="CF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/>
          <p:nvPr/>
        </p:nvSpPr>
        <p:spPr>
          <a:xfrm>
            <a:off x="5468095" y="1198592"/>
            <a:ext cx="54900" cy="850500"/>
          </a:xfrm>
          <a:prstGeom prst="rect">
            <a:avLst/>
          </a:prstGeom>
          <a:solidFill>
            <a:srgbClr val="25B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/>
          <p:nvPr/>
        </p:nvSpPr>
        <p:spPr>
          <a:xfrm>
            <a:off x="5715000" y="1243584"/>
            <a:ext cx="274320" cy="274320"/>
          </a:xfrm>
          <a:prstGeom prst="ellipse">
            <a:avLst/>
          </a:prstGeom>
          <a:solidFill>
            <a:srgbClr val="25B06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11"/>
          <p:cNvSpPr txBox="1"/>
          <p:nvPr/>
        </p:nvSpPr>
        <p:spPr>
          <a:xfrm>
            <a:off x="5715000" y="1266449"/>
            <a:ext cx="2742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350"/>
          </a:p>
        </p:txBody>
      </p:sp>
      <p:sp>
        <p:nvSpPr>
          <p:cNvPr id="57" name="Google Shape;57;p11"/>
          <p:cNvSpPr txBox="1"/>
          <p:nvPr/>
        </p:nvSpPr>
        <p:spPr>
          <a:xfrm>
            <a:off x="6117348" y="1257295"/>
            <a:ext cx="2441400" cy="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30">
                <a:solidFill>
                  <a:srgbClr val="112037"/>
                </a:solidFill>
                <a:latin typeface="Arial"/>
                <a:ea typeface="Arial"/>
                <a:cs typeface="Arial"/>
                <a:sym typeface="Arial"/>
              </a:rPr>
              <a:t>Real user logs in</a:t>
            </a:r>
            <a:endParaRPr sz="1800"/>
          </a:p>
        </p:txBody>
      </p:sp>
      <p:sp>
        <p:nvSpPr>
          <p:cNvPr id="58" name="Google Shape;58;p11"/>
          <p:cNvSpPr txBox="1"/>
          <p:nvPr/>
        </p:nvSpPr>
        <p:spPr>
          <a:xfrm>
            <a:off x="5733300" y="1600200"/>
            <a:ext cx="4117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Care Access Navigator proves identity once using login and MFA.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59" name="Google Shape;59;p11"/>
          <p:cNvSpPr/>
          <p:nvPr/>
        </p:nvSpPr>
        <p:spPr>
          <a:xfrm>
            <a:off x="6275950" y="2270163"/>
            <a:ext cx="4776000" cy="9915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325">
            <a:solidFill>
              <a:srgbClr val="CF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1"/>
          <p:cNvSpPr/>
          <p:nvPr/>
        </p:nvSpPr>
        <p:spPr>
          <a:xfrm>
            <a:off x="6275946" y="2304675"/>
            <a:ext cx="54900" cy="914400"/>
          </a:xfrm>
          <a:prstGeom prst="rect">
            <a:avLst/>
          </a:prstGeom>
          <a:solidFill>
            <a:srgbClr val="2697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1"/>
          <p:cNvSpPr/>
          <p:nvPr/>
        </p:nvSpPr>
        <p:spPr>
          <a:xfrm>
            <a:off x="6363200" y="2272175"/>
            <a:ext cx="274200" cy="287700"/>
          </a:xfrm>
          <a:prstGeom prst="ellipse">
            <a:avLst/>
          </a:prstGeom>
          <a:solidFill>
            <a:srgbClr val="2697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lt1"/>
                </a:solidFill>
              </a:rPr>
              <a:t>2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1"/>
          <p:cNvSpPr txBox="1"/>
          <p:nvPr/>
        </p:nvSpPr>
        <p:spPr>
          <a:xfrm>
            <a:off x="6602250" y="2254486"/>
            <a:ext cx="274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/>
          </a:p>
        </p:txBody>
      </p:sp>
      <p:sp>
        <p:nvSpPr>
          <p:cNvPr id="63" name="Google Shape;63;p11"/>
          <p:cNvSpPr txBox="1"/>
          <p:nvPr/>
        </p:nvSpPr>
        <p:spPr>
          <a:xfrm>
            <a:off x="6637400" y="2273075"/>
            <a:ext cx="3628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0">
                <a:solidFill>
                  <a:srgbClr val="112037"/>
                </a:solidFill>
                <a:latin typeface="Arial"/>
                <a:ea typeface="Arial"/>
                <a:cs typeface="Arial"/>
                <a:sym typeface="Arial"/>
              </a:rPr>
              <a:t>Token is accepted</a:t>
            </a:r>
            <a:endParaRPr sz="1700"/>
          </a:p>
        </p:txBody>
      </p:sp>
      <p:sp>
        <p:nvSpPr>
          <p:cNvPr id="64" name="Google Shape;64;p11"/>
          <p:cNvSpPr txBox="1"/>
          <p:nvPr/>
        </p:nvSpPr>
        <p:spPr>
          <a:xfrm>
            <a:off x="6439025" y="2697113"/>
            <a:ext cx="42933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browser sends the token with requests so the system remembers the session.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5532125" y="3445325"/>
            <a:ext cx="4776000" cy="9915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325">
            <a:solidFill>
              <a:srgbClr val="CF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1"/>
          <p:cNvSpPr/>
          <p:nvPr/>
        </p:nvSpPr>
        <p:spPr>
          <a:xfrm>
            <a:off x="5468120" y="3483877"/>
            <a:ext cx="54900" cy="914400"/>
          </a:xfrm>
          <a:prstGeom prst="rect">
            <a:avLst/>
          </a:prstGeom>
          <a:solidFill>
            <a:srgbClr val="E832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1"/>
          <p:cNvSpPr/>
          <p:nvPr/>
        </p:nvSpPr>
        <p:spPr>
          <a:xfrm>
            <a:off x="5550413" y="3457007"/>
            <a:ext cx="274200" cy="274200"/>
          </a:xfrm>
          <a:prstGeom prst="ellipse">
            <a:avLst/>
          </a:prstGeom>
          <a:solidFill>
            <a:srgbClr val="E832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1"/>
          <p:cNvSpPr txBox="1"/>
          <p:nvPr/>
        </p:nvSpPr>
        <p:spPr>
          <a:xfrm>
            <a:off x="5550475" y="3479579"/>
            <a:ext cx="274200" cy="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600"/>
          </a:p>
        </p:txBody>
      </p:sp>
      <p:sp>
        <p:nvSpPr>
          <p:cNvPr id="69" name="Google Shape;69;p11"/>
          <p:cNvSpPr txBox="1"/>
          <p:nvPr/>
        </p:nvSpPr>
        <p:spPr>
          <a:xfrm>
            <a:off x="5989200" y="3442700"/>
            <a:ext cx="256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30">
                <a:solidFill>
                  <a:srgbClr val="112037"/>
                </a:solidFill>
                <a:latin typeface="Arial"/>
                <a:ea typeface="Arial"/>
                <a:cs typeface="Arial"/>
                <a:sym typeface="Arial"/>
              </a:rPr>
              <a:t>Attacker reuses it</a:t>
            </a:r>
            <a:endParaRPr sz="1700"/>
          </a:p>
        </p:txBody>
      </p:sp>
      <p:sp>
        <p:nvSpPr>
          <p:cNvPr id="70" name="Google Shape;70;p11"/>
          <p:cNvSpPr txBox="1"/>
          <p:nvPr/>
        </p:nvSpPr>
        <p:spPr>
          <a:xfrm>
            <a:off x="5733306" y="3794750"/>
            <a:ext cx="4117500" cy="4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stolen, the token can make an attacker look like the trusted user.</a:t>
            </a:r>
            <a:endParaRPr sz="1900">
              <a:solidFill>
                <a:schemeClr val="dk1"/>
              </a:solidFill>
            </a:endParaRPr>
          </a:p>
        </p:txBody>
      </p:sp>
      <p:sp>
        <p:nvSpPr>
          <p:cNvPr id="71" name="Google Shape;71;p11"/>
          <p:cNvSpPr/>
          <p:nvPr/>
        </p:nvSpPr>
        <p:spPr>
          <a:xfrm>
            <a:off x="1057325" y="5006313"/>
            <a:ext cx="9675000" cy="685800"/>
          </a:xfrm>
          <a:prstGeom prst="roundRect">
            <a:avLst>
              <a:gd fmla="val 16667" name="adj"/>
            </a:avLst>
          </a:prstGeom>
          <a:solidFill>
            <a:srgbClr val="FFEEEF"/>
          </a:solidFill>
          <a:ln cap="flat" cmpd="sng" w="13950">
            <a:solidFill>
              <a:srgbClr val="F3B9BE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1"/>
          <p:cNvSpPr txBox="1"/>
          <p:nvPr/>
        </p:nvSpPr>
        <p:spPr>
          <a:xfrm>
            <a:off x="1445463" y="5211525"/>
            <a:ext cx="88134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>
                <a:solidFill>
                  <a:srgbClr val="8E1923"/>
                </a:solidFill>
                <a:latin typeface="Arial"/>
                <a:ea typeface="Arial"/>
                <a:cs typeface="Arial"/>
                <a:sym typeface="Arial"/>
              </a:rPr>
              <a:t>Simple meaning: stealing a valid login token and using it to impersonate the real user.</a:t>
            </a:r>
            <a:endParaRPr/>
          </a:p>
        </p:txBody>
      </p:sp>
      <p:sp>
        <p:nvSpPr>
          <p:cNvPr id="73" name="Google Shape;73;p11"/>
          <p:cNvSpPr/>
          <p:nvPr/>
        </p:nvSpPr>
        <p:spPr>
          <a:xfrm>
            <a:off x="310896" y="6510528"/>
            <a:ext cx="8549640" cy="9144"/>
          </a:xfrm>
          <a:prstGeom prst="rect">
            <a:avLst/>
          </a:prstGeom>
          <a:solidFill>
            <a:srgbClr val="D3E0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1"/>
          <p:cNvSpPr txBox="1"/>
          <p:nvPr/>
        </p:nvSpPr>
        <p:spPr>
          <a:xfrm>
            <a:off x="411480" y="655624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768694"/>
                </a:solidFill>
                <a:latin typeface="Arial"/>
                <a:ea typeface="Arial"/>
                <a:cs typeface="Arial"/>
                <a:sym typeface="Arial"/>
              </a:rPr>
              <a:t>Simple explanation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</a:rPr>
              <a:t>Care Access Navigator example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612648" y="786384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17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this matters in a healthcare workflow.</a:t>
            </a:r>
            <a:endParaRPr b="0" i="0" sz="17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94350" y="1233413"/>
            <a:ext cx="11401800" cy="483450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D8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3" name="Google Shape;83;p4"/>
          <p:cNvCxnSpPr/>
          <p:nvPr/>
        </p:nvCxnSpPr>
        <p:spPr>
          <a:xfrm>
            <a:off x="2331720" y="2761488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4" name="Google Shape;84;p4"/>
          <p:cNvCxnSpPr/>
          <p:nvPr/>
        </p:nvCxnSpPr>
        <p:spPr>
          <a:xfrm>
            <a:off x="4754880" y="2761488"/>
            <a:ext cx="731520" cy="0"/>
          </a:xfrm>
          <a:prstGeom prst="straightConnector1">
            <a:avLst/>
          </a:prstGeom>
          <a:noFill/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85" name="Google Shape;85;p4"/>
          <p:cNvCxnSpPr/>
          <p:nvPr/>
        </p:nvCxnSpPr>
        <p:spPr>
          <a:xfrm>
            <a:off x="7132320" y="2761488"/>
            <a:ext cx="749808" cy="0"/>
          </a:xfrm>
          <a:prstGeom prst="straightConnector1">
            <a:avLst/>
          </a:prstGeom>
          <a:noFill/>
          <a:ln cap="flat" cmpd="sng" w="25400">
            <a:solidFill>
              <a:srgbClr val="1E88E5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86" name="Google Shape;86;p4"/>
          <p:cNvSpPr/>
          <p:nvPr/>
        </p:nvSpPr>
        <p:spPr>
          <a:xfrm>
            <a:off x="914400" y="2331720"/>
            <a:ext cx="1417320" cy="868680"/>
          </a:xfrm>
          <a:prstGeom prst="roundRect">
            <a:avLst>
              <a:gd fmla="val 12632" name="adj"/>
            </a:avLst>
          </a:prstGeom>
          <a:solidFill>
            <a:srgbClr val="1E88E5"/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1005840" y="2487168"/>
            <a:ext cx="123444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Navigator logs in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108960" y="2331720"/>
            <a:ext cx="1600200" cy="868680"/>
          </a:xfrm>
          <a:prstGeom prst="roundRect">
            <a:avLst>
              <a:gd fmla="val 12632" name="adj"/>
            </a:avLst>
          </a:prstGeom>
          <a:solidFill>
            <a:srgbClr val="0E7490"/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3200400" y="2487168"/>
            <a:ext cx="14173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Token is created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532120" y="2331720"/>
            <a:ext cx="1600200" cy="868680"/>
          </a:xfrm>
          <a:prstGeom prst="roundRect">
            <a:avLst>
              <a:gd fmla="val 12632" name="adj"/>
            </a:avLst>
          </a:prstGeom>
          <a:solidFill>
            <a:srgbClr val="7C3AED"/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5623560" y="2487168"/>
            <a:ext cx="141732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Navigator opens tasks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936992" y="2331720"/>
            <a:ext cx="1783080" cy="868680"/>
          </a:xfrm>
          <a:prstGeom prst="roundRect">
            <a:avLst>
              <a:gd fmla="val 12632" name="adj"/>
            </a:avLst>
          </a:prstGeom>
          <a:solidFill>
            <a:srgbClr val="16A34A"/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8028432" y="2487168"/>
            <a:ext cx="16002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Patient data appears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9966960" y="2331720"/>
            <a:ext cx="1325880" cy="868680"/>
          </a:xfrm>
          <a:prstGeom prst="roundRect">
            <a:avLst>
              <a:gd fmla="val 12632" name="adj"/>
            </a:avLst>
          </a:prstGeom>
          <a:solidFill>
            <a:srgbClr val="F59E0B"/>
          </a:solidFill>
          <a:ln cap="flat" cmpd="sng" w="12700">
            <a:solidFill>
              <a:srgbClr val="FFFFFF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10058400" y="2487168"/>
            <a:ext cx="1143000" cy="6126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Session stays active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960120" y="39776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 a Care Access Navigator-style system, the session token can allow access to patient workload, appointment tasks, participant records, and care coordination details while the user is signed in.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1143000" y="5289383"/>
            <a:ext cx="9850800" cy="471600"/>
          </a:xfrm>
          <a:prstGeom prst="roundRect">
            <a:avLst>
              <a:gd fmla="val 2381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1336380" y="5500118"/>
            <a:ext cx="9464100" cy="10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65A"/>
              </a:buClr>
              <a:buSzPts val="1080"/>
              <a:buFont typeface="Arial"/>
              <a:buNone/>
            </a:pPr>
            <a:r>
              <a:rPr b="1" i="0" lang="en-US" sz="158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a token is stolen, the attacker may look like a trusted navigator session to the application.</a:t>
            </a:r>
            <a:endParaRPr b="0" i="0" sz="15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Healthcare use case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</a:rPr>
              <a:t>Impact in the Care Access Navigator context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85798" y="900684"/>
            <a:ext cx="795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Why this is more serious in healthcare systems.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wide_clean_vector_illustration_style_scene_in_a_m_batch_1.png" id="107" name="Google Shape;10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7940" y="1728203"/>
            <a:ext cx="5074921" cy="2852929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7"/>
          <p:cNvSpPr/>
          <p:nvPr/>
        </p:nvSpPr>
        <p:spPr>
          <a:xfrm>
            <a:off x="777240" y="1325880"/>
            <a:ext cx="5166360" cy="1005840"/>
          </a:xfrm>
          <a:prstGeom prst="roundRect">
            <a:avLst>
              <a:gd fmla="val 11818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777240" y="1325880"/>
            <a:ext cx="73152" cy="10058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941832" y="14721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🔐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344168" y="1472184"/>
            <a:ext cx="4416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Unauthorized access to sensitive data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978408" y="1828800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Patient records, contact details, appointment history, care tasks, and internal notes may be exposed.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77240" y="2651760"/>
            <a:ext cx="5166360" cy="1005840"/>
          </a:xfrm>
          <a:prstGeom prst="roundRect">
            <a:avLst>
              <a:gd fmla="val 11818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777240" y="2651760"/>
            <a:ext cx="73152" cy="100584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941832" y="279806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📝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1344168" y="2798064"/>
            <a:ext cx="4416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Incorrect actions under a real user’s name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978408" y="3154680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attacker could view, change, or complete tasks as if the navigator performed the action.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777240" y="3977640"/>
            <a:ext cx="5166360" cy="1005840"/>
          </a:xfrm>
          <a:prstGeom prst="roundRect">
            <a:avLst>
              <a:gd fmla="val 11818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777240" y="3977640"/>
            <a:ext cx="73152" cy="10058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941832" y="41239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🏥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1344168" y="4123944"/>
            <a:ext cx="441655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Trust and compliance risk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978408" y="4480560"/>
            <a:ext cx="476402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Healthcare workflows depend on confidentiality, audit trails, and correct user attribution.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777260" y="5349250"/>
            <a:ext cx="10607100" cy="411600"/>
          </a:xfrm>
          <a:prstGeom prst="roundRect">
            <a:avLst>
              <a:gd fmla="val 22222" name="adj"/>
            </a:avLst>
          </a:prstGeom>
          <a:solidFill>
            <a:srgbClr val="E0F2FE"/>
          </a:solidFill>
          <a:ln cap="flat" cmpd="sng" w="1270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969286" y="5486400"/>
            <a:ext cx="9514800" cy="8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65A"/>
              </a:buClr>
              <a:buSzPts val="1250"/>
              <a:buFont typeface="Arial"/>
              <a:buNone/>
            </a:pPr>
            <a:r>
              <a:rPr b="1" lang="en-US" sz="1550">
                <a:solidFill>
                  <a:srgbClr val="12365A"/>
                </a:solidFill>
              </a:rPr>
              <a:t>Important</a:t>
            </a:r>
            <a:r>
              <a:rPr b="1" i="0" lang="en-US" sz="1550" u="none" cap="none" strike="noStrike">
                <a:solidFill>
                  <a:srgbClr val="12365A"/>
                </a:solidFill>
                <a:latin typeface="Arial"/>
                <a:ea typeface="Arial"/>
                <a:cs typeface="Arial"/>
                <a:sym typeface="Arial"/>
              </a:rPr>
              <a:t>: session token protection is patient data protection.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Risk framing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F7FB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/>
        </p:nvSpPr>
        <p:spPr>
          <a:xfrm>
            <a:off x="457200" y="256032"/>
            <a:ext cx="8229600" cy="4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12037"/>
                </a:solidFill>
                <a:latin typeface="Arial"/>
                <a:ea typeface="Arial"/>
                <a:cs typeface="Arial"/>
                <a:sym typeface="Arial"/>
              </a:rPr>
              <a:t>Daily analogy: </a:t>
            </a:r>
            <a:r>
              <a:rPr b="1" lang="en-US" sz="2500">
                <a:solidFill>
                  <a:srgbClr val="112037"/>
                </a:solidFill>
              </a:rPr>
              <a:t>H</a:t>
            </a:r>
            <a:r>
              <a:rPr b="1" lang="en-US" sz="2500">
                <a:solidFill>
                  <a:srgbClr val="112037"/>
                </a:solidFill>
                <a:latin typeface="Arial"/>
                <a:ea typeface="Arial"/>
                <a:cs typeface="Arial"/>
                <a:sym typeface="Arial"/>
              </a:rPr>
              <a:t>otel key card</a:t>
            </a:r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466344" y="713232"/>
            <a:ext cx="80466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5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session token works like a room key card after check-in.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descr="wide_clean_flat_vector_illustration_in_a_horizont.png" id="132" name="Google Shape;13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88720"/>
            <a:ext cx="4709160" cy="2907792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2"/>
          <p:cNvSpPr txBox="1"/>
          <p:nvPr/>
        </p:nvSpPr>
        <p:spPr>
          <a:xfrm>
            <a:off x="5486400" y="969275"/>
            <a:ext cx="44700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4169"/>
                </a:solidFill>
              </a:rPr>
              <a:t>                 </a:t>
            </a:r>
            <a:r>
              <a:rPr b="1" lang="en-US" sz="1800">
                <a:solidFill>
                  <a:srgbClr val="004169"/>
                </a:solidFill>
                <a:latin typeface="Arial"/>
                <a:ea typeface="Arial"/>
                <a:cs typeface="Arial"/>
                <a:sym typeface="Arial"/>
              </a:rPr>
              <a:t>Daily life comparison</a:t>
            </a:r>
            <a:endParaRPr/>
          </a:p>
        </p:txBody>
      </p:sp>
      <p:sp>
        <p:nvSpPr>
          <p:cNvPr id="134" name="Google Shape;134;p12"/>
          <p:cNvSpPr/>
          <p:nvPr/>
        </p:nvSpPr>
        <p:spPr>
          <a:xfrm>
            <a:off x="6351575" y="1426475"/>
            <a:ext cx="4554300" cy="877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325">
            <a:solidFill>
              <a:srgbClr val="CF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2"/>
          <p:cNvSpPr/>
          <p:nvPr/>
        </p:nvSpPr>
        <p:spPr>
          <a:xfrm>
            <a:off x="6351575" y="1450977"/>
            <a:ext cx="54900" cy="786300"/>
          </a:xfrm>
          <a:prstGeom prst="rect">
            <a:avLst/>
          </a:prstGeom>
          <a:solidFill>
            <a:srgbClr val="2697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2"/>
          <p:cNvSpPr/>
          <p:nvPr/>
        </p:nvSpPr>
        <p:spPr>
          <a:xfrm>
            <a:off x="6618855" y="1500631"/>
            <a:ext cx="274200" cy="274200"/>
          </a:xfrm>
          <a:prstGeom prst="ellipse">
            <a:avLst/>
          </a:prstGeom>
          <a:solidFill>
            <a:srgbClr val="2697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6689900" y="1538486"/>
            <a:ext cx="274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38" name="Google Shape;138;p12"/>
          <p:cNvSpPr txBox="1"/>
          <p:nvPr/>
        </p:nvSpPr>
        <p:spPr>
          <a:xfrm>
            <a:off x="6478174" y="1524675"/>
            <a:ext cx="31548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0">
                <a:solidFill>
                  <a:srgbClr val="112037"/>
                </a:solidFill>
              </a:rPr>
              <a:t>              </a:t>
            </a:r>
            <a:r>
              <a:rPr b="1" lang="en-US" sz="1430">
                <a:solidFill>
                  <a:srgbClr val="112037"/>
                </a:solidFill>
                <a:latin typeface="Arial"/>
                <a:ea typeface="Arial"/>
                <a:cs typeface="Arial"/>
                <a:sym typeface="Arial"/>
              </a:rPr>
              <a:t>Password = check-in</a:t>
            </a:r>
            <a:endParaRPr sz="1600"/>
          </a:p>
        </p:txBody>
      </p:sp>
      <p:sp>
        <p:nvSpPr>
          <p:cNvPr id="139" name="Google Shape;139;p12"/>
          <p:cNvSpPr txBox="1"/>
          <p:nvPr/>
        </p:nvSpPr>
        <p:spPr>
          <a:xfrm>
            <a:off x="6689900" y="1992200"/>
            <a:ext cx="4215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You show ID at reception once to prove who you are.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0" name="Google Shape;140;p12"/>
          <p:cNvSpPr/>
          <p:nvPr/>
        </p:nvSpPr>
        <p:spPr>
          <a:xfrm>
            <a:off x="7420700" y="2537450"/>
            <a:ext cx="4276800" cy="8778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325">
            <a:solidFill>
              <a:srgbClr val="CF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2"/>
          <p:cNvSpPr/>
          <p:nvPr/>
        </p:nvSpPr>
        <p:spPr>
          <a:xfrm>
            <a:off x="7420700" y="2511647"/>
            <a:ext cx="54900" cy="877800"/>
          </a:xfrm>
          <a:prstGeom prst="rect">
            <a:avLst/>
          </a:prstGeom>
          <a:solidFill>
            <a:srgbClr val="1484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2"/>
          <p:cNvSpPr/>
          <p:nvPr/>
        </p:nvSpPr>
        <p:spPr>
          <a:xfrm>
            <a:off x="7584193" y="2586552"/>
            <a:ext cx="274200" cy="274200"/>
          </a:xfrm>
          <a:prstGeom prst="ellipse">
            <a:avLst/>
          </a:prstGeom>
          <a:solidFill>
            <a:srgbClr val="14849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7584243" y="2632274"/>
            <a:ext cx="274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4" name="Google Shape;144;p12"/>
          <p:cNvSpPr txBox="1"/>
          <p:nvPr/>
        </p:nvSpPr>
        <p:spPr>
          <a:xfrm>
            <a:off x="8180375" y="2657075"/>
            <a:ext cx="3517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0">
                <a:solidFill>
                  <a:srgbClr val="112037"/>
                </a:solidFill>
                <a:latin typeface="Arial"/>
                <a:ea typeface="Arial"/>
                <a:cs typeface="Arial"/>
                <a:sym typeface="Arial"/>
              </a:rPr>
              <a:t>Token = room key card</a:t>
            </a:r>
            <a:endParaRPr sz="1600"/>
          </a:p>
        </p:txBody>
      </p:sp>
      <p:sp>
        <p:nvSpPr>
          <p:cNvPr id="145" name="Google Shape;145;p12"/>
          <p:cNvSpPr txBox="1"/>
          <p:nvPr/>
        </p:nvSpPr>
        <p:spPr>
          <a:xfrm>
            <a:off x="7584200" y="3026525"/>
            <a:ext cx="4113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After check-in, the card opens your room without showing ID again.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6478175" y="3677925"/>
            <a:ext cx="4709100" cy="9276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3325">
            <a:solidFill>
              <a:srgbClr val="CFDEE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6478175" y="3707252"/>
            <a:ext cx="54900" cy="877800"/>
          </a:xfrm>
          <a:prstGeom prst="rect">
            <a:avLst/>
          </a:prstGeom>
          <a:solidFill>
            <a:srgbClr val="E832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6689843" y="3759782"/>
            <a:ext cx="274200" cy="274200"/>
          </a:xfrm>
          <a:prstGeom prst="ellipse">
            <a:avLst/>
          </a:prstGeom>
          <a:solidFill>
            <a:srgbClr val="E832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6689843" y="3805517"/>
            <a:ext cx="274200" cy="1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0" name="Google Shape;150;p12"/>
          <p:cNvSpPr txBox="1"/>
          <p:nvPr/>
        </p:nvSpPr>
        <p:spPr>
          <a:xfrm>
            <a:off x="7265975" y="3817450"/>
            <a:ext cx="32706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30">
                <a:solidFill>
                  <a:srgbClr val="112037"/>
                </a:solidFill>
                <a:latin typeface="Arial"/>
                <a:ea typeface="Arial"/>
                <a:cs typeface="Arial"/>
                <a:sym typeface="Arial"/>
              </a:rPr>
              <a:t>Hijacking = stolen card</a:t>
            </a:r>
            <a:endParaRPr sz="1600"/>
          </a:p>
        </p:txBody>
      </p:sp>
      <p:sp>
        <p:nvSpPr>
          <p:cNvPr id="151" name="Google Shape;151;p12"/>
          <p:cNvSpPr txBox="1"/>
          <p:nvPr/>
        </p:nvSpPr>
        <p:spPr>
          <a:xfrm>
            <a:off x="6555575" y="4180825"/>
            <a:ext cx="45543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someone steals or copies it, the door may open as if they are the guest.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685800" y="4782294"/>
            <a:ext cx="10501500" cy="1015200"/>
          </a:xfrm>
          <a:prstGeom prst="roundRect">
            <a:avLst>
              <a:gd fmla="val 16667" name="adj"/>
            </a:avLst>
          </a:prstGeom>
          <a:solidFill>
            <a:srgbClr val="DAF3FC"/>
          </a:solidFill>
          <a:ln cap="flat" cmpd="sng" w="13950">
            <a:solidFill>
              <a:srgbClr val="95DDF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2"/>
          <p:cNvSpPr txBox="1"/>
          <p:nvPr/>
        </p:nvSpPr>
        <p:spPr>
          <a:xfrm>
            <a:off x="1125450" y="5169564"/>
            <a:ext cx="9622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35369"/>
                </a:solidFill>
              </a:rPr>
              <a:t>In terms of </a:t>
            </a:r>
            <a:r>
              <a:rPr b="1" lang="en-US" sz="1500">
                <a:solidFill>
                  <a:srgbClr val="135369"/>
                </a:solidFill>
                <a:latin typeface="Arial"/>
                <a:ea typeface="Arial"/>
                <a:cs typeface="Arial"/>
                <a:sym typeface="Arial"/>
              </a:rPr>
              <a:t>Cybersecurity, revoke the old session and issue a new one — like deactivating a lost room key.</a:t>
            </a:r>
            <a:endParaRPr/>
          </a:p>
        </p:txBody>
      </p:sp>
      <p:sp>
        <p:nvSpPr>
          <p:cNvPr id="154" name="Google Shape;154;p12"/>
          <p:cNvSpPr/>
          <p:nvPr/>
        </p:nvSpPr>
        <p:spPr>
          <a:xfrm>
            <a:off x="310896" y="6510528"/>
            <a:ext cx="8549640" cy="9144"/>
          </a:xfrm>
          <a:prstGeom prst="rect">
            <a:avLst/>
          </a:prstGeom>
          <a:solidFill>
            <a:srgbClr val="D3E0E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2"/>
          <p:cNvSpPr txBox="1"/>
          <p:nvPr/>
        </p:nvSpPr>
        <p:spPr>
          <a:xfrm>
            <a:off x="411480" y="655624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18275" spcFirstLastPara="1" rIns="18275" wrap="square" tIns="18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700">
                <a:solidFill>
                  <a:srgbClr val="768694"/>
                </a:solidFill>
                <a:latin typeface="Arial"/>
                <a:ea typeface="Arial"/>
                <a:cs typeface="Arial"/>
                <a:sym typeface="Arial"/>
              </a:rPr>
              <a:t>Analogy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</a:rPr>
              <a:t>Common attack scenarios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612650" y="786375"/>
            <a:ext cx="79644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14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 a token can be stolen or abused.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731520" y="1234440"/>
            <a:ext cx="3474720" cy="1051560"/>
          </a:xfrm>
          <a:prstGeom prst="roundRect">
            <a:avLst>
              <a:gd fmla="val 11304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731520" y="1234440"/>
            <a:ext cx="73152" cy="10515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896112" y="13807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🧩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1298448" y="1380744"/>
            <a:ext cx="2724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1. Malicious browser extension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932688" y="1737360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bad extension or compromised browser can try to read or abuse session data.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4370832" y="1234440"/>
            <a:ext cx="3474720" cy="1051560"/>
          </a:xfrm>
          <a:prstGeom prst="roundRect">
            <a:avLst>
              <a:gd fmla="val 11304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4370832" y="1234440"/>
            <a:ext cx="73152" cy="10515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4535424" y="13807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💻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4937760" y="1380744"/>
            <a:ext cx="2724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2. XSS on a vulnerable site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4572000" y="1737360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Injected scripts can run inside the page and attempt to steal or misuse session context.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8010144" y="1234440"/>
            <a:ext cx="3474720" cy="1051560"/>
          </a:xfrm>
          <a:prstGeom prst="roundRect">
            <a:avLst>
              <a:gd fmla="val 11304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8010144" y="1234440"/>
            <a:ext cx="73152" cy="10515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8174736" y="13807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🖥️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8577072" y="1380744"/>
            <a:ext cx="2724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3. Public/shared computer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8211312" y="1737360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user forgets to log out; the next person may continue the active session.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731495" y="2770638"/>
            <a:ext cx="3474600" cy="1051500"/>
          </a:xfrm>
          <a:prstGeom prst="roundRect">
            <a:avLst>
              <a:gd fmla="val 11304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731520" y="2743200"/>
            <a:ext cx="73152" cy="1051560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896112" y="288950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🎣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298448" y="2889504"/>
            <a:ext cx="2724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4. Phishing or fake login flow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932688" y="3246120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user is tricked into a page or app that captures login/session information.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370832" y="2743200"/>
            <a:ext cx="3474720" cy="1051560"/>
          </a:xfrm>
          <a:prstGeom prst="roundRect">
            <a:avLst>
              <a:gd fmla="val 11304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4370832" y="2743200"/>
            <a:ext cx="73152" cy="105156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4535424" y="288950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📡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937760" y="2889504"/>
            <a:ext cx="2724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5. Unprotected network traffic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572000" y="3246120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traffic is not properly protected, tokens can be exposed during transmission.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010144" y="2743200"/>
            <a:ext cx="3474720" cy="1051560"/>
          </a:xfrm>
          <a:prstGeom prst="roundRect">
            <a:avLst>
              <a:gd fmla="val 11304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8010144" y="2743200"/>
            <a:ext cx="73152" cy="10515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8174736" y="288950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⏳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577072" y="2889504"/>
            <a:ext cx="27249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6. Weak session handling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211312" y="3246120"/>
            <a:ext cx="30723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Long-lived tokens or poor logout/invalidation give attackers more time to reuse tokens.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14400" y="4892040"/>
            <a:ext cx="10378440" cy="640080"/>
          </a:xfrm>
          <a:prstGeom prst="roundRect">
            <a:avLst>
              <a:gd fmla="val 21429" name="adj"/>
            </a:avLst>
          </a:prstGeom>
          <a:solidFill>
            <a:srgbClr val="FFF7ED"/>
          </a:solidFill>
          <a:ln cap="flat" cmpd="sng" w="12700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1143000" y="5102352"/>
            <a:ext cx="9966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A3412"/>
              </a:buClr>
              <a:buSzPts val="1350"/>
              <a:buFont typeface="Arial"/>
              <a:buNone/>
            </a:pPr>
            <a:r>
              <a:rPr b="1" lang="en-US" sz="1350">
                <a:solidFill>
                  <a:srgbClr val="9A3412"/>
                </a:solidFill>
              </a:rPr>
              <a:t>Remember:</a:t>
            </a:r>
            <a:r>
              <a:rPr b="1" i="0" lang="en-US" sz="1350" u="none" cap="none" strike="noStrike">
                <a:solidFill>
                  <a:srgbClr val="9A3412"/>
                </a:solidFill>
                <a:latin typeface="Arial"/>
                <a:ea typeface="Arial"/>
                <a:cs typeface="Arial"/>
                <a:sym typeface="Arial"/>
              </a:rPr>
              <a:t> “The attack is not always about stealing the password — sometimes it is about stealing the already-approved login pass.”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Attack scenarios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</a:rPr>
              <a:t>  </a:t>
            </a:r>
            <a:r>
              <a:rPr b="1" i="0" lang="en-US" sz="2800" u="none" cap="none" strike="noStrike">
                <a:solidFill>
                  <a:srgbClr val="0F172A"/>
                </a:solidFill>
              </a:rPr>
              <a:t>Best prevention measures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685798" y="854972"/>
            <a:ext cx="795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lang="en-US" sz="1250">
                <a:solidFill>
                  <a:schemeClr val="dk1"/>
                </a:solidFill>
              </a:rPr>
              <a:t>   </a:t>
            </a: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Strong protection requires both application controls and user habits.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685800" y="1234440"/>
            <a:ext cx="5394960" cy="425196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D8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960120" y="1536192"/>
            <a:ext cx="4846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65A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rgbClr val="12365A"/>
                </a:solidFill>
                <a:latin typeface="Arial"/>
                <a:ea typeface="Arial"/>
                <a:cs typeface="Arial"/>
                <a:sym typeface="Arial"/>
              </a:rPr>
              <a:t>For developers / security teams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960120" y="2011680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HTTPS/TLS everywhere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960120" y="2423160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Secure + HttpOnly + SameSite cookies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960120" y="2834640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Short idle timeout + max lifetime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8"/>
          <p:cNvSpPr/>
          <p:nvPr/>
        </p:nvSpPr>
        <p:spPr>
          <a:xfrm>
            <a:off x="960120" y="3246120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Rotate tokens after login and sensitive changes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960120" y="3657600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Invalidate sessions after logout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960120" y="4069080"/>
            <a:ext cx="47548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XSS protection and secure coding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6309360" y="1234440"/>
            <a:ext cx="5212080" cy="4251960"/>
          </a:xfrm>
          <a:prstGeom prst="roundRect">
            <a:avLst>
              <a:gd fmla="val 3871" name="adj"/>
            </a:avLst>
          </a:prstGeom>
          <a:solidFill>
            <a:srgbClr val="FFFFFF"/>
          </a:solidFill>
          <a:ln cap="flat" cmpd="sng" w="12700">
            <a:solidFill>
              <a:srgbClr val="D8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8"/>
          <p:cNvSpPr/>
          <p:nvPr/>
        </p:nvSpPr>
        <p:spPr>
          <a:xfrm>
            <a:off x="6583680" y="15361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65A"/>
              </a:buClr>
              <a:buSzPts val="1800"/>
              <a:buFont typeface="Arial"/>
              <a:buNone/>
            </a:pPr>
            <a:r>
              <a:rPr b="1" i="0" lang="en-US" sz="2000" u="none" cap="none" strike="noStrike">
                <a:solidFill>
                  <a:srgbClr val="12365A"/>
                </a:solidFill>
                <a:latin typeface="Arial"/>
                <a:ea typeface="Arial"/>
                <a:cs typeface="Arial"/>
                <a:sym typeface="Arial"/>
              </a:rPr>
              <a:t>For users / navigators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6583680" y="2011680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Use MFA where available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8"/>
          <p:cNvSpPr/>
          <p:nvPr/>
        </p:nvSpPr>
        <p:spPr>
          <a:xfrm>
            <a:off x="6583680" y="2423160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Log out on shared or public computers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6583680" y="2834640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Avoid suspicious links and extensions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6583680" y="3246120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Keep browser and device updated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6583680" y="3657600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Do not share screens/tokens/cookies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6583680" y="4069080"/>
            <a:ext cx="4617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320"/>
              <a:buFont typeface="Arial"/>
              <a:buNone/>
            </a:pPr>
            <a:r>
              <a:rPr b="0" i="0" lang="en-US" sz="152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✓ Report unusual account activity quickly</a:t>
            </a:r>
            <a:endParaRPr b="0" i="0" sz="15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Preventive controls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</a:rPr>
              <a:t>How to detect and manage token hijacking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685798" y="900684"/>
            <a:ext cx="7955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Assume prevention can fail; monitoring and fast response matter.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777240" y="1325880"/>
            <a:ext cx="5349240" cy="1325880"/>
          </a:xfrm>
          <a:prstGeom prst="roundRect">
            <a:avLst>
              <a:gd fmla="val 8966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9"/>
          <p:cNvSpPr/>
          <p:nvPr/>
        </p:nvSpPr>
        <p:spPr>
          <a:xfrm>
            <a:off x="777240" y="1325880"/>
            <a:ext cx="73152" cy="1325880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9"/>
          <p:cNvSpPr/>
          <p:nvPr/>
        </p:nvSpPr>
        <p:spPr>
          <a:xfrm>
            <a:off x="941832" y="147218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🔎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1344168" y="1472184"/>
            <a:ext cx="4599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Detect signs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978408" y="1828800"/>
            <a:ext cx="49469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New device or browser, unusual IP/location, impossible travel, abnormal task activity, sudden data downloads, repeated session changes.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777240" y="2971800"/>
            <a:ext cx="5349240" cy="1325880"/>
          </a:xfrm>
          <a:prstGeom prst="roundRect">
            <a:avLst>
              <a:gd fmla="val 8966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777240" y="2971800"/>
            <a:ext cx="73152" cy="132588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9"/>
          <p:cNvSpPr/>
          <p:nvPr/>
        </p:nvSpPr>
        <p:spPr>
          <a:xfrm>
            <a:off x="941832" y="311810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🚨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344168" y="3118104"/>
            <a:ext cx="4599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Respond fast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978408" y="3474720"/>
            <a:ext cx="494690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Revoke active sessions, force password reset where needed, require MFA re-check, preserve logs, notify security team, review affected records.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777240" y="4617720"/>
            <a:ext cx="5349240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777240" y="4617720"/>
            <a:ext cx="73152" cy="96012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941832" y="47640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🛡️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1344168" y="4764024"/>
            <a:ext cx="45994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4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Improve controls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978408" y="5120640"/>
            <a:ext cx="494690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2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Shorten session lifetime, tune anomaly alerts, strengthen XSS defenses, review cookie flags, educate users with real scenarios.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clean_high_quality_3d_cgi_digital_illustration_batch_3.png"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1417320"/>
            <a:ext cx="4663440" cy="2624328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/>
          <p:nvPr/>
        </p:nvSpPr>
        <p:spPr>
          <a:xfrm>
            <a:off x="6629275" y="5423050"/>
            <a:ext cx="4663500" cy="685800"/>
          </a:xfrm>
          <a:prstGeom prst="roundRect">
            <a:avLst>
              <a:gd fmla="val 25000" name="adj"/>
            </a:avLst>
          </a:prstGeom>
          <a:solidFill>
            <a:srgbClr val="EFF6FF"/>
          </a:solidFill>
          <a:ln cap="flat" cmpd="sng" w="12700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6703250" y="5696700"/>
            <a:ext cx="4431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365A"/>
              </a:buClr>
              <a:buSzPts val="1150"/>
              <a:buFont typeface="Arial"/>
              <a:buNone/>
            </a:pPr>
            <a:r>
              <a:rPr b="1" i="0" lang="en-US" sz="1450" u="none" cap="none" strike="noStrike">
                <a:solidFill>
                  <a:srgbClr val="12365A"/>
                </a:solidFill>
                <a:latin typeface="Arial"/>
                <a:ea typeface="Arial"/>
                <a:cs typeface="Arial"/>
                <a:sym typeface="Arial"/>
              </a:rPr>
              <a:t>Response goal: </a:t>
            </a:r>
            <a:r>
              <a:rPr b="1" lang="en-US" sz="1450">
                <a:solidFill>
                  <a:srgbClr val="12365A"/>
                </a:solidFill>
              </a:rPr>
              <a:t>M</a:t>
            </a:r>
            <a:r>
              <a:rPr b="1" i="0" lang="en-US" sz="1450" u="none" cap="none" strike="noStrike">
                <a:solidFill>
                  <a:srgbClr val="12365A"/>
                </a:solidFill>
                <a:latin typeface="Arial"/>
                <a:ea typeface="Arial"/>
                <a:cs typeface="Arial"/>
                <a:sym typeface="Arial"/>
              </a:rPr>
              <a:t>ake stolen tokens useless quickly.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Detection and response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lang="en-US" sz="2800">
                <a:solidFill>
                  <a:srgbClr val="0F172A"/>
                </a:solidFill>
              </a:rPr>
              <a:t>     </a:t>
            </a:r>
            <a:r>
              <a:rPr b="1" i="0" lang="en-US" sz="2800" u="none" cap="none" strike="noStrike">
                <a:solidFill>
                  <a:srgbClr val="0F172A"/>
                </a:solidFill>
              </a:rPr>
              <a:t> </a:t>
            </a:r>
            <a:r>
              <a:rPr b="1" lang="en-US" sz="2800">
                <a:solidFill>
                  <a:srgbClr val="0F172A"/>
                </a:solidFill>
              </a:rPr>
              <a:t>T</a:t>
            </a:r>
            <a:r>
              <a:rPr b="1" i="0" lang="en-US" sz="2800" u="none" cap="none" strike="noStrike">
                <a:solidFill>
                  <a:srgbClr val="0F172A"/>
                </a:solidFill>
              </a:rPr>
              <a:t>each-back summary :</a:t>
            </a:r>
            <a:endParaRPr i="0" sz="2800" u="none" cap="none" strike="noStrike">
              <a:solidFill>
                <a:schemeClr val="dk1"/>
              </a:solidFill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960120" y="1325880"/>
            <a:ext cx="10287000" cy="4160520"/>
          </a:xfrm>
          <a:prstGeom prst="roundRect">
            <a:avLst>
              <a:gd fmla="val 4396" name="adj"/>
            </a:avLst>
          </a:prstGeom>
          <a:solidFill>
            <a:srgbClr val="FFFFFF"/>
          </a:solidFill>
          <a:ln cap="flat" cmpd="sng" w="12700">
            <a:solidFill>
              <a:srgbClr val="D8E8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"/>
          <p:cNvSpPr/>
          <p:nvPr/>
        </p:nvSpPr>
        <p:spPr>
          <a:xfrm>
            <a:off x="1234440" y="1664208"/>
            <a:ext cx="347472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10"/>
          <p:cNvSpPr/>
          <p:nvPr/>
        </p:nvSpPr>
        <p:spPr>
          <a:xfrm>
            <a:off x="1783080" y="1664208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session token is like a temporary digital ID card after login.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1234440" y="2322576"/>
            <a:ext cx="347472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1783080" y="2322576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Session token hijacking happens when an attacker steals that token and reuses it to impersonate the user.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1234440" y="2980944"/>
            <a:ext cx="347472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1783080" y="2980944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a Care Access Navigator workflow, this could expose patient-related work, records, or tasks under a trusted user session.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1234440" y="3639312"/>
            <a:ext cx="347472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1783080" y="3639312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best defense is layered: secure cookies, HTTPS, shorter sessions, token rotation, logout invalidation, XSS protection, MFA, and user awareness.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1234440" y="4297680"/>
            <a:ext cx="347472" cy="347472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1783080" y="4297680"/>
            <a:ext cx="8869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suspicious activity appears, revoke sessions quickly and investigate the affected account activity.</a:t>
            </a:r>
            <a:endParaRPr b="0" i="0" sz="15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2138900" y="5806450"/>
            <a:ext cx="7684500" cy="384000"/>
          </a:xfrm>
          <a:prstGeom prst="roundRect">
            <a:avLst>
              <a:gd fmla="val 26190" name="adj"/>
            </a:avLst>
          </a:prstGeom>
          <a:solidFill>
            <a:srgbClr val="0E7490">
              <a:alpha val="94902"/>
            </a:srgbClr>
          </a:solidFill>
          <a:ln cap="flat" cmpd="sng" w="12700">
            <a:solidFill>
              <a:srgbClr val="0E7490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2807975" y="5897875"/>
            <a:ext cx="6700500" cy="1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r>
              <a:rPr b="1" lang="en-US" sz="1450">
                <a:solidFill>
                  <a:srgbClr val="FFFFFF"/>
                </a:solidFill>
              </a:rPr>
              <a:t> Session token hijacking </a:t>
            </a:r>
            <a:r>
              <a:rPr b="1" i="0" lang="en-US" sz="14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Steal token → Reuse token → Impersonate user</a:t>
            </a:r>
            <a:endParaRPr b="0" i="0" sz="14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Closing slide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What is session token hijacking?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"/>
          <p:cNvSpPr/>
          <p:nvPr/>
        </p:nvSpPr>
        <p:spPr>
          <a:xfrm>
            <a:off x="612648" y="786384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The attacker does not need the password if they can reuse the valid session token.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wide_clean_flat_modern_vector_illustration_sce_batch_2.png" id="273" name="Google Shape;27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234440"/>
            <a:ext cx="5303520" cy="2980944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"/>
          <p:cNvSpPr/>
          <p:nvPr/>
        </p:nvSpPr>
        <p:spPr>
          <a:xfrm>
            <a:off x="6400800" y="1417320"/>
            <a:ext cx="4846320" cy="1143000"/>
          </a:xfrm>
          <a:prstGeom prst="roundRect">
            <a:avLst>
              <a:gd fmla="val 10400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"/>
          <p:cNvSpPr/>
          <p:nvPr/>
        </p:nvSpPr>
        <p:spPr>
          <a:xfrm>
            <a:off x="6400800" y="1417320"/>
            <a:ext cx="73152" cy="1143000"/>
          </a:xfrm>
          <a:prstGeom prst="rect">
            <a:avLst/>
          </a:prstGeom>
          <a:solidFill>
            <a:srgbClr val="16A34A"/>
          </a:solidFill>
          <a:ln cap="flat" cmpd="sng" w="12700">
            <a:solidFill>
              <a:srgbClr val="16A3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"/>
          <p:cNvSpPr/>
          <p:nvPr/>
        </p:nvSpPr>
        <p:spPr>
          <a:xfrm>
            <a:off x="6565392" y="15636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"/>
          <p:cNvSpPr/>
          <p:nvPr/>
        </p:nvSpPr>
        <p:spPr>
          <a:xfrm>
            <a:off x="6967728" y="1563624"/>
            <a:ext cx="4096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Normal access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"/>
          <p:cNvSpPr/>
          <p:nvPr/>
        </p:nvSpPr>
        <p:spPr>
          <a:xfrm>
            <a:off x="6601968" y="1920240"/>
            <a:ext cx="4443984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You log in and the website recognizes your session token as proof of authentication.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"/>
          <p:cNvSpPr/>
          <p:nvPr/>
        </p:nvSpPr>
        <p:spPr>
          <a:xfrm>
            <a:off x="6400800" y="2834640"/>
            <a:ext cx="4846320" cy="1234440"/>
          </a:xfrm>
          <a:prstGeom prst="roundRect">
            <a:avLst>
              <a:gd fmla="val 9630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"/>
          <p:cNvSpPr/>
          <p:nvPr/>
        </p:nvSpPr>
        <p:spPr>
          <a:xfrm>
            <a:off x="6400800" y="2834640"/>
            <a:ext cx="73152" cy="123444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"/>
          <p:cNvSpPr/>
          <p:nvPr/>
        </p:nvSpPr>
        <p:spPr>
          <a:xfrm>
            <a:off x="6565392" y="298094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⚠️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"/>
          <p:cNvSpPr/>
          <p:nvPr/>
        </p:nvSpPr>
        <p:spPr>
          <a:xfrm>
            <a:off x="6967728" y="2980944"/>
            <a:ext cx="4096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Hijacked access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"/>
          <p:cNvSpPr/>
          <p:nvPr/>
        </p:nvSpPr>
        <p:spPr>
          <a:xfrm>
            <a:off x="6601968" y="3337560"/>
            <a:ext cx="444398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An attacker steals or copies the token and sends it to the website. The website may think it is still you.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"/>
          <p:cNvSpPr/>
          <p:nvPr/>
        </p:nvSpPr>
        <p:spPr>
          <a:xfrm>
            <a:off x="6400800" y="4572000"/>
            <a:ext cx="4846320" cy="786384"/>
          </a:xfrm>
          <a:prstGeom prst="roundRect">
            <a:avLst>
              <a:gd fmla="val 13953" name="adj"/>
            </a:avLst>
          </a:prstGeom>
          <a:solidFill>
            <a:srgbClr val="FEF2F2"/>
          </a:solidFill>
          <a:ln cap="flat" cmpd="sng" w="12700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3"/>
          <p:cNvSpPr/>
          <p:nvPr/>
        </p:nvSpPr>
        <p:spPr>
          <a:xfrm>
            <a:off x="6629400" y="4800600"/>
            <a:ext cx="4434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rPr>
              <a:t>Core risk: impersonation without knowing the user’s password.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Attack concept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"/>
          <p:cNvSpPr txBox="1"/>
          <p:nvPr>
            <p:ph idx="4294967295" type="sldNum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890A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"/>
          <p:cNvSpPr/>
          <p:nvPr/>
        </p:nvSpPr>
        <p:spPr>
          <a:xfrm>
            <a:off x="594360" y="320040"/>
            <a:ext cx="8138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Play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Play"/>
                <a:ea typeface="Play"/>
                <a:cs typeface="Play"/>
                <a:sym typeface="Play"/>
              </a:rPr>
              <a:t>Daily analogy for non-technical audience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"/>
          <p:cNvSpPr/>
          <p:nvPr/>
        </p:nvSpPr>
        <p:spPr>
          <a:xfrm>
            <a:off x="612648" y="786384"/>
            <a:ext cx="7955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 session token is like a visitor badge or event wristband.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mnt/data/a_wide_clean_flat_modern_vector_illustration_sce_batch_2.png" id="295" name="Google Shape;29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417320"/>
            <a:ext cx="5486400" cy="3090672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5"/>
          <p:cNvSpPr/>
          <p:nvPr/>
        </p:nvSpPr>
        <p:spPr>
          <a:xfrm>
            <a:off x="6510528" y="1188720"/>
            <a:ext cx="4114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365A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12365A"/>
                </a:solidFill>
                <a:latin typeface="Arial"/>
                <a:ea typeface="Arial"/>
                <a:cs typeface="Arial"/>
                <a:sym typeface="Arial"/>
              </a:rPr>
              <a:t>Daily life comparison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"/>
          <p:cNvSpPr/>
          <p:nvPr/>
        </p:nvSpPr>
        <p:spPr>
          <a:xfrm>
            <a:off x="6510528" y="1828800"/>
            <a:ext cx="4846320" cy="960120"/>
          </a:xfrm>
          <a:prstGeom prst="roundRect">
            <a:avLst>
              <a:gd fmla="val 12381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5"/>
          <p:cNvSpPr/>
          <p:nvPr/>
        </p:nvSpPr>
        <p:spPr>
          <a:xfrm>
            <a:off x="6510528" y="1828800"/>
            <a:ext cx="73152" cy="960120"/>
          </a:xfrm>
          <a:prstGeom prst="rect">
            <a:avLst/>
          </a:prstGeom>
          <a:solidFill>
            <a:srgbClr val="1E88E5"/>
          </a:solidFill>
          <a:ln cap="flat" cmpd="sng" w="12700">
            <a:solidFill>
              <a:srgbClr val="1E88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5"/>
          <p:cNvSpPr/>
          <p:nvPr/>
        </p:nvSpPr>
        <p:spPr>
          <a:xfrm>
            <a:off x="6675120" y="197510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🪪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7077456" y="1975104"/>
            <a:ext cx="4096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Password = proving identity at the front desk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"/>
          <p:cNvSpPr/>
          <p:nvPr/>
        </p:nvSpPr>
        <p:spPr>
          <a:xfrm>
            <a:off x="6711696" y="2331720"/>
            <a:ext cx="44439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You show who you are once, like signing in at reception.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"/>
          <p:cNvSpPr/>
          <p:nvPr/>
        </p:nvSpPr>
        <p:spPr>
          <a:xfrm>
            <a:off x="6510528" y="2971800"/>
            <a:ext cx="4846320" cy="1005840"/>
          </a:xfrm>
          <a:prstGeom prst="roundRect">
            <a:avLst>
              <a:gd fmla="val 11818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"/>
          <p:cNvSpPr/>
          <p:nvPr/>
        </p:nvSpPr>
        <p:spPr>
          <a:xfrm>
            <a:off x="6510528" y="2971800"/>
            <a:ext cx="73152" cy="1005840"/>
          </a:xfrm>
          <a:prstGeom prst="rect">
            <a:avLst/>
          </a:prstGeom>
          <a:solidFill>
            <a:srgbClr val="0E7490"/>
          </a:solidFill>
          <a:ln cap="flat" cmpd="sng" w="12700">
            <a:solidFill>
              <a:srgbClr val="0E74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"/>
          <p:cNvSpPr/>
          <p:nvPr/>
        </p:nvSpPr>
        <p:spPr>
          <a:xfrm>
            <a:off x="6675120" y="311810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🎟️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"/>
          <p:cNvSpPr/>
          <p:nvPr/>
        </p:nvSpPr>
        <p:spPr>
          <a:xfrm>
            <a:off x="7077456" y="3118104"/>
            <a:ext cx="4096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Token = badge you carry inside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"/>
          <p:cNvSpPr/>
          <p:nvPr/>
        </p:nvSpPr>
        <p:spPr>
          <a:xfrm>
            <a:off x="6711696" y="3474720"/>
            <a:ext cx="4443984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After check-in, the badge lets you move around without re-checking your ID every minute.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"/>
          <p:cNvSpPr/>
          <p:nvPr/>
        </p:nvSpPr>
        <p:spPr>
          <a:xfrm>
            <a:off x="6510528" y="4160520"/>
            <a:ext cx="4846320" cy="1051560"/>
          </a:xfrm>
          <a:prstGeom prst="roundRect">
            <a:avLst>
              <a:gd fmla="val 11304" name="adj"/>
            </a:avLst>
          </a:prstGeom>
          <a:solidFill>
            <a:srgbClr val="FFFFFF"/>
          </a:solidFill>
          <a:ln cap="flat" cmpd="sng" w="12700">
            <a:solidFill>
              <a:srgbClr val="D7E6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5"/>
          <p:cNvSpPr/>
          <p:nvPr/>
        </p:nvSpPr>
        <p:spPr>
          <a:xfrm>
            <a:off x="6510528" y="4160520"/>
            <a:ext cx="73152" cy="1051560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"/>
          <p:cNvSpPr/>
          <p:nvPr/>
        </p:nvSpPr>
        <p:spPr>
          <a:xfrm>
            <a:off x="6675120" y="430682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🚫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"/>
          <p:cNvSpPr/>
          <p:nvPr/>
        </p:nvSpPr>
        <p:spPr>
          <a:xfrm>
            <a:off x="7077456" y="4306824"/>
            <a:ext cx="409651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Hijacking = someone uses your badge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"/>
          <p:cNvSpPr/>
          <p:nvPr/>
        </p:nvSpPr>
        <p:spPr>
          <a:xfrm>
            <a:off x="6711696" y="4663440"/>
            <a:ext cx="444398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30"/>
              <a:buFont typeface="Arial"/>
              <a:buNone/>
            </a:pPr>
            <a:r>
              <a:rPr b="0" i="0" lang="en-US" sz="1030" u="none" cap="none" strike="noStrike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rPr>
              <a:t>If another person copies or steals the badge, doors may open for them as if they are you.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"/>
          <p:cNvSpPr/>
          <p:nvPr/>
        </p:nvSpPr>
        <p:spPr>
          <a:xfrm>
            <a:off x="594360" y="6446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Analogy</a:t>
            </a:r>
            <a:endParaRPr b="0" i="0" sz="8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"/>
          <p:cNvSpPr txBox="1"/>
          <p:nvPr>
            <p:ph idx="4294967295" type="sldNum"/>
          </p:nvPr>
        </p:nvSpPr>
        <p:spPr>
          <a:xfrm>
            <a:off x="11384280" y="6565392"/>
            <a:ext cx="80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890A8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890A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2026-10-01T13:25:44Z</dcterms:created>
  <dc:creator>OpenAI</dc:creator>
</cp:coreProperties>
</file>