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gSIDYpip9VBLKPw5g0Gsat6Knx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BF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85800" y="123444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1F4E79"/>
                </a:solidFill>
              </a:rPr>
              <a:t>                 </a:t>
            </a:r>
            <a:r>
              <a:rPr b="1" i="0" lang="en-US" sz="36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Workload Identity Federation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713225" y="1938525"/>
            <a:ext cx="9966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</a:rPr>
              <a:t>A simple teach-back using Keycloak, Microsoft Entra ID, and the Care Access Navigator project</a:t>
            </a:r>
            <a:endParaRPr b="1" i="0" sz="1700" u="none" cap="none" strike="noStrike">
              <a:solidFill>
                <a:schemeClr val="dk1"/>
              </a:solidFill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13232" y="2880360"/>
            <a:ext cx="2743200" cy="914400"/>
          </a:xfrm>
          <a:prstGeom prst="roundRect">
            <a:avLst>
              <a:gd fmla="val 8000" name="adj"/>
            </a:avLst>
          </a:prstGeom>
          <a:solidFill>
            <a:srgbClr val="EAF3F8"/>
          </a:solidFill>
          <a:ln cap="flat" cmpd="sng" w="12700">
            <a:solidFill>
              <a:srgbClr val="EAF3F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999999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822960" y="2971800"/>
            <a:ext cx="252374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Keycloak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identity proof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" name="Google Shape;20;p1"/>
          <p:cNvCxnSpPr/>
          <p:nvPr/>
        </p:nvCxnSpPr>
        <p:spPr>
          <a:xfrm>
            <a:off x="3611880" y="3337560"/>
            <a:ext cx="1051560" cy="0"/>
          </a:xfrm>
          <a:prstGeom prst="straightConnector1">
            <a:avLst/>
          </a:prstGeom>
          <a:noFill/>
          <a:ln cap="flat" cmpd="sng" w="25400">
            <a:solidFill>
              <a:srgbClr val="2F75B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" name="Google Shape;21;p1"/>
          <p:cNvSpPr/>
          <p:nvPr/>
        </p:nvSpPr>
        <p:spPr>
          <a:xfrm>
            <a:off x="4800600" y="2880360"/>
            <a:ext cx="2834640" cy="914400"/>
          </a:xfrm>
          <a:prstGeom prst="roundRect">
            <a:avLst>
              <a:gd fmla="val 8000" name="adj"/>
            </a:avLst>
          </a:prstGeom>
          <a:solidFill>
            <a:srgbClr val="EAF3F8"/>
          </a:solidFill>
          <a:ln cap="flat" cmpd="sng" w="12700">
            <a:solidFill>
              <a:srgbClr val="EAF3F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999999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4910328" y="2971800"/>
            <a:ext cx="261518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Microsoft Entra ID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trust + exchange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" name="Google Shape;23;p1"/>
          <p:cNvCxnSpPr/>
          <p:nvPr/>
        </p:nvCxnSpPr>
        <p:spPr>
          <a:xfrm>
            <a:off x="7772400" y="3337560"/>
            <a:ext cx="1051560" cy="0"/>
          </a:xfrm>
          <a:prstGeom prst="straightConnector1">
            <a:avLst/>
          </a:prstGeom>
          <a:noFill/>
          <a:ln cap="flat" cmpd="sng" w="25400">
            <a:solidFill>
              <a:srgbClr val="2F75B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" name="Google Shape;24;p1"/>
          <p:cNvSpPr/>
          <p:nvPr/>
        </p:nvSpPr>
        <p:spPr>
          <a:xfrm>
            <a:off x="8961120" y="2880360"/>
            <a:ext cx="2377440" cy="914400"/>
          </a:xfrm>
          <a:prstGeom prst="roundRect">
            <a:avLst>
              <a:gd fmla="val 8000" name="adj"/>
            </a:avLst>
          </a:prstGeom>
          <a:solidFill>
            <a:srgbClr val="EAF3F8"/>
          </a:solidFill>
          <a:ln cap="flat" cmpd="sng" w="12700">
            <a:solidFill>
              <a:srgbClr val="EAF3F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999999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9070848" y="2971800"/>
            <a:ext cx="215798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Azure resource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temporary access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1097280" y="4892040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Core message: Do not share the password. Trust the identity.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94360" y="6528816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Care Access Navigator | Workload Identity Federation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11292840" y="6528816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BFD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/>
        </p:nvSpPr>
        <p:spPr>
          <a:xfrm>
            <a:off x="502920" y="320040"/>
            <a:ext cx="1120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22B4D"/>
                </a:solidFill>
              </a:rPr>
              <a:t>           </a:t>
            </a:r>
            <a:r>
              <a:rPr b="1" i="0" lang="en-US" sz="2800" u="none" cap="none" strike="noStrike">
                <a:solidFill>
                  <a:srgbClr val="122B4D"/>
                </a:solidFill>
              </a:rPr>
              <a:t>Before the flow: what do these words mean?</a:t>
            </a:r>
            <a:endParaRPr/>
          </a:p>
        </p:txBody>
      </p:sp>
      <p:sp>
        <p:nvSpPr>
          <p:cNvPr id="34" name="Google Shape;34;p2"/>
          <p:cNvSpPr txBox="1"/>
          <p:nvPr/>
        </p:nvSpPr>
        <p:spPr>
          <a:xfrm>
            <a:off x="530352" y="868680"/>
            <a:ext cx="10789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             </a:t>
            </a:r>
            <a:r>
              <a:rPr b="1" i="0" lang="en-US" sz="1500" u="none" cap="none" strike="noStrike">
                <a:solidFill>
                  <a:schemeClr val="dk1"/>
                </a:solidFill>
              </a:rPr>
              <a:t>Workload Identity Federation = software proving who it is through a trusted identity system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94360" y="1508760"/>
            <a:ext cx="3520440" cy="205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DBE2E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164575" spcFirstLastPara="1" rIns="1645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22B4D"/>
                </a:solidFill>
              </a:rPr>
              <a:t>Workload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65261"/>
                </a:solidFill>
                <a:latin typeface="Arial"/>
                <a:ea typeface="Arial"/>
                <a:cs typeface="Arial"/>
                <a:sym typeface="Arial"/>
              </a:rPr>
              <a:t>Software doing work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586374"/>
                </a:solidFill>
                <a:latin typeface="Arial"/>
                <a:ea typeface="Arial"/>
                <a:cs typeface="Arial"/>
                <a:sym typeface="Arial"/>
              </a:rPr>
              <a:t>Billing app, HR app, scheduling service, backend API</a:t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594360" y="1508760"/>
            <a:ext cx="3520440" cy="164592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343400" y="1508760"/>
            <a:ext cx="3520440" cy="205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DBE2E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164575" spcFirstLastPara="1" rIns="1645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22B4D"/>
                </a:solidFill>
              </a:rPr>
              <a:t>Identity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65261"/>
                </a:solidFill>
                <a:latin typeface="Arial"/>
                <a:ea typeface="Arial"/>
                <a:cs typeface="Arial"/>
                <a:sym typeface="Arial"/>
              </a:rPr>
              <a:t>Who or what is requesting access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586374"/>
                </a:solidFill>
                <a:latin typeface="Arial"/>
                <a:ea typeface="Arial"/>
                <a:cs typeface="Arial"/>
                <a:sym typeface="Arial"/>
              </a:rPr>
              <a:t>"This is the Billing Service" or "This is a Healthline employee"</a:t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343400" y="1508760"/>
            <a:ext cx="3520440" cy="16459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092440" y="1508760"/>
            <a:ext cx="3520440" cy="205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DBE2E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164575" spcFirstLastPara="1" rIns="1645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22B4D"/>
                </a:solidFill>
                <a:latin typeface="Calibri"/>
                <a:ea typeface="Calibri"/>
                <a:cs typeface="Calibri"/>
                <a:sym typeface="Calibri"/>
              </a:rPr>
              <a:t>Federation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65261"/>
                </a:solidFill>
                <a:latin typeface="Arial"/>
                <a:ea typeface="Arial"/>
                <a:cs typeface="Arial"/>
                <a:sym typeface="Arial"/>
              </a:rPr>
              <a:t>Trust between identity systems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586374"/>
                </a:solidFill>
                <a:latin typeface="Arial"/>
                <a:ea typeface="Arial"/>
                <a:cs typeface="Arial"/>
                <a:sym typeface="Arial"/>
              </a:rPr>
              <a:t>Microsoft Entra trusts Keycloak's proof for a specific workload</a:t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8092440" y="1508760"/>
            <a:ext cx="3520440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914400" y="3913632"/>
            <a:ext cx="10332720" cy="960120"/>
          </a:xfrm>
          <a:prstGeom prst="roundRect">
            <a:avLst>
              <a:gd fmla="val 16667" name="adj"/>
            </a:avLst>
          </a:prstGeom>
          <a:solidFill>
            <a:srgbClr val="E8F3FF"/>
          </a:solidFill>
          <a:ln cap="flat" cmpd="sng" w="12700">
            <a:solidFill>
              <a:srgbClr val="BCD7F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56025" spcFirstLastPara="1" rIns="256025" wrap="square" tIns="155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22B4D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b="1" lang="en-US" sz="1500">
                <a:solidFill>
                  <a:srgbClr val="122B4D"/>
                </a:solidFill>
              </a:rPr>
              <a:t>my </a:t>
            </a:r>
            <a:r>
              <a:rPr b="1" i="0" lang="en-US" sz="1500" u="none" cap="none" strike="noStrike">
                <a:solidFill>
                  <a:srgbClr val="122B4D"/>
                </a:solidFill>
                <a:latin typeface="Arial"/>
                <a:ea typeface="Arial"/>
                <a:cs typeface="Arial"/>
                <a:sym typeface="Arial"/>
              </a:rPr>
              <a:t>project: </a:t>
            </a:r>
            <a:r>
              <a:rPr b="0" i="0" lang="en-US" sz="1500" u="none" cap="none" strike="noStrike">
                <a:solidFill>
                  <a:srgbClr val="122B4D"/>
                </a:solidFill>
                <a:latin typeface="Arial"/>
                <a:ea typeface="Arial"/>
                <a:cs typeface="Arial"/>
                <a:sym typeface="Arial"/>
              </a:rPr>
              <a:t>Keycloak proves the workload identity → Microsoft Entra verifies that proof → Azure grants temporary access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65261"/>
                </a:solidFill>
                <a:latin typeface="Arial"/>
                <a:ea typeface="Arial"/>
                <a:cs typeface="Arial"/>
                <a:sym typeface="Arial"/>
              </a:rPr>
              <a:t>Example: Billing application updates patient billing records in Azure without carrying a permanent Azure client secret.</a:t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777240" y="5532120"/>
            <a:ext cx="10698480" cy="502920"/>
          </a:xfrm>
          <a:prstGeom prst="roundRect">
            <a:avLst>
              <a:gd fmla="val 16667" name="adj"/>
            </a:avLst>
          </a:prstGeom>
          <a:solidFill>
            <a:srgbClr val="122B4D"/>
          </a:solidFill>
          <a:ln>
            <a:noFill/>
          </a:ln>
        </p:spPr>
        <p:txBody>
          <a:bodyPr anchorCtr="0" anchor="ctr" bIns="45700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Simple takeaway: Don’t share a permanent password — trust verified identity proof.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/>
          <p:nvPr/>
        </p:nvSpPr>
        <p:spPr>
          <a:xfrm>
            <a:off x="594360" y="320040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1F4E79"/>
                </a:solidFill>
              </a:rPr>
              <a:t> </a:t>
            </a:r>
            <a:r>
              <a:rPr b="1" lang="en-US" sz="2600">
                <a:solidFill>
                  <a:srgbClr val="1F4E79"/>
                </a:solidFill>
              </a:rPr>
              <a:t>T</a:t>
            </a:r>
            <a:r>
              <a:rPr b="1" i="0" lang="en-US" sz="2600" u="none" cap="none" strike="noStrike">
                <a:solidFill>
                  <a:srgbClr val="1F4E79"/>
                </a:solidFill>
              </a:rPr>
              <a:t>he problem is..</a:t>
            </a:r>
            <a:endParaRPr i="0" sz="2600" u="none" cap="none" strike="noStrike">
              <a:solidFill>
                <a:schemeClr val="dk1"/>
              </a:solidFill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792317" y="795522"/>
            <a:ext cx="10607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Arial"/>
              <a:buNone/>
            </a:pPr>
            <a:r>
              <a:rPr b="1" lang="en-US" sz="1550">
                <a:solidFill>
                  <a:schemeClr val="dk1"/>
                </a:solidFill>
              </a:rPr>
              <a:t>                                </a:t>
            </a:r>
            <a:r>
              <a:rPr b="1" lang="en-US" sz="1550" u="none" cap="none" strike="noStrike">
                <a:solidFill>
                  <a:schemeClr val="dk1"/>
                </a:solidFill>
              </a:rPr>
              <a:t>Cloud applications need to log in too, even when no human is present</a:t>
            </a:r>
            <a:endParaRPr b="1" sz="1550" u="none" cap="none" strike="noStrike">
              <a:solidFill>
                <a:schemeClr val="dk1"/>
              </a:solidFill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731520" y="1417320"/>
            <a:ext cx="2743200" cy="868680"/>
          </a:xfrm>
          <a:prstGeom prst="roundRect">
            <a:avLst>
              <a:gd fmla="val 8421" name="adj"/>
            </a:avLst>
          </a:prstGeom>
          <a:solidFill>
            <a:srgbClr val="EAF3F8"/>
          </a:solidFill>
          <a:ln cap="flat" cmpd="sng" w="12700">
            <a:solidFill>
              <a:srgbClr val="EAF3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841248" y="1508760"/>
            <a:ext cx="252374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Care Access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Navigator backend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" name="Google Shape;52;p3"/>
          <p:cNvCxnSpPr/>
          <p:nvPr/>
        </p:nvCxnSpPr>
        <p:spPr>
          <a:xfrm>
            <a:off x="3611880" y="1856232"/>
            <a:ext cx="960120" cy="0"/>
          </a:xfrm>
          <a:prstGeom prst="straightConnector1">
            <a:avLst/>
          </a:prstGeom>
          <a:noFill/>
          <a:ln cap="flat" cmpd="sng" w="25400">
            <a:solidFill>
              <a:srgbClr val="B91C1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3" name="Google Shape;53;p3"/>
          <p:cNvSpPr/>
          <p:nvPr/>
        </p:nvSpPr>
        <p:spPr>
          <a:xfrm>
            <a:off x="4709160" y="1417320"/>
            <a:ext cx="2468880" cy="868680"/>
          </a:xfrm>
          <a:prstGeom prst="roundRect">
            <a:avLst>
              <a:gd fmla="val 8421" name="adj"/>
            </a:avLst>
          </a:prstGeom>
          <a:solidFill>
            <a:srgbClr val="FEE2E2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4818888" y="1508760"/>
            <a:ext cx="22494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Stored Azure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client secret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" name="Google Shape;55;p3"/>
          <p:cNvCxnSpPr/>
          <p:nvPr/>
        </p:nvCxnSpPr>
        <p:spPr>
          <a:xfrm>
            <a:off x="7315200" y="1856232"/>
            <a:ext cx="960120" cy="0"/>
          </a:xfrm>
          <a:prstGeom prst="straightConnector1">
            <a:avLst/>
          </a:prstGeom>
          <a:noFill/>
          <a:ln cap="flat" cmpd="sng" w="25400">
            <a:solidFill>
              <a:srgbClr val="B91C1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6" name="Google Shape;56;p3"/>
          <p:cNvSpPr/>
          <p:nvPr/>
        </p:nvSpPr>
        <p:spPr>
          <a:xfrm>
            <a:off x="8412480" y="1417320"/>
            <a:ext cx="2743200" cy="868680"/>
          </a:xfrm>
          <a:prstGeom prst="roundRect">
            <a:avLst>
              <a:gd fmla="val 8421" name="adj"/>
            </a:avLst>
          </a:prstGeom>
          <a:solidFill>
            <a:srgbClr val="EAF3F8"/>
          </a:solidFill>
          <a:ln cap="flat" cmpd="sng" w="12700">
            <a:solidFill>
              <a:srgbClr val="EAF3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8522208" y="1508760"/>
            <a:ext cx="252374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Azure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resource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868680" y="2971800"/>
            <a:ext cx="10241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This works, but now the secret must be stored, protected, rotated, and monitored.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1051560" y="3886200"/>
            <a:ext cx="2011680" cy="640080"/>
          </a:xfrm>
          <a:prstGeom prst="roundRect">
            <a:avLst>
              <a:gd fmla="val 11429" name="adj"/>
            </a:avLst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1161288" y="3977640"/>
            <a:ext cx="17922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Could leak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429000" y="3886200"/>
            <a:ext cx="2011680" cy="640080"/>
          </a:xfrm>
          <a:prstGeom prst="roundRect">
            <a:avLst>
              <a:gd fmla="val 11429" name="adj"/>
            </a:avLst>
          </a:prstGeom>
          <a:solidFill>
            <a:srgbClr val="FFF7E6"/>
          </a:solidFill>
          <a:ln cap="flat" cmpd="sng" w="12700">
            <a:solidFill>
              <a:srgbClr val="FFF7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3538728" y="3977640"/>
            <a:ext cx="17922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Could expire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806440" y="3886200"/>
            <a:ext cx="2011680" cy="640080"/>
          </a:xfrm>
          <a:prstGeom prst="roundRect">
            <a:avLst>
              <a:gd fmla="val 11429" name="adj"/>
            </a:avLst>
          </a:prstGeom>
          <a:solidFill>
            <a:srgbClr val="FFF7E6"/>
          </a:solidFill>
          <a:ln cap="flat" cmpd="sng" w="12700">
            <a:solidFill>
              <a:srgbClr val="FFF7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5916168" y="3977640"/>
            <a:ext cx="17922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Needs rotation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8183880" y="3886200"/>
            <a:ext cx="2286000" cy="640080"/>
          </a:xfrm>
          <a:prstGeom prst="roundRect">
            <a:avLst>
              <a:gd fmla="val 11429" name="adj"/>
            </a:avLst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8293608" y="3977640"/>
            <a:ext cx="20665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Could be copied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97280" y="5257800"/>
            <a:ext cx="9875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Teaching point: A permanent secret becomes another security risk.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94360" y="6528816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Care Access Navigator | Workload Identity Federation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11292840" y="6528816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/>
          <p:nvPr/>
        </p:nvSpPr>
        <p:spPr>
          <a:xfrm>
            <a:off x="594360" y="320040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F4E79"/>
                </a:solidFill>
              </a:rPr>
              <a:t>How it works ?</a:t>
            </a:r>
            <a:endParaRPr i="0" sz="2600" u="none" cap="none" strike="noStrike">
              <a:solidFill>
                <a:schemeClr val="dk1"/>
              </a:solidFill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621792" y="804672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Arial"/>
              <a:buNone/>
            </a:pPr>
            <a:r>
              <a:rPr b="1" lang="en-US" sz="1550">
                <a:solidFill>
                  <a:schemeClr val="dk1"/>
                </a:solidFill>
              </a:rPr>
              <a:t>                                                Taking example from Care Access Navigator Project</a:t>
            </a:r>
            <a:endParaRPr b="1" i="0" sz="1550" u="none" cap="none" strike="noStrike">
              <a:solidFill>
                <a:schemeClr val="dk1"/>
              </a:solidFill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777240" y="1325880"/>
            <a:ext cx="2788920" cy="1143000"/>
          </a:xfrm>
          <a:prstGeom prst="roundRect">
            <a:avLst>
              <a:gd fmla="val 6400" name="adj"/>
            </a:avLst>
          </a:prstGeom>
          <a:solidFill>
            <a:srgbClr val="EAF3F8"/>
          </a:solidFill>
          <a:ln cap="flat" cmpd="sng" w="12700">
            <a:solidFill>
              <a:srgbClr val="EAF3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886968" y="1417320"/>
            <a:ext cx="2569464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Department A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Badge Office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(Keycloak)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" name="Google Shape;79;p4"/>
          <p:cNvCxnSpPr/>
          <p:nvPr/>
        </p:nvCxnSpPr>
        <p:spPr>
          <a:xfrm>
            <a:off x="3703320" y="1874520"/>
            <a:ext cx="914400" cy="0"/>
          </a:xfrm>
          <a:prstGeom prst="straightConnector1">
            <a:avLst/>
          </a:prstGeom>
          <a:noFill/>
          <a:ln cap="flat" cmpd="sng" w="25400">
            <a:solidFill>
              <a:srgbClr val="2F75B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0" name="Google Shape;80;p4"/>
          <p:cNvSpPr/>
          <p:nvPr/>
        </p:nvSpPr>
        <p:spPr>
          <a:xfrm>
            <a:off x="4754880" y="1325880"/>
            <a:ext cx="2606040" cy="1143000"/>
          </a:xfrm>
          <a:prstGeom prst="roundRect">
            <a:avLst>
              <a:gd fmla="val 6400" name="adj"/>
            </a:avLst>
          </a:prstGeom>
          <a:solidFill>
            <a:srgbClr val="E8F5E9"/>
          </a:solidFill>
          <a:ln cap="flat" cmpd="sng" w="12700">
            <a:solidFill>
              <a:srgbClr val="E8F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4864608" y="1417320"/>
            <a:ext cx="2386584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Official badge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(identity token)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" name="Google Shape;82;p4"/>
          <p:cNvCxnSpPr/>
          <p:nvPr/>
        </p:nvCxnSpPr>
        <p:spPr>
          <a:xfrm>
            <a:off x="7498080" y="1874520"/>
            <a:ext cx="914400" cy="0"/>
          </a:xfrm>
          <a:prstGeom prst="straightConnector1">
            <a:avLst/>
          </a:prstGeom>
          <a:noFill/>
          <a:ln cap="flat" cmpd="sng" w="25400">
            <a:solidFill>
              <a:srgbClr val="2F75B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3" name="Google Shape;83;p4"/>
          <p:cNvSpPr/>
          <p:nvPr/>
        </p:nvSpPr>
        <p:spPr>
          <a:xfrm>
            <a:off x="8549640" y="1325880"/>
            <a:ext cx="2788920" cy="1143000"/>
          </a:xfrm>
          <a:prstGeom prst="roundRect">
            <a:avLst>
              <a:gd fmla="val 6400" name="adj"/>
            </a:avLst>
          </a:prstGeom>
          <a:solidFill>
            <a:srgbClr val="EAF3F8"/>
          </a:solidFill>
          <a:ln cap="flat" cmpd="sng" w="12700">
            <a:solidFill>
              <a:srgbClr val="EAF3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8659368" y="1417320"/>
            <a:ext cx="2569464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Department B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Security Desk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(Entra ID)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914400" y="3337560"/>
            <a:ext cx="2834640" cy="73152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1024128" y="3429000"/>
            <a:ext cx="26151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Checks who issued it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3886200" y="3337560"/>
            <a:ext cx="2834640" cy="73152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3995928" y="3429000"/>
            <a:ext cx="26151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Checks if it is valid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6858000" y="3337560"/>
            <a:ext cx="3200400" cy="73152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6967728" y="3429000"/>
            <a:ext cx="298094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Gives temporary room access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822960" y="5074920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Federation = one trusted system accepts identity proof from another trusted system.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94360" y="6528816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Care Access Navigator | Workload Identity Federation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11292840" y="6528816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/>
          <p:nvPr/>
        </p:nvSpPr>
        <p:spPr>
          <a:xfrm>
            <a:off x="594360" y="320040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1F4E79"/>
                </a:solidFill>
              </a:rPr>
              <a:t>Project example: Keycloak + Entra ID</a:t>
            </a:r>
            <a:endParaRPr i="0" sz="2600" u="none" cap="none" strike="noStrike">
              <a:solidFill>
                <a:schemeClr val="dk1"/>
              </a:solidFill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594342" y="980522"/>
            <a:ext cx="10607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Arial"/>
              <a:buNone/>
            </a:pPr>
            <a:r>
              <a:rPr b="1" i="1" lang="en-US" sz="1550">
                <a:solidFill>
                  <a:schemeClr val="dk1"/>
                </a:solidFill>
              </a:rPr>
              <a:t>                                                 </a:t>
            </a:r>
            <a:r>
              <a:rPr b="1" i="1" lang="en-US" sz="1550" u="none" cap="none" strike="noStrike">
                <a:solidFill>
                  <a:schemeClr val="dk1"/>
                </a:solidFill>
              </a:rPr>
              <a:t>How Care Access Navigator workload federation works</a:t>
            </a:r>
            <a:endParaRPr b="1" i="0" sz="1550" u="none" cap="none" strike="noStrike">
              <a:solidFill>
                <a:schemeClr val="dk1"/>
              </a:solidFill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594360" y="1920240"/>
            <a:ext cx="1828800" cy="868680"/>
          </a:xfrm>
          <a:prstGeom prst="roundRect">
            <a:avLst>
              <a:gd fmla="val 8421" name="adj"/>
            </a:avLst>
          </a:prstGeom>
          <a:solidFill>
            <a:srgbClr val="EAF3F8"/>
          </a:solidFill>
          <a:ln cap="flat" cmpd="sng" w="12700">
            <a:solidFill>
              <a:srgbClr val="EAF3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704088" y="2011680"/>
            <a:ext cx="160934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Care Access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5"/>
          <p:cNvCxnSpPr/>
          <p:nvPr/>
        </p:nvCxnSpPr>
        <p:spPr>
          <a:xfrm>
            <a:off x="2542032" y="2359152"/>
            <a:ext cx="731520" cy="0"/>
          </a:xfrm>
          <a:prstGeom prst="straightConnector1">
            <a:avLst/>
          </a:prstGeom>
          <a:noFill/>
          <a:ln cap="flat" cmpd="sng" w="25400">
            <a:solidFill>
              <a:srgbClr val="2F75B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4" name="Google Shape;104;p5"/>
          <p:cNvSpPr/>
          <p:nvPr/>
        </p:nvSpPr>
        <p:spPr>
          <a:xfrm>
            <a:off x="3401568" y="1920240"/>
            <a:ext cx="1645920" cy="868680"/>
          </a:xfrm>
          <a:prstGeom prst="roundRect">
            <a:avLst>
              <a:gd fmla="val 8421" name="adj"/>
            </a:avLst>
          </a:prstGeom>
          <a:solidFill>
            <a:srgbClr val="E8F5E9"/>
          </a:solidFill>
          <a:ln cap="flat" cmpd="sng" w="12700">
            <a:solidFill>
              <a:srgbClr val="E8F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3511296" y="2011680"/>
            <a:ext cx="142646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Keycloak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" name="Google Shape;106;p5"/>
          <p:cNvCxnSpPr/>
          <p:nvPr/>
        </p:nvCxnSpPr>
        <p:spPr>
          <a:xfrm>
            <a:off x="5166360" y="2359152"/>
            <a:ext cx="868680" cy="0"/>
          </a:xfrm>
          <a:prstGeom prst="straightConnector1">
            <a:avLst/>
          </a:prstGeom>
          <a:noFill/>
          <a:ln cap="flat" cmpd="sng" w="25400">
            <a:solidFill>
              <a:srgbClr val="2F75B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7" name="Google Shape;107;p5"/>
          <p:cNvSpPr/>
          <p:nvPr/>
        </p:nvSpPr>
        <p:spPr>
          <a:xfrm>
            <a:off x="6172200" y="1920240"/>
            <a:ext cx="2103120" cy="868680"/>
          </a:xfrm>
          <a:prstGeom prst="roundRect">
            <a:avLst>
              <a:gd fmla="val 8421" name="adj"/>
            </a:avLst>
          </a:prstGeom>
          <a:solidFill>
            <a:srgbClr val="EAF3F8"/>
          </a:solidFill>
          <a:ln cap="flat" cmpd="sng" w="12700">
            <a:solidFill>
              <a:srgbClr val="EAF3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6281928" y="2011680"/>
            <a:ext cx="188366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Entra ID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validates trust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p5"/>
          <p:cNvCxnSpPr/>
          <p:nvPr/>
        </p:nvCxnSpPr>
        <p:spPr>
          <a:xfrm>
            <a:off x="8394192" y="2359152"/>
            <a:ext cx="749808" cy="0"/>
          </a:xfrm>
          <a:prstGeom prst="straightConnector1">
            <a:avLst/>
          </a:prstGeom>
          <a:noFill/>
          <a:ln cap="flat" cmpd="sng" w="25400">
            <a:solidFill>
              <a:srgbClr val="2F75B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0" name="Google Shape;110;p5"/>
          <p:cNvSpPr/>
          <p:nvPr/>
        </p:nvSpPr>
        <p:spPr>
          <a:xfrm>
            <a:off x="9281160" y="1920240"/>
            <a:ext cx="2148840" cy="868680"/>
          </a:xfrm>
          <a:prstGeom prst="roundRect">
            <a:avLst>
              <a:gd fmla="val 8421" name="adj"/>
            </a:avLst>
          </a:prstGeom>
          <a:solidFill>
            <a:srgbClr val="EAF3F8"/>
          </a:solidFill>
          <a:ln cap="flat" cmpd="sng" w="12700">
            <a:solidFill>
              <a:srgbClr val="EAF3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9390888" y="2011680"/>
            <a:ext cx="192938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Azure resource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limited access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3154680" y="3246120"/>
            <a:ext cx="2057400" cy="384048"/>
          </a:xfrm>
          <a:prstGeom prst="roundRect">
            <a:avLst>
              <a:gd fmla="val 19048" name="adj"/>
            </a:avLst>
          </a:prstGeom>
          <a:solidFill>
            <a:srgbClr val="E8F5E9"/>
          </a:solidFill>
          <a:ln cap="flat" cmpd="sng" w="12700">
            <a:solidFill>
              <a:srgbClr val="E8F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3264408" y="3337560"/>
            <a:ext cx="18379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Keycloak token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6199632" y="3246120"/>
            <a:ext cx="2148840" cy="384048"/>
          </a:xfrm>
          <a:prstGeom prst="roundRect">
            <a:avLst>
              <a:gd fmla="val 19048" name="adj"/>
            </a:avLst>
          </a:prstGeom>
          <a:solidFill>
            <a:srgbClr val="EAF3F8"/>
          </a:solidFill>
          <a:ln cap="flat" cmpd="sng" w="12700">
            <a:solidFill>
              <a:srgbClr val="EAF3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6309360" y="3337560"/>
            <a:ext cx="19293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Azure access token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1005840" y="4754880"/>
            <a:ext cx="10149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Keycloak proves who the workload is. Entra decides whether to trust it and what Azure access it gets.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594360" y="6528816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Care Access Navigator | Workload Identity Federation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11292840" y="6528816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/>
          <p:nvPr/>
        </p:nvSpPr>
        <p:spPr>
          <a:xfrm>
            <a:off x="594360" y="320040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1F4E79"/>
                </a:solidFill>
              </a:rPr>
              <a:t>What Entra checks ?</a:t>
            </a:r>
            <a:endParaRPr i="0" sz="2600" u="none" cap="none" strike="noStrike">
              <a:solidFill>
                <a:schemeClr val="dk1"/>
              </a:solidFill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621792" y="804672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Arial"/>
              <a:buNone/>
            </a:pPr>
            <a:r>
              <a:rPr b="1" i="1" lang="en-US" sz="1550">
                <a:solidFill>
                  <a:schemeClr val="dk1"/>
                </a:solidFill>
              </a:rPr>
              <a:t>                                     </a:t>
            </a:r>
            <a:r>
              <a:rPr b="1" i="1" lang="en-US" sz="1550" u="none" cap="none" strike="noStrike">
                <a:solidFill>
                  <a:schemeClr val="dk1"/>
                </a:solidFill>
              </a:rPr>
              <a:t>The trust decision can be explained with three simple questions</a:t>
            </a:r>
            <a:endParaRPr b="1" i="0" sz="1550" u="none" cap="none" strike="noStrike">
              <a:solidFill>
                <a:schemeClr val="dk1"/>
              </a:solidFill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868680" y="1417320"/>
            <a:ext cx="3017520" cy="1097280"/>
          </a:xfrm>
          <a:prstGeom prst="roundRect">
            <a:avLst>
              <a:gd fmla="val 6667" name="adj"/>
            </a:avLst>
          </a:prstGeom>
          <a:solidFill>
            <a:srgbClr val="EAF3F8"/>
          </a:solidFill>
          <a:ln cap="flat" cmpd="sng" w="12700">
            <a:solidFill>
              <a:srgbClr val="EAF3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978408" y="1508760"/>
            <a:ext cx="279806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Issuer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Who issued this token?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Keycloak realm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4480560" y="1417320"/>
            <a:ext cx="3017520" cy="1097280"/>
          </a:xfrm>
          <a:prstGeom prst="roundRect">
            <a:avLst>
              <a:gd fmla="val 6667" name="adj"/>
            </a:avLst>
          </a:prstGeom>
          <a:solidFill>
            <a:srgbClr val="EAF3F8"/>
          </a:solidFill>
          <a:ln cap="flat" cmpd="sng" w="12700">
            <a:solidFill>
              <a:srgbClr val="EAF3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4590288" y="1508760"/>
            <a:ext cx="279806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Subject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Which workload is this?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Care Access backend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8092440" y="1417320"/>
            <a:ext cx="3017520" cy="1097280"/>
          </a:xfrm>
          <a:prstGeom prst="roundRect">
            <a:avLst>
              <a:gd fmla="val 6667" name="adj"/>
            </a:avLst>
          </a:prstGeom>
          <a:solidFill>
            <a:srgbClr val="EAF3F8"/>
          </a:solidFill>
          <a:ln cap="flat" cmpd="sng" w="12700">
            <a:solidFill>
              <a:srgbClr val="EAF3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8202168" y="1508760"/>
            <a:ext cx="2798064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Audience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Who is this token for?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Entra token exchange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960120" y="3337560"/>
            <a:ext cx="10241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If these values match the federated credential, Entra can exchange the Keycloak proof for an Azure access token.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2880360" y="4572000"/>
            <a:ext cx="2103120" cy="640080"/>
          </a:xfrm>
          <a:prstGeom prst="roundRect">
            <a:avLst>
              <a:gd fmla="val 11429" name="adj"/>
            </a:avLst>
          </a:prstGeom>
          <a:solidFill>
            <a:srgbClr val="E8F5E9"/>
          </a:solidFill>
          <a:ln cap="flat" cmpd="sng" w="12700">
            <a:solidFill>
              <a:srgbClr val="E8F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2990088" y="4663440"/>
            <a:ext cx="1883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Match = trust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6720840" y="4572000"/>
            <a:ext cx="2103120" cy="640080"/>
          </a:xfrm>
          <a:prstGeom prst="roundRect">
            <a:avLst>
              <a:gd fmla="val 11429" name="adj"/>
            </a:avLst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6830568" y="4663440"/>
            <a:ext cx="1883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Mismatch = deny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594360" y="6528816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Care Access Navigator | Workload Identity Federation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11292840" y="6528816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/>
          <p:nvPr/>
        </p:nvSpPr>
        <p:spPr>
          <a:xfrm>
            <a:off x="609447" y="265165"/>
            <a:ext cx="10972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1F4E79"/>
                </a:solidFill>
              </a:rPr>
              <a:t>Why it is important ?</a:t>
            </a:r>
            <a:endParaRPr i="0" sz="2600" u="none" cap="none" strike="noStrike">
              <a:solidFill>
                <a:schemeClr val="dk1"/>
              </a:solidFill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621792" y="804672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Arial"/>
              <a:buNone/>
            </a:pPr>
            <a:r>
              <a:rPr b="1" i="1" lang="en-US" sz="1550">
                <a:solidFill>
                  <a:schemeClr val="dk1"/>
                </a:solidFill>
              </a:rPr>
              <a:t>                               </a:t>
            </a:r>
            <a:r>
              <a:rPr b="1" i="1" lang="en-US" sz="1550" u="none" cap="none" strike="noStrike">
                <a:solidFill>
                  <a:schemeClr val="dk1"/>
                </a:solidFill>
              </a:rPr>
              <a:t>It changes the model from stored-secret trust to verified-identity trust</a:t>
            </a:r>
            <a:endParaRPr b="1" i="0" sz="1550" u="none" cap="none" strike="noStrike">
              <a:solidFill>
                <a:schemeClr val="dk1"/>
              </a:solidFill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868680" y="1417320"/>
            <a:ext cx="2743200" cy="777240"/>
          </a:xfrm>
          <a:prstGeom prst="roundRect">
            <a:avLst>
              <a:gd fmla="val 9412" name="adj"/>
            </a:avLst>
          </a:prstGeom>
          <a:solidFill>
            <a:srgbClr val="E8F5E9"/>
          </a:solidFill>
          <a:ln cap="flat" cmpd="sng" w="12700">
            <a:solidFill>
              <a:srgbClr val="E8F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978408" y="1508760"/>
            <a:ext cx="252374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Less secret exposure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663440" y="1417320"/>
            <a:ext cx="2743200" cy="777240"/>
          </a:xfrm>
          <a:prstGeom prst="roundRect">
            <a:avLst>
              <a:gd fmla="val 9412" name="adj"/>
            </a:avLst>
          </a:prstGeom>
          <a:solidFill>
            <a:srgbClr val="E8F5E9"/>
          </a:solidFill>
          <a:ln cap="flat" cmpd="sng" w="12700">
            <a:solidFill>
              <a:srgbClr val="E8F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4773168" y="1508760"/>
            <a:ext cx="252374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Temporary access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8458200" y="1417320"/>
            <a:ext cx="2743200" cy="777240"/>
          </a:xfrm>
          <a:prstGeom prst="roundRect">
            <a:avLst>
              <a:gd fmla="val 9412" name="adj"/>
            </a:avLst>
          </a:prstGeom>
          <a:solidFill>
            <a:srgbClr val="E8F5E9"/>
          </a:solidFill>
          <a:ln cap="flat" cmpd="sng" w="12700">
            <a:solidFill>
              <a:srgbClr val="E8F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8567928" y="1508760"/>
            <a:ext cx="252374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Least privilege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1005840" y="3063240"/>
            <a:ext cx="4389120" cy="1051560"/>
          </a:xfrm>
          <a:prstGeom prst="roundRect">
            <a:avLst>
              <a:gd fmla="val 6957" name="adj"/>
            </a:avLst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1115568" y="3154680"/>
            <a:ext cx="416966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Old way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Application carries a permanent Azure secret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6812280" y="3063240"/>
            <a:ext cx="4389120" cy="1051560"/>
          </a:xfrm>
          <a:prstGeom prst="roundRect">
            <a:avLst>
              <a:gd fmla="val 6957" name="adj"/>
            </a:avLst>
          </a:prstGeom>
          <a:solidFill>
            <a:srgbClr val="EAF3F8"/>
          </a:solidFill>
          <a:ln cap="flat" cmpd="sng" w="12700">
            <a:solidFill>
              <a:srgbClr val="EAF3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6922008" y="3154680"/>
            <a:ext cx="416966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Federated way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Application presents trusted identity proof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914400" y="5074920"/>
            <a:ext cx="10332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For a healthcare-related project, reducing unmanaged secrets helps protect sensitive workflows and limits the blast radius if something goes wrong.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594360" y="6528816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Care Access Navigator | Workload Identity Federation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11292840" y="6528816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/>
          <p:nvPr/>
        </p:nvSpPr>
        <p:spPr>
          <a:xfrm>
            <a:off x="594360" y="320040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F4E79"/>
                </a:solidFill>
              </a:rPr>
              <a:t>   What is what?</a:t>
            </a:r>
            <a:endParaRPr i="0" sz="2600" u="none" cap="none" strike="noStrike">
              <a:solidFill>
                <a:schemeClr val="dk1"/>
              </a:solidFill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621792" y="804672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Arial"/>
              <a:buNone/>
            </a:pPr>
            <a:r>
              <a:rPr b="1" i="1" lang="en-US" sz="1550">
                <a:solidFill>
                  <a:schemeClr val="dk1"/>
                </a:solidFill>
              </a:rPr>
              <a:t>                                                </a:t>
            </a:r>
            <a:r>
              <a:rPr b="1" i="1" lang="en-US" sz="1550" u="none" cap="none" strike="noStrike">
                <a:solidFill>
                  <a:schemeClr val="dk1"/>
                </a:solidFill>
              </a:rPr>
              <a:t>Federation is not automatic unlimited access   </a:t>
            </a:r>
            <a:endParaRPr b="1" i="0" sz="1550" u="none" cap="none" strike="noStrike">
              <a:solidFill>
                <a:schemeClr val="dk1"/>
              </a:solidFill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914400" y="1371600"/>
            <a:ext cx="4754880" cy="960120"/>
          </a:xfrm>
          <a:prstGeom prst="roundRect">
            <a:avLst>
              <a:gd fmla="val 7619" name="adj"/>
            </a:avLst>
          </a:prstGeom>
          <a:solidFill>
            <a:srgbClr val="EAF3F8"/>
          </a:solidFill>
          <a:ln cap="flat" cmpd="sng" w="12700">
            <a:solidFill>
              <a:srgbClr val="EAF3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1024128" y="1463040"/>
            <a:ext cx="453542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Authentication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Who is this workload?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6492240" y="1371600"/>
            <a:ext cx="4754880" cy="960120"/>
          </a:xfrm>
          <a:prstGeom prst="roundRect">
            <a:avLst>
              <a:gd fmla="val 7619" name="adj"/>
            </a:avLst>
          </a:prstGeom>
          <a:solidFill>
            <a:srgbClr val="EAF3F8"/>
          </a:solidFill>
          <a:ln cap="flat" cmpd="sng" w="12700">
            <a:solidFill>
              <a:srgbClr val="EAF3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6601968" y="1463040"/>
            <a:ext cx="453542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Authorization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What can it do?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8"/>
          <p:cNvCxnSpPr/>
          <p:nvPr/>
        </p:nvCxnSpPr>
        <p:spPr>
          <a:xfrm>
            <a:off x="5806440" y="1847088"/>
            <a:ext cx="548640" cy="0"/>
          </a:xfrm>
          <a:prstGeom prst="straightConnector1">
            <a:avLst/>
          </a:prstGeom>
          <a:noFill/>
          <a:ln cap="flat" cmpd="sng" w="25400">
            <a:solidFill>
              <a:srgbClr val="2F75B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1" name="Google Shape;171;p8"/>
          <p:cNvSpPr/>
          <p:nvPr/>
        </p:nvSpPr>
        <p:spPr>
          <a:xfrm>
            <a:off x="1143000" y="3063240"/>
            <a:ext cx="4023360" cy="594360"/>
          </a:xfrm>
          <a:prstGeom prst="roundRect">
            <a:avLst>
              <a:gd fmla="val 12308" name="adj"/>
            </a:avLst>
          </a:prstGeom>
          <a:solidFill>
            <a:srgbClr val="E8F5E9"/>
          </a:solidFill>
          <a:ln cap="flat" cmpd="sng" w="12700">
            <a:solidFill>
              <a:srgbClr val="E8F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1252728" y="3154680"/>
            <a:ext cx="380390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Allowed: read one Key Vault secret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6995160" y="3063240"/>
            <a:ext cx="4023360" cy="594360"/>
          </a:xfrm>
          <a:prstGeom prst="roundRect">
            <a:avLst>
              <a:gd fmla="val 12308" name="adj"/>
            </a:avLst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7104888" y="3154680"/>
            <a:ext cx="380390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Not allowed: delete database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1143000" y="3977640"/>
            <a:ext cx="4023360" cy="594360"/>
          </a:xfrm>
          <a:prstGeom prst="roundRect">
            <a:avLst>
              <a:gd fmla="val 12308" name="adj"/>
            </a:avLst>
          </a:prstGeom>
          <a:solidFill>
            <a:srgbClr val="E8F5E9"/>
          </a:solidFill>
          <a:ln cap="flat" cmpd="sng" w="12700">
            <a:solidFill>
              <a:srgbClr val="E8F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1252728" y="4069080"/>
            <a:ext cx="380390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Allowed: deploy one service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6995160" y="3977640"/>
            <a:ext cx="4023360" cy="594360"/>
          </a:xfrm>
          <a:prstGeom prst="roundRect">
            <a:avLst>
              <a:gd fmla="val 12308" name="adj"/>
            </a:avLst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7104888" y="4069080"/>
            <a:ext cx="380390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Not allowed: create administrators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960120" y="5303520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Federation proves identity. Permissions still control access.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594360" y="6528816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Care Access Navigator | Workload Identity Federation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11292840" y="6528816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/>
          <p:nvPr/>
        </p:nvSpPr>
        <p:spPr>
          <a:xfrm>
            <a:off x="594360" y="320040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F4E79"/>
                </a:solidFill>
              </a:rPr>
              <a:t>   Conclusion…</a:t>
            </a:r>
            <a:endParaRPr i="0" sz="2600" u="none" cap="none" strike="noStrike">
              <a:solidFill>
                <a:schemeClr val="dk1"/>
              </a:solidFill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914400" y="1417320"/>
            <a:ext cx="103327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 our Care Access Navigator project, the backend service may need access to Azure resources. Instead of storing a permanent Azure secret inside the backend, we can let Keycloak prove the backend identity. Microsoft Entra ID is configured to trust that Keycloak-issued identity proof for this specific workload. If the proof is valid, Entra gives the backend a temporary Azure access token. This lets the backend access only the resource it is authorized to use.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1828800" y="4069080"/>
            <a:ext cx="8503920" cy="731520"/>
          </a:xfrm>
          <a:prstGeom prst="roundRect">
            <a:avLst>
              <a:gd fmla="val 10000" name="adj"/>
            </a:avLst>
          </a:prstGeom>
          <a:solidFill>
            <a:srgbClr val="EAF3F8"/>
          </a:solidFill>
          <a:ln cap="flat" cmpd="sng" w="12700">
            <a:solidFill>
              <a:srgbClr val="EAF3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1938528" y="4160520"/>
            <a:ext cx="82844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Keycloak proves who the workload is; Entra decides whether to trust it and what Azure access it gets.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1005840" y="5486400"/>
            <a:ext cx="10149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Final line: Do not share the password. Trust the identity.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594360" y="6528816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Care Access Navigator | Workload Identity Federation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11292840" y="6528816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2026-09-23T03:03:09Z</dcterms:created>
  <dc:creator>OpenAI</dc:creator>
</cp:coreProperties>
</file>