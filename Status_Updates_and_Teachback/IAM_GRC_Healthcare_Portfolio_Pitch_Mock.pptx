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</p:sldIdLst>
  <p:sldSz cy="6858000" cx="12191675"/>
  <p:notesSz cx="6858000" cy="12191675"/>
  <p:embeddedFontLst>
    <p:embeddedFont>
      <p:font typeface="Play"/>
      <p:regular r:id="rId18"/>
      <p:bold r:id="rId19"/>
    </p:embeddedFont>
    <p:embeddedFont>
      <p:font typeface="Quattrocento Sans"/>
      <p:regular r:id="rId20"/>
      <p:bold r:id="rId21"/>
      <p:italic r:id="rId22"/>
      <p:boldItalic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4" roundtripDataSignature="AMtx7mg4YE6QU4ogmyhw+vcYpqIQxEkf6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QuattrocentoSans-regular.fntdata"/><Relationship Id="rId11" Type="http://schemas.openxmlformats.org/officeDocument/2006/relationships/slide" Target="slides/slide7.xml"/><Relationship Id="rId22" Type="http://schemas.openxmlformats.org/officeDocument/2006/relationships/font" Target="fonts/QuattrocentoSans-italic.fntdata"/><Relationship Id="rId10" Type="http://schemas.openxmlformats.org/officeDocument/2006/relationships/slide" Target="slides/slide6.xml"/><Relationship Id="rId21" Type="http://schemas.openxmlformats.org/officeDocument/2006/relationships/font" Target="fonts/QuattrocentoSans-bold.fntdata"/><Relationship Id="rId13" Type="http://schemas.openxmlformats.org/officeDocument/2006/relationships/slide" Target="slides/slide9.xml"/><Relationship Id="rId24" Type="http://customschemas.google.com/relationships/presentationmetadata" Target="metadata"/><Relationship Id="rId12" Type="http://schemas.openxmlformats.org/officeDocument/2006/relationships/slide" Target="slides/slide8.xml"/><Relationship Id="rId23" Type="http://schemas.openxmlformats.org/officeDocument/2006/relationships/font" Target="fonts/QuattrocentoSans-boldItalic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font" Target="fonts/Play-bold.fntdata"/><Relationship Id="rId6" Type="http://schemas.openxmlformats.org/officeDocument/2006/relationships/slide" Target="slides/slide2.xml"/><Relationship Id="rId18" Type="http://schemas.openxmlformats.org/officeDocument/2006/relationships/font" Target="fonts/Play-regular.fnt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" name="Google Shape;14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Opening: I am an aspiring cybersecurity professional aiming for beginner-level IAM and GRC analyst roles in healthcare. This portfolio shows both what I have already completed and what I am actively building next.</a:t>
            </a:r>
            <a:endParaRPr/>
          </a:p>
        </p:txBody>
      </p:sp>
      <p:sp>
        <p:nvSpPr>
          <p:cNvPr id="15" name="Google Shape;15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" name="Google Shape;30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Positioning slide. The first project shows programming foundations. The capstone shows the IAM and GRC direction.</a:t>
            </a:r>
            <a:endParaRPr/>
          </a:p>
        </p:txBody>
      </p:sp>
      <p:sp>
        <p:nvSpPr>
          <p:cNvPr id="31" name="Google Shape;31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" name="Google Shape;58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MoodBuddy is my completed foundational project. It is not a medical tool. It demonstrates how I can translate a simple human problem into logic, data storage, and a clear user flow.</a:t>
            </a:r>
            <a:endParaRPr/>
          </a:p>
        </p:txBody>
      </p:sp>
      <p:sp>
        <p:nvSpPr>
          <p:cNvPr id="59" name="Google Shape;59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" name="Google Shape;86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4 represents the MoodBuddy application logic and data flow. Mention Lucidchart as the appropriate tool for the process-flow diagram. Figma would only be relevant for application UI mockups.</a:t>
            </a:r>
            <a:endParaRPr/>
          </a:p>
        </p:txBody>
      </p:sp>
      <p:sp>
        <p:nvSpPr>
          <p:cNvPr id="87" name="Google Shape;87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9" name="Google Shape;119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Introduce the capstone. Explain that this is a simulated healthcare environment, not a real patient system.</a:t>
            </a:r>
            <a:endParaRPr/>
          </a:p>
        </p:txBody>
      </p:sp>
      <p:sp>
        <p:nvSpPr>
          <p:cNvPr id="120" name="Google Shape;120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3" name="Google Shape;143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6 represents the Care Access Navigator target operating model. Mention Lucidchart as the correct tool for this kind of IAM/GRC architecture and workflow diagram. Figma is better for UI mockups, not architecture.</a:t>
            </a:r>
            <a:endParaRPr/>
          </a:p>
        </p:txBody>
      </p:sp>
      <p:sp>
        <p:nvSpPr>
          <p:cNvPr id="144" name="Google Shape;144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0" name="Google Shape;170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0" name="Google Shape;200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5" name="Google Shape;235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7" name="Google Shape;267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0" name="Google Shape;300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9" name="Google Shape;329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" name="Google Shape;330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6" name="Google Shape;346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" name="Google Shape;347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STER">
  <p:cSld name="MASTER">
    <p:bg>
      <p:bgPr>
        <a:solidFill>
          <a:srgbClr val="F7FAFC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2.png"/><Relationship Id="rId4" Type="http://schemas.openxmlformats.org/officeDocument/2006/relationships/image" Target="../media/image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.png"/><Relationship Id="rId4" Type="http://schemas.openxmlformats.org/officeDocument/2006/relationships/image" Target="../media/image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png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mnt/data/wide_cinematic_futuristic_conceptual_illustration_batch_4.png" id="17" name="Google Shape;17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69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18;p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80000"/>
            </a:srgbClr>
          </a:solidFill>
          <a:ln cap="flat" cmpd="sng" w="12700">
            <a:solidFill>
              <a:srgbClr val="33333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1"/>
          <p:cNvSpPr/>
          <p:nvPr/>
        </p:nvSpPr>
        <p:spPr>
          <a:xfrm>
            <a:off x="0" y="0"/>
            <a:ext cx="5166360" cy="6858000"/>
          </a:xfrm>
          <a:prstGeom prst="rect">
            <a:avLst/>
          </a:prstGeom>
          <a:solidFill>
            <a:srgbClr val="0B1F3A">
              <a:alpha val="94118"/>
            </a:srgbClr>
          </a:solidFill>
          <a:ln cap="flat" cmpd="sng" w="12700">
            <a:solidFill>
              <a:srgbClr val="33333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1"/>
          <p:cNvSpPr/>
          <p:nvPr/>
        </p:nvSpPr>
        <p:spPr>
          <a:xfrm>
            <a:off x="676656" y="566928"/>
            <a:ext cx="21031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B942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5B942"/>
                </a:solidFill>
                <a:latin typeface="Arial"/>
                <a:ea typeface="Arial"/>
                <a:cs typeface="Arial"/>
                <a:sym typeface="Arial"/>
              </a:rPr>
              <a:t>Portfolio Pitch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658368" y="1143000"/>
            <a:ext cx="4480560" cy="1508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550"/>
              <a:buFont typeface="Play"/>
              <a:buNone/>
            </a:pPr>
            <a:r>
              <a:rPr b="1" i="0" lang="en-US" sz="3550" u="none" cap="none" strike="noStrike">
                <a:solidFill>
                  <a:srgbClr val="FFFFFF"/>
                </a:solidFill>
              </a:rPr>
              <a:t>IAM &amp; GRC</a:t>
            </a:r>
            <a:endParaRPr i="0" sz="3550" u="none" cap="none" strike="noStrike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550"/>
              <a:buFont typeface="Play"/>
              <a:buNone/>
            </a:pPr>
            <a:r>
              <a:rPr b="1" i="0" lang="en-US" sz="3550" u="none" cap="none" strike="noStrike">
                <a:solidFill>
                  <a:srgbClr val="FFFFFF"/>
                </a:solidFill>
              </a:rPr>
              <a:t>Healthcare Cybersecurity</a:t>
            </a:r>
            <a:endParaRPr i="0" sz="3550" u="none" cap="none" strike="noStrike">
              <a:solidFill>
                <a:schemeClr val="dk1"/>
              </a:solidFill>
            </a:endParaRPr>
          </a:p>
        </p:txBody>
      </p:sp>
      <p:cxnSp>
        <p:nvCxnSpPr>
          <p:cNvPr id="22" name="Google Shape;22;p1"/>
          <p:cNvCxnSpPr/>
          <p:nvPr/>
        </p:nvCxnSpPr>
        <p:spPr>
          <a:xfrm>
            <a:off x="713232" y="2816352"/>
            <a:ext cx="1051560" cy="0"/>
          </a:xfrm>
          <a:prstGeom prst="straightConnector1">
            <a:avLst/>
          </a:prstGeom>
          <a:noFill/>
          <a:ln cap="flat" cmpd="sng" w="38100">
            <a:solidFill>
              <a:srgbClr val="F5B94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3" name="Google Shape;23;p1"/>
          <p:cNvSpPr/>
          <p:nvPr/>
        </p:nvSpPr>
        <p:spPr>
          <a:xfrm>
            <a:off x="694944" y="3081528"/>
            <a:ext cx="393192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E9F8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DCE9F8"/>
                </a:solidFill>
                <a:latin typeface="Arial"/>
                <a:ea typeface="Arial"/>
                <a:cs typeface="Arial"/>
                <a:sym typeface="Arial"/>
              </a:rPr>
              <a:t>Completed Python foundation project + ongoing healthcare IAM/GRC capstone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" name="Google Shape;24;p1"/>
          <p:cNvSpPr/>
          <p:nvPr/>
        </p:nvSpPr>
        <p:spPr>
          <a:xfrm>
            <a:off x="694944" y="4133088"/>
            <a:ext cx="3566160" cy="310896"/>
          </a:xfrm>
          <a:prstGeom prst="roundRect">
            <a:avLst>
              <a:gd fmla="val 23529" name="adj"/>
            </a:avLst>
          </a:prstGeom>
          <a:solidFill>
            <a:srgbClr val="19A7A8">
              <a:alpha val="94902"/>
            </a:srgbClr>
          </a:solidFill>
          <a:ln cap="flat" cmpd="sng" w="12700">
            <a:solidFill>
              <a:srgbClr val="19A7A8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1"/>
          <p:cNvSpPr/>
          <p:nvPr/>
        </p:nvSpPr>
        <p:spPr>
          <a:xfrm>
            <a:off x="786384" y="4201668"/>
            <a:ext cx="338328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60"/>
              <a:buFont typeface="Arial"/>
              <a:buNone/>
            </a:pPr>
            <a:r>
              <a:rPr b="1" i="0" lang="en-US" sz="86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Fresher / Beginner IAM &amp; GRC Analyst Focus</a:t>
            </a:r>
            <a:endParaRPr b="0" i="0" sz="8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" name="Google Shape;26;p1"/>
          <p:cNvSpPr/>
          <p:nvPr/>
        </p:nvSpPr>
        <p:spPr>
          <a:xfrm>
            <a:off x="694944" y="4617720"/>
            <a:ext cx="37947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F2FA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E9F2FA"/>
                </a:solidFill>
                <a:latin typeface="Arial"/>
                <a:ea typeface="Arial"/>
                <a:cs typeface="Arial"/>
                <a:sym typeface="Arial"/>
              </a:rPr>
              <a:t>Target roles: IAM Analyst • GRC Analyst • Healthcare security operations support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7" name="Google Shape;27;p1" title="dae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72125" y="1349800"/>
            <a:ext cx="858482" cy="749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AFC"/>
        </a:solidFill>
      </p:bgPr>
    </p:bg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 cap="flat" cmpd="sng" w="12700">
            <a:solidFill>
              <a:srgbClr val="33333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2"/>
          <p:cNvSpPr/>
          <p:nvPr/>
        </p:nvSpPr>
        <p:spPr>
          <a:xfrm>
            <a:off x="589860" y="268748"/>
            <a:ext cx="10332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9A7A8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19A7A8"/>
                </a:solidFill>
                <a:latin typeface="Arial"/>
                <a:ea typeface="Arial"/>
                <a:cs typeface="Arial"/>
                <a:sym typeface="Arial"/>
              </a:rPr>
              <a:t>CAREER POSITIONING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" name="Google Shape;35;p2"/>
          <p:cNvSpPr/>
          <p:nvPr/>
        </p:nvSpPr>
        <p:spPr>
          <a:xfrm>
            <a:off x="594350" y="731526"/>
            <a:ext cx="10332600" cy="49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3100"/>
              <a:buFont typeface="Play"/>
              <a:buNone/>
            </a:pPr>
            <a:r>
              <a:rPr b="1" i="0" lang="en-US" sz="3100" u="none" cap="none" strike="noStrike">
                <a:solidFill>
                  <a:srgbClr val="0B1F3A"/>
                </a:solidFill>
              </a:rPr>
              <a:t>My direction: learn by building industry-relevant evidence</a:t>
            </a:r>
            <a:endParaRPr i="0" sz="3100" u="none" cap="none" strike="noStrike">
              <a:solidFill>
                <a:schemeClr val="dk1"/>
              </a:solidFill>
            </a:endParaRPr>
          </a:p>
        </p:txBody>
      </p:sp>
      <p:cxnSp>
        <p:nvCxnSpPr>
          <p:cNvPr id="36" name="Google Shape;36;p2"/>
          <p:cNvCxnSpPr/>
          <p:nvPr/>
        </p:nvCxnSpPr>
        <p:spPr>
          <a:xfrm>
            <a:off x="603635" y="1459500"/>
            <a:ext cx="1051500" cy="0"/>
          </a:xfrm>
          <a:prstGeom prst="straightConnector1">
            <a:avLst/>
          </a:prstGeom>
          <a:noFill/>
          <a:ln cap="flat" cmpd="sng" w="38100">
            <a:solidFill>
              <a:srgbClr val="BF476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7" name="Google Shape;37;p2"/>
          <p:cNvSpPr/>
          <p:nvPr/>
        </p:nvSpPr>
        <p:spPr>
          <a:xfrm>
            <a:off x="603625" y="1738700"/>
            <a:ext cx="10332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3645"/>
              </a:buClr>
              <a:buSzPts val="1420"/>
              <a:buFont typeface="Arial"/>
              <a:buNone/>
            </a:pPr>
            <a:r>
              <a:rPr b="0" i="0" lang="en-US" sz="1520" u="none" cap="none" strike="noStrike">
                <a:solidFill>
                  <a:srgbClr val="263645"/>
                </a:solidFill>
                <a:latin typeface="Arial"/>
                <a:ea typeface="Arial"/>
                <a:cs typeface="Arial"/>
                <a:sym typeface="Arial"/>
              </a:rPr>
              <a:t>A portfolio story that connects programming foundations, healthcare security context, IAM workflows, and GRC evidence.</a:t>
            </a:r>
            <a:endParaRPr b="0" i="0" sz="15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" name="Google Shape;38;p2"/>
          <p:cNvSpPr/>
          <p:nvPr/>
        </p:nvSpPr>
        <p:spPr>
          <a:xfrm>
            <a:off x="749808" y="2423160"/>
            <a:ext cx="2907792" cy="2971800"/>
          </a:xfrm>
          <a:prstGeom prst="roundRect">
            <a:avLst>
              <a:gd fmla="val 4088" name="adj"/>
            </a:avLst>
          </a:prstGeom>
          <a:solidFill>
            <a:srgbClr val="FFFFFF"/>
          </a:solidFill>
          <a:ln cap="flat" cmpd="sng" w="12700">
            <a:solidFill>
              <a:srgbClr val="D9E2EF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50800">
              <a:srgbClr val="91A4B7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2"/>
          <p:cNvSpPr/>
          <p:nvPr/>
        </p:nvSpPr>
        <p:spPr>
          <a:xfrm>
            <a:off x="969264" y="2679192"/>
            <a:ext cx="493776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Quattrocento Sans"/>
              <a:buNone/>
            </a:pPr>
            <a:r>
              <a:rPr b="0" i="0" lang="en-US" sz="2500" u="none" cap="none" strike="noStrike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🐍</a:t>
            </a:r>
            <a:endParaRPr b="0" i="0" sz="2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0" name="Google Shape;40;p2"/>
          <p:cNvCxnSpPr/>
          <p:nvPr/>
        </p:nvCxnSpPr>
        <p:spPr>
          <a:xfrm>
            <a:off x="1005840" y="3300984"/>
            <a:ext cx="822960" cy="0"/>
          </a:xfrm>
          <a:prstGeom prst="straightConnector1">
            <a:avLst/>
          </a:prstGeom>
          <a:noFill/>
          <a:ln cap="flat" cmpd="sng" w="38100">
            <a:solidFill>
              <a:srgbClr val="8056A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" name="Google Shape;41;p2"/>
          <p:cNvSpPr/>
          <p:nvPr/>
        </p:nvSpPr>
        <p:spPr>
          <a:xfrm>
            <a:off x="1005851" y="3415263"/>
            <a:ext cx="25512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1800"/>
              <a:buFont typeface="Play"/>
              <a:buNone/>
            </a:pPr>
            <a:r>
              <a:rPr b="1" lang="en-US" sz="1800">
                <a:solidFill>
                  <a:srgbClr val="0B1F3A"/>
                </a:solidFill>
              </a:rPr>
              <a:t>Completed Foundation</a:t>
            </a:r>
            <a:endParaRPr i="0" sz="1800" u="none" cap="none" strike="noStrike">
              <a:solidFill>
                <a:schemeClr val="dk1"/>
              </a:solidFill>
            </a:endParaRPr>
          </a:p>
        </p:txBody>
      </p:sp>
      <p:sp>
        <p:nvSpPr>
          <p:cNvPr id="42" name="Google Shape;42;p2"/>
          <p:cNvSpPr/>
          <p:nvPr/>
        </p:nvSpPr>
        <p:spPr>
          <a:xfrm>
            <a:off x="969264" y="3977640"/>
            <a:ext cx="2441448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66579"/>
              </a:buClr>
              <a:buSzPts val="1260"/>
              <a:buFont typeface="Arial"/>
              <a:buNone/>
            </a:pPr>
            <a:r>
              <a:rPr b="0" i="0" lang="en-US" sz="1560" u="none" cap="none" strike="noStrike">
                <a:solidFill>
                  <a:srgbClr val="566579"/>
                </a:solidFill>
                <a:latin typeface="Arial"/>
                <a:ea typeface="Arial"/>
                <a:cs typeface="Arial"/>
                <a:sym typeface="Arial"/>
              </a:rPr>
              <a:t>MoodBuddy proves Python fundamentals: validation, JSON persistence, branching logic, and user-centered design.</a:t>
            </a:r>
            <a:endParaRPr b="0" i="0" sz="15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43;p2"/>
          <p:cNvSpPr/>
          <p:nvPr/>
        </p:nvSpPr>
        <p:spPr>
          <a:xfrm>
            <a:off x="4315968" y="2395735"/>
            <a:ext cx="2907900" cy="2971800"/>
          </a:xfrm>
          <a:prstGeom prst="roundRect">
            <a:avLst>
              <a:gd fmla="val 4088" name="adj"/>
            </a:avLst>
          </a:prstGeom>
          <a:solidFill>
            <a:srgbClr val="FFFFFF"/>
          </a:solidFill>
          <a:ln cap="flat" cmpd="sng" w="12700">
            <a:solidFill>
              <a:srgbClr val="D9E2EF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50800">
              <a:srgbClr val="91A4B7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2"/>
          <p:cNvSpPr/>
          <p:nvPr/>
        </p:nvSpPr>
        <p:spPr>
          <a:xfrm>
            <a:off x="4535424" y="2679192"/>
            <a:ext cx="493776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Quattrocento Sans"/>
              <a:buNone/>
            </a:pPr>
            <a:r>
              <a:rPr b="0" i="0" lang="en-US" sz="2500" u="none" cap="none" strike="noStrike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🏥</a:t>
            </a:r>
            <a:endParaRPr b="0" i="0" sz="2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5" name="Google Shape;45;p2"/>
          <p:cNvCxnSpPr/>
          <p:nvPr/>
        </p:nvCxnSpPr>
        <p:spPr>
          <a:xfrm>
            <a:off x="4572000" y="3300984"/>
            <a:ext cx="822960" cy="0"/>
          </a:xfrm>
          <a:prstGeom prst="straightConnector1">
            <a:avLst/>
          </a:prstGeom>
          <a:noFill/>
          <a:ln cap="flat" cmpd="sng" w="38100">
            <a:solidFill>
              <a:srgbClr val="19A7A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6" name="Google Shape;46;p2"/>
          <p:cNvSpPr/>
          <p:nvPr/>
        </p:nvSpPr>
        <p:spPr>
          <a:xfrm>
            <a:off x="4558287" y="3479290"/>
            <a:ext cx="24231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1800"/>
              <a:buFont typeface="Play"/>
              <a:buNone/>
            </a:pPr>
            <a:r>
              <a:rPr b="1" i="0" lang="en-US" sz="1800" u="none" cap="none" strike="noStrike">
                <a:solidFill>
                  <a:srgbClr val="0B1F3A"/>
                </a:solidFill>
              </a:rPr>
              <a:t>Ongoing capstone</a:t>
            </a:r>
            <a:endParaRPr i="0" sz="1800" u="none" cap="none" strike="noStrike">
              <a:solidFill>
                <a:schemeClr val="dk1"/>
              </a:solidFill>
            </a:endParaRPr>
          </a:p>
        </p:txBody>
      </p:sp>
      <p:sp>
        <p:nvSpPr>
          <p:cNvPr id="47" name="Google Shape;47;p2"/>
          <p:cNvSpPr/>
          <p:nvPr/>
        </p:nvSpPr>
        <p:spPr>
          <a:xfrm>
            <a:off x="4535424" y="3977640"/>
            <a:ext cx="2441448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66579"/>
              </a:buClr>
              <a:buSzPts val="1260"/>
              <a:buFont typeface="Arial"/>
              <a:buNone/>
            </a:pPr>
            <a:r>
              <a:rPr b="0" i="0" lang="en-US" sz="1560" u="none" cap="none" strike="noStrike">
                <a:solidFill>
                  <a:srgbClr val="566579"/>
                </a:solidFill>
                <a:latin typeface="Arial"/>
                <a:ea typeface="Arial"/>
                <a:cs typeface="Arial"/>
                <a:sym typeface="Arial"/>
              </a:rPr>
              <a:t>Care Access Navigator simulates a healthcare IAM + GRC environment using synthetic data and security workflows.</a:t>
            </a:r>
            <a:endParaRPr b="0" i="0" sz="15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" name="Google Shape;48;p2"/>
          <p:cNvSpPr/>
          <p:nvPr/>
        </p:nvSpPr>
        <p:spPr>
          <a:xfrm>
            <a:off x="7882128" y="2423160"/>
            <a:ext cx="2907792" cy="2971800"/>
          </a:xfrm>
          <a:prstGeom prst="roundRect">
            <a:avLst>
              <a:gd fmla="val 4088" name="adj"/>
            </a:avLst>
          </a:prstGeom>
          <a:solidFill>
            <a:srgbClr val="FFFFFF"/>
          </a:solidFill>
          <a:ln cap="flat" cmpd="sng" w="12700">
            <a:solidFill>
              <a:srgbClr val="D9E2EF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50800">
              <a:srgbClr val="91A4B7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2"/>
          <p:cNvSpPr/>
          <p:nvPr/>
        </p:nvSpPr>
        <p:spPr>
          <a:xfrm>
            <a:off x="8101584" y="2679192"/>
            <a:ext cx="493776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Quattrocento Sans"/>
              <a:buNone/>
            </a:pPr>
            <a:r>
              <a:rPr b="0" i="0" lang="en-US" sz="2500" u="none" cap="none" strike="noStrike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🛡️</a:t>
            </a:r>
            <a:endParaRPr b="0" i="0" sz="2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0" name="Google Shape;50;p2"/>
          <p:cNvCxnSpPr/>
          <p:nvPr/>
        </p:nvCxnSpPr>
        <p:spPr>
          <a:xfrm>
            <a:off x="8138160" y="3300984"/>
            <a:ext cx="822960" cy="0"/>
          </a:xfrm>
          <a:prstGeom prst="straightConnector1">
            <a:avLst/>
          </a:prstGeom>
          <a:noFill/>
          <a:ln cap="flat" cmpd="sng" w="38100">
            <a:solidFill>
              <a:srgbClr val="BF476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1" name="Google Shape;51;p2"/>
          <p:cNvSpPr/>
          <p:nvPr/>
        </p:nvSpPr>
        <p:spPr>
          <a:xfrm>
            <a:off x="8110747" y="3415265"/>
            <a:ext cx="24231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1800"/>
              <a:buFont typeface="Play"/>
              <a:buNone/>
            </a:pPr>
            <a:r>
              <a:rPr b="1" i="0" lang="en-US" sz="1800" u="none" cap="none" strike="noStrike">
                <a:solidFill>
                  <a:srgbClr val="0B1F3A"/>
                </a:solidFill>
              </a:rPr>
              <a:t>Role-ready story</a:t>
            </a:r>
            <a:endParaRPr i="0" sz="1800" u="none" cap="none" strike="noStrike">
              <a:solidFill>
                <a:schemeClr val="dk1"/>
              </a:solidFill>
            </a:endParaRPr>
          </a:p>
        </p:txBody>
      </p:sp>
      <p:sp>
        <p:nvSpPr>
          <p:cNvPr id="52" name="Google Shape;52;p2"/>
          <p:cNvSpPr/>
          <p:nvPr/>
        </p:nvSpPr>
        <p:spPr>
          <a:xfrm>
            <a:off x="8101584" y="3977640"/>
            <a:ext cx="2441448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66579"/>
              </a:buClr>
              <a:buSzPts val="1260"/>
              <a:buFont typeface="Arial"/>
              <a:buNone/>
            </a:pPr>
            <a:r>
              <a:rPr b="0" i="0" lang="en-US" sz="1560" u="none" cap="none" strike="noStrike">
                <a:solidFill>
                  <a:srgbClr val="566579"/>
                </a:solidFill>
                <a:latin typeface="Arial"/>
                <a:ea typeface="Arial"/>
                <a:cs typeface="Arial"/>
                <a:sym typeface="Arial"/>
              </a:rPr>
              <a:t>Final deliverables translate lab work into evidence: RBAC matrix, JML workflows, access reviews, risk/control mapping, dashboards, and demo.</a:t>
            </a:r>
            <a:endParaRPr b="0" i="0" sz="15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3" name="Google Shape;53;p2"/>
          <p:cNvCxnSpPr/>
          <p:nvPr/>
        </p:nvCxnSpPr>
        <p:spPr>
          <a:xfrm>
            <a:off x="475488" y="6473952"/>
            <a:ext cx="11247120" cy="0"/>
          </a:xfrm>
          <a:prstGeom prst="straightConnector1">
            <a:avLst/>
          </a:prstGeom>
          <a:noFill/>
          <a:ln cap="flat" cmpd="sng" w="9525">
            <a:solidFill>
              <a:srgbClr val="D8E2F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4" name="Google Shape;54;p2"/>
          <p:cNvSpPr/>
          <p:nvPr/>
        </p:nvSpPr>
        <p:spPr>
          <a:xfrm>
            <a:off x="548640" y="6556248"/>
            <a:ext cx="530352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780"/>
              <a:buFont typeface="Arial"/>
              <a:buNone/>
            </a:pPr>
            <a:r>
              <a:rPr b="0" i="0" lang="en-US" sz="780" u="none" cap="none" strike="noStrike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IAM + GRC Healthcare Cybersecurity Portfolio Pitch</a:t>
            </a:r>
            <a:endParaRPr b="0" i="0" sz="7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2"/>
          <p:cNvSpPr/>
          <p:nvPr/>
        </p:nvSpPr>
        <p:spPr>
          <a:xfrm>
            <a:off x="11155680" y="6519672"/>
            <a:ext cx="5486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850"/>
              <a:buFont typeface="Arial"/>
              <a:buNone/>
            </a:pPr>
            <a:r>
              <a:rPr b="1" i="0" lang="en-US" sz="850" u="none" cap="none" strike="noStrike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7F4"/>
        </a:solidFill>
      </p:bgPr>
    </p:bg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3"/>
          <p:cNvSpPr/>
          <p:nvPr/>
        </p:nvSpPr>
        <p:spPr>
          <a:xfrm>
            <a:off x="-25" y="0"/>
            <a:ext cx="12191700" cy="6858000"/>
          </a:xfrm>
          <a:prstGeom prst="rect">
            <a:avLst/>
          </a:prstGeom>
          <a:solidFill>
            <a:srgbClr val="FBF7F4"/>
          </a:solidFill>
          <a:ln cap="flat" cmpd="sng" w="12700">
            <a:solidFill>
              <a:srgbClr val="33333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data/mood_portrait_crop.png" id="62" name="Google Shape;62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93408" y="347472"/>
            <a:ext cx="4956048" cy="5989320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3"/>
          <p:cNvSpPr/>
          <p:nvPr/>
        </p:nvSpPr>
        <p:spPr>
          <a:xfrm>
            <a:off x="6309360" y="274320"/>
            <a:ext cx="822960" cy="6172200"/>
          </a:xfrm>
          <a:prstGeom prst="rect">
            <a:avLst/>
          </a:prstGeom>
          <a:solidFill>
            <a:srgbClr val="FBF7F4"/>
          </a:solidFill>
          <a:ln cap="flat" cmpd="sng" w="12700">
            <a:solidFill>
              <a:srgbClr val="33333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3"/>
          <p:cNvSpPr/>
          <p:nvPr/>
        </p:nvSpPr>
        <p:spPr>
          <a:xfrm>
            <a:off x="598885" y="164598"/>
            <a:ext cx="5669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9A7A8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19A7A8"/>
                </a:solidFill>
                <a:latin typeface="Arial"/>
                <a:ea typeface="Arial"/>
                <a:cs typeface="Arial"/>
                <a:sym typeface="Arial"/>
              </a:rPr>
              <a:t>PROJECT 1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3"/>
          <p:cNvSpPr/>
          <p:nvPr/>
        </p:nvSpPr>
        <p:spPr>
          <a:xfrm>
            <a:off x="598885" y="644645"/>
            <a:ext cx="56694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3100"/>
              <a:buFont typeface="Play"/>
              <a:buNone/>
            </a:pPr>
            <a:r>
              <a:rPr b="1" i="0" lang="en-US" sz="3100" u="none" cap="none" strike="noStrike">
                <a:solidFill>
                  <a:srgbClr val="0B1F3A"/>
                </a:solidFill>
              </a:rPr>
              <a:t>Completed project: MoodBuddy</a:t>
            </a:r>
            <a:endParaRPr i="0" sz="3100" u="none" cap="none" strike="noStrike">
              <a:solidFill>
                <a:schemeClr val="dk1"/>
              </a:solidFill>
            </a:endParaRPr>
          </a:p>
        </p:txBody>
      </p:sp>
      <p:cxnSp>
        <p:nvCxnSpPr>
          <p:cNvPr id="66" name="Google Shape;66;p3"/>
          <p:cNvCxnSpPr/>
          <p:nvPr/>
        </p:nvCxnSpPr>
        <p:spPr>
          <a:xfrm>
            <a:off x="594360" y="1371600"/>
            <a:ext cx="1051560" cy="0"/>
          </a:xfrm>
          <a:prstGeom prst="straightConnector1">
            <a:avLst/>
          </a:prstGeom>
          <a:noFill/>
          <a:ln cap="flat" cmpd="sng" w="38100">
            <a:solidFill>
              <a:srgbClr val="BF476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7" name="Google Shape;67;p3"/>
          <p:cNvSpPr/>
          <p:nvPr/>
        </p:nvSpPr>
        <p:spPr>
          <a:xfrm>
            <a:off x="598885" y="1728250"/>
            <a:ext cx="5669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3645"/>
              </a:buClr>
              <a:buSzPts val="1420"/>
              <a:buFont typeface="Arial"/>
              <a:buNone/>
            </a:pPr>
            <a:r>
              <a:rPr b="0" i="0" lang="en-US" sz="1620" u="none" cap="none" strike="noStrike">
                <a:solidFill>
                  <a:srgbClr val="263645"/>
                </a:solidFill>
                <a:latin typeface="Arial"/>
                <a:ea typeface="Arial"/>
                <a:cs typeface="Arial"/>
                <a:sym typeface="Arial"/>
              </a:rPr>
              <a:t>A Python mood-tracking project demonstrating safe input handling, persistent user data, and clear program logic.</a:t>
            </a:r>
            <a:endParaRPr b="0" i="0" sz="16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3"/>
          <p:cNvSpPr/>
          <p:nvPr/>
        </p:nvSpPr>
        <p:spPr>
          <a:xfrm>
            <a:off x="658368" y="2450592"/>
            <a:ext cx="3383280" cy="749808"/>
          </a:xfrm>
          <a:prstGeom prst="roundRect">
            <a:avLst>
              <a:gd fmla="val 12195" name="adj"/>
            </a:avLst>
          </a:prstGeom>
          <a:solidFill>
            <a:srgbClr val="FFFFFF"/>
          </a:solidFill>
          <a:ln cap="flat" cmpd="sng" w="10150">
            <a:solidFill>
              <a:srgbClr val="D7E3EF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50800">
              <a:srgbClr val="91A4B7">
                <a:alpha val="1411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3"/>
          <p:cNvSpPr/>
          <p:nvPr/>
        </p:nvSpPr>
        <p:spPr>
          <a:xfrm>
            <a:off x="658368" y="2450592"/>
            <a:ext cx="73152" cy="749808"/>
          </a:xfrm>
          <a:prstGeom prst="rect">
            <a:avLst/>
          </a:prstGeom>
          <a:solidFill>
            <a:srgbClr val="8056A3"/>
          </a:solidFill>
          <a:ln cap="flat" cmpd="sng" w="12700">
            <a:solidFill>
              <a:srgbClr val="33333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3"/>
          <p:cNvSpPr/>
          <p:nvPr/>
        </p:nvSpPr>
        <p:spPr>
          <a:xfrm>
            <a:off x="822960" y="2491746"/>
            <a:ext cx="3154800" cy="10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056A3"/>
              </a:buClr>
              <a:buSzPts val="750"/>
              <a:buFont typeface="Arial"/>
              <a:buNone/>
            </a:pPr>
            <a:r>
              <a:rPr b="1" i="0" lang="en-US" sz="750" u="none" cap="none" strike="noStrike">
                <a:solidFill>
                  <a:srgbClr val="8056A3"/>
                </a:solidFill>
                <a:latin typeface="Arial"/>
                <a:ea typeface="Arial"/>
                <a:cs typeface="Arial"/>
                <a:sym typeface="Arial"/>
              </a:rPr>
              <a:t>CORE USER VALUE</a:t>
            </a:r>
            <a:endParaRPr b="0" i="0" sz="7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p3"/>
          <p:cNvSpPr/>
          <p:nvPr/>
        </p:nvSpPr>
        <p:spPr>
          <a:xfrm>
            <a:off x="823010" y="2720326"/>
            <a:ext cx="3154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1450"/>
              <a:buFont typeface="Play"/>
              <a:buNone/>
            </a:pPr>
            <a:r>
              <a:rPr b="1" i="0" lang="en-US" sz="1550" u="none" cap="none" strike="noStrike">
                <a:solidFill>
                  <a:srgbClr val="0B1F3A"/>
                </a:solidFill>
              </a:rPr>
              <a:t>Track feelings → understand patterns</a:t>
            </a:r>
            <a:endParaRPr i="0" sz="1550" u="none" cap="none" strike="noStrike">
              <a:solidFill>
                <a:schemeClr val="dk1"/>
              </a:solidFill>
            </a:endParaRPr>
          </a:p>
        </p:txBody>
      </p:sp>
      <p:sp>
        <p:nvSpPr>
          <p:cNvPr id="72" name="Google Shape;72;p3"/>
          <p:cNvSpPr/>
          <p:nvPr/>
        </p:nvSpPr>
        <p:spPr>
          <a:xfrm>
            <a:off x="713232" y="3429000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8B61"/>
              </a:buClr>
              <a:buSzPts val="2000"/>
              <a:buFont typeface="Quattrocento Sans"/>
              <a:buNone/>
            </a:pPr>
            <a:r>
              <a:rPr b="0" i="0" lang="en-US" sz="2000" u="none" cap="none" strike="noStrike">
                <a:solidFill>
                  <a:srgbClr val="0D8B6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✓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73;p3"/>
          <p:cNvSpPr/>
          <p:nvPr/>
        </p:nvSpPr>
        <p:spPr>
          <a:xfrm>
            <a:off x="1216127" y="3346694"/>
            <a:ext cx="44349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1350"/>
              <a:buFont typeface="Play"/>
              <a:buNone/>
            </a:pPr>
            <a:r>
              <a:rPr b="1" i="0" lang="en-US" sz="1550" u="none" cap="none" strike="noStrike">
                <a:solidFill>
                  <a:srgbClr val="0B1F3A"/>
                </a:solidFill>
              </a:rPr>
              <a:t>What it does</a:t>
            </a:r>
            <a:endParaRPr i="0" sz="1550" u="none" cap="none" strike="noStrike">
              <a:solidFill>
                <a:schemeClr val="dk1"/>
              </a:solidFill>
            </a:endParaRPr>
          </a:p>
        </p:txBody>
      </p:sp>
      <p:sp>
        <p:nvSpPr>
          <p:cNvPr id="74" name="Google Shape;74;p3"/>
          <p:cNvSpPr/>
          <p:nvPr/>
        </p:nvSpPr>
        <p:spPr>
          <a:xfrm>
            <a:off x="1216152" y="3721608"/>
            <a:ext cx="44348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66579"/>
              </a:buClr>
              <a:buSzPts val="1120"/>
              <a:buFont typeface="Arial"/>
              <a:buNone/>
            </a:pPr>
            <a:r>
              <a:rPr b="0" i="0" lang="en-US" sz="1520" u="none" cap="none" strike="noStrike">
                <a:solidFill>
                  <a:srgbClr val="566579"/>
                </a:solidFill>
                <a:latin typeface="Arial"/>
                <a:ea typeface="Arial"/>
                <a:cs typeface="Arial"/>
                <a:sym typeface="Arial"/>
              </a:rPr>
              <a:t>Validates name and age, creates one record per user, and saves each check-in with timestamped history.</a:t>
            </a:r>
            <a:endParaRPr b="0" i="0" sz="15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p3"/>
          <p:cNvSpPr/>
          <p:nvPr/>
        </p:nvSpPr>
        <p:spPr>
          <a:xfrm>
            <a:off x="713232" y="4279392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F4767"/>
              </a:buClr>
              <a:buSzPts val="2000"/>
              <a:buFont typeface="Quattrocento Sans"/>
              <a:buNone/>
            </a:pPr>
            <a:r>
              <a:rPr b="0" i="0" lang="en-US" sz="2000" u="none" cap="none" strike="noStrike">
                <a:solidFill>
                  <a:srgbClr val="BF476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♥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" name="Google Shape;76;p3"/>
          <p:cNvSpPr/>
          <p:nvPr/>
        </p:nvSpPr>
        <p:spPr>
          <a:xfrm>
            <a:off x="1216152" y="4288536"/>
            <a:ext cx="44348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1350"/>
              <a:buFont typeface="Play"/>
              <a:buNone/>
            </a:pPr>
            <a:r>
              <a:rPr b="1" i="0" lang="en-US" sz="1550" u="none" cap="none" strike="noStrike">
                <a:solidFill>
                  <a:srgbClr val="0B1F3A"/>
                </a:solidFill>
              </a:rPr>
              <a:t>Support logic</a:t>
            </a:r>
            <a:endParaRPr i="0" sz="1550" u="none" cap="none" strike="noStrike">
              <a:solidFill>
                <a:schemeClr val="dk1"/>
              </a:solidFill>
            </a:endParaRPr>
          </a:p>
        </p:txBody>
      </p:sp>
      <p:sp>
        <p:nvSpPr>
          <p:cNvPr id="77" name="Google Shape;77;p3"/>
          <p:cNvSpPr/>
          <p:nvPr/>
        </p:nvSpPr>
        <p:spPr>
          <a:xfrm>
            <a:off x="1216150" y="4613275"/>
            <a:ext cx="46359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66579"/>
              </a:buClr>
              <a:buSzPts val="1120"/>
              <a:buFont typeface="Arial"/>
              <a:buNone/>
            </a:pPr>
            <a:r>
              <a:rPr b="0" i="0" lang="en-US" sz="1520" u="none" cap="none" strike="noStrike">
                <a:solidFill>
                  <a:srgbClr val="566579"/>
                </a:solidFill>
                <a:latin typeface="Arial"/>
                <a:ea typeface="Arial"/>
                <a:cs typeface="Arial"/>
                <a:sym typeface="Arial"/>
              </a:rPr>
              <a:t>Tracks six emotions three positive and three negative and shows gentle warnings </a:t>
            </a:r>
            <a:r>
              <a:rPr lang="en-US" sz="1520">
                <a:solidFill>
                  <a:srgbClr val="566579"/>
                </a:solidFill>
              </a:rPr>
              <a:t>based on the mood type and number of times selected</a:t>
            </a:r>
            <a:endParaRPr b="0" i="0" sz="15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" name="Google Shape;78;p3"/>
          <p:cNvSpPr/>
          <p:nvPr/>
        </p:nvSpPr>
        <p:spPr>
          <a:xfrm>
            <a:off x="713232" y="5120640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9A7A8"/>
              </a:buClr>
              <a:buSzPts val="2000"/>
              <a:buFont typeface="Quattrocento Sans"/>
              <a:buNone/>
            </a:pPr>
            <a:r>
              <a:rPr b="0" i="0" lang="en-US" sz="2000" u="none" cap="none" strike="noStrike">
                <a:solidFill>
                  <a:srgbClr val="19A7A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⟳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p3"/>
          <p:cNvSpPr/>
          <p:nvPr/>
        </p:nvSpPr>
        <p:spPr>
          <a:xfrm>
            <a:off x="1216150" y="5189223"/>
            <a:ext cx="44349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1350"/>
              <a:buFont typeface="Play"/>
              <a:buNone/>
            </a:pPr>
            <a:r>
              <a:rPr b="1" i="0" lang="en-US" sz="1550" u="none" cap="none" strike="noStrike">
                <a:solidFill>
                  <a:srgbClr val="0B1F3A"/>
                </a:solidFill>
              </a:rPr>
              <a:t>Learning evidence</a:t>
            </a:r>
            <a:endParaRPr i="0" sz="1550" u="none" cap="none" strike="noStrike">
              <a:solidFill>
                <a:schemeClr val="dk1"/>
              </a:solidFill>
            </a:endParaRPr>
          </a:p>
        </p:txBody>
      </p:sp>
      <p:sp>
        <p:nvSpPr>
          <p:cNvPr id="80" name="Google Shape;80;p3"/>
          <p:cNvSpPr/>
          <p:nvPr/>
        </p:nvSpPr>
        <p:spPr>
          <a:xfrm>
            <a:off x="1216150" y="5459025"/>
            <a:ext cx="44349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66579"/>
              </a:buClr>
              <a:buSzPts val="1120"/>
              <a:buFont typeface="Arial"/>
              <a:buNone/>
            </a:pPr>
            <a:r>
              <a:rPr b="0" i="0" lang="en-US" sz="1520" u="none" cap="none" strike="noStrike">
                <a:solidFill>
                  <a:srgbClr val="566579"/>
                </a:solidFill>
                <a:latin typeface="Arial"/>
                <a:ea typeface="Arial"/>
                <a:cs typeface="Arial"/>
                <a:sym typeface="Arial"/>
              </a:rPr>
              <a:t>Demonstrates input validation, JSON file handling, functions, branching, and safe persistence.</a:t>
            </a:r>
            <a:endParaRPr b="0" i="0" sz="15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1" name="Google Shape;81;p3"/>
          <p:cNvCxnSpPr/>
          <p:nvPr/>
        </p:nvCxnSpPr>
        <p:spPr>
          <a:xfrm>
            <a:off x="475488" y="6473952"/>
            <a:ext cx="11247120" cy="0"/>
          </a:xfrm>
          <a:prstGeom prst="straightConnector1">
            <a:avLst/>
          </a:prstGeom>
          <a:noFill/>
          <a:ln cap="flat" cmpd="sng" w="9525">
            <a:solidFill>
              <a:srgbClr val="D8E2F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2" name="Google Shape;82;p3"/>
          <p:cNvSpPr/>
          <p:nvPr/>
        </p:nvSpPr>
        <p:spPr>
          <a:xfrm>
            <a:off x="548640" y="6556248"/>
            <a:ext cx="530352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780"/>
              <a:buFont typeface="Arial"/>
              <a:buNone/>
            </a:pPr>
            <a:r>
              <a:rPr b="0" i="0" lang="en-US" sz="780" u="none" cap="none" strike="noStrike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IAM + GRC Healthcare Cybersecurity Portfolio Pitch</a:t>
            </a:r>
            <a:endParaRPr b="0" i="0" sz="7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" name="Google Shape;83;p3"/>
          <p:cNvSpPr/>
          <p:nvPr/>
        </p:nvSpPr>
        <p:spPr>
          <a:xfrm>
            <a:off x="11155680" y="6519672"/>
            <a:ext cx="5486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850"/>
              <a:buFont typeface="Arial"/>
              <a:buNone/>
            </a:pPr>
            <a:r>
              <a:rPr b="1" i="0" lang="en-US" sz="850" u="none" cap="none" strike="noStrike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AFC"/>
        </a:solidFill>
      </p:bgPr>
    </p:bg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 cap="flat" cmpd="sng" w="12700">
            <a:solidFill>
              <a:srgbClr val="33333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4"/>
          <p:cNvSpPr/>
          <p:nvPr/>
        </p:nvSpPr>
        <p:spPr>
          <a:xfrm>
            <a:off x="594360" y="384048"/>
            <a:ext cx="99669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9A7A8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19A7A8"/>
                </a:solidFill>
                <a:latin typeface="Arial"/>
                <a:ea typeface="Arial"/>
                <a:cs typeface="Arial"/>
                <a:sym typeface="Arial"/>
              </a:rPr>
              <a:t>COMPLETED EVIDENCE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4"/>
          <p:cNvSpPr/>
          <p:nvPr/>
        </p:nvSpPr>
        <p:spPr>
          <a:xfrm>
            <a:off x="594360" y="731520"/>
            <a:ext cx="996696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3100"/>
              <a:buFont typeface="Play"/>
              <a:buNone/>
            </a:pPr>
            <a:r>
              <a:rPr b="1" i="0" lang="en-US" sz="3100" u="none" cap="none" strike="noStrike">
                <a:solidFill>
                  <a:srgbClr val="0B1F3A"/>
                </a:solidFill>
              </a:rPr>
              <a:t>MoodBuddy: application logic &amp; data flow</a:t>
            </a:r>
            <a:endParaRPr i="0" sz="3100" u="none" cap="none" strike="noStrike">
              <a:solidFill>
                <a:schemeClr val="dk1"/>
              </a:solidFill>
            </a:endParaRPr>
          </a:p>
        </p:txBody>
      </p:sp>
      <p:cxnSp>
        <p:nvCxnSpPr>
          <p:cNvPr id="92" name="Google Shape;92;p4"/>
          <p:cNvCxnSpPr/>
          <p:nvPr/>
        </p:nvCxnSpPr>
        <p:spPr>
          <a:xfrm>
            <a:off x="594360" y="1371600"/>
            <a:ext cx="1051560" cy="0"/>
          </a:xfrm>
          <a:prstGeom prst="straightConnector1">
            <a:avLst/>
          </a:prstGeom>
          <a:noFill/>
          <a:ln cap="flat" cmpd="sng" w="38100">
            <a:solidFill>
              <a:srgbClr val="BF476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3" name="Google Shape;93;p4"/>
          <p:cNvSpPr/>
          <p:nvPr/>
        </p:nvSpPr>
        <p:spPr>
          <a:xfrm>
            <a:off x="594360" y="1581912"/>
            <a:ext cx="102412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3645"/>
              </a:buClr>
              <a:buSzPts val="1420"/>
              <a:buFont typeface="Arial"/>
              <a:buNone/>
            </a:pPr>
            <a:r>
              <a:rPr b="0" i="0" lang="en-US" sz="1520" u="none" cap="none" strike="noStrike">
                <a:solidFill>
                  <a:srgbClr val="263645"/>
                </a:solidFill>
                <a:latin typeface="Arial"/>
                <a:ea typeface="Arial"/>
                <a:cs typeface="Arial"/>
                <a:sym typeface="Arial"/>
              </a:rPr>
              <a:t>A professional process map for explaining how the completed Python project handles users, moods, counters, warnings, and saved history.</a:t>
            </a:r>
            <a:endParaRPr b="0" i="0" sz="15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4"/>
          <p:cNvSpPr/>
          <p:nvPr/>
        </p:nvSpPr>
        <p:spPr>
          <a:xfrm>
            <a:off x="658368" y="2121408"/>
            <a:ext cx="6400800" cy="3931920"/>
          </a:xfrm>
          <a:prstGeom prst="roundRect">
            <a:avLst>
              <a:gd fmla="val 3023" name="adj"/>
            </a:avLst>
          </a:prstGeom>
          <a:solidFill>
            <a:srgbClr val="FFFFFF"/>
          </a:solidFill>
          <a:ln cap="flat" cmpd="sng" w="12700">
            <a:solidFill>
              <a:srgbClr val="D9E2EF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50800">
              <a:srgbClr val="91A4B7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data/extracted/mood_image1.png" id="95" name="Google Shape;95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11096" y="2240280"/>
            <a:ext cx="3895344" cy="3246120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4"/>
          <p:cNvSpPr/>
          <p:nvPr/>
        </p:nvSpPr>
        <p:spPr>
          <a:xfrm>
            <a:off x="896112" y="5650992"/>
            <a:ext cx="2788920" cy="301752"/>
          </a:xfrm>
          <a:prstGeom prst="roundRect">
            <a:avLst>
              <a:gd fmla="val 24242" name="adj"/>
            </a:avLst>
          </a:prstGeom>
          <a:solidFill>
            <a:srgbClr val="EAFBFF"/>
          </a:solidFill>
          <a:ln cap="flat" cmpd="sng" w="10150">
            <a:solidFill>
              <a:srgbClr val="BDE8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4"/>
          <p:cNvSpPr/>
          <p:nvPr/>
        </p:nvSpPr>
        <p:spPr>
          <a:xfrm>
            <a:off x="987552" y="5728716"/>
            <a:ext cx="2606040" cy="1188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056A3"/>
              </a:buClr>
              <a:buSzPts val="830"/>
              <a:buFont typeface="Arial"/>
              <a:buNone/>
            </a:pPr>
            <a:r>
              <a:rPr b="1" i="0" lang="en-US" sz="830" u="none" cap="none" strike="noStrike">
                <a:solidFill>
                  <a:srgbClr val="8056A3"/>
                </a:solidFill>
                <a:latin typeface="Arial"/>
                <a:ea typeface="Arial"/>
                <a:cs typeface="Arial"/>
                <a:sym typeface="Arial"/>
              </a:rPr>
              <a:t>DIAGRAM STYLE: Lucidchart process-flow map</a:t>
            </a:r>
            <a:endParaRPr b="0" i="0" sz="8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4"/>
          <p:cNvSpPr/>
          <p:nvPr/>
        </p:nvSpPr>
        <p:spPr>
          <a:xfrm>
            <a:off x="3822192" y="5650992"/>
            <a:ext cx="2057400" cy="301752"/>
          </a:xfrm>
          <a:prstGeom prst="roundRect">
            <a:avLst>
              <a:gd fmla="val 24242" name="adj"/>
            </a:avLst>
          </a:prstGeom>
          <a:solidFill>
            <a:srgbClr val="EAFBFF"/>
          </a:solidFill>
          <a:ln cap="flat" cmpd="sng" w="10150">
            <a:solidFill>
              <a:srgbClr val="BDE8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4"/>
          <p:cNvSpPr/>
          <p:nvPr/>
        </p:nvSpPr>
        <p:spPr>
          <a:xfrm>
            <a:off x="3913632" y="5728716"/>
            <a:ext cx="1874520" cy="1188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66579"/>
              </a:buClr>
              <a:buSzPts val="830"/>
              <a:buFont typeface="Arial"/>
              <a:buNone/>
            </a:pPr>
            <a:r>
              <a:rPr b="1" i="0" lang="en-US" sz="830" u="none" cap="none" strike="noStrike">
                <a:solidFill>
                  <a:srgbClr val="566579"/>
                </a:solidFill>
                <a:latin typeface="Arial"/>
                <a:ea typeface="Arial"/>
                <a:cs typeface="Arial"/>
                <a:sym typeface="Arial"/>
              </a:rPr>
              <a:t>FIGMA USE: UI mockups only</a:t>
            </a:r>
            <a:endParaRPr b="0" i="0" sz="8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4"/>
          <p:cNvSpPr/>
          <p:nvPr/>
        </p:nvSpPr>
        <p:spPr>
          <a:xfrm>
            <a:off x="7333488" y="2121408"/>
            <a:ext cx="4187952" cy="3931920"/>
          </a:xfrm>
          <a:prstGeom prst="roundRect">
            <a:avLst>
              <a:gd fmla="val 3023" name="adj"/>
            </a:avLst>
          </a:prstGeom>
          <a:solidFill>
            <a:srgbClr val="FFFFFF"/>
          </a:solidFill>
          <a:ln cap="flat" cmpd="sng" w="12700">
            <a:solidFill>
              <a:srgbClr val="D9E2EF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50800">
              <a:srgbClr val="91A4B7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4"/>
          <p:cNvSpPr/>
          <p:nvPr/>
        </p:nvSpPr>
        <p:spPr>
          <a:xfrm>
            <a:off x="7635240" y="2395728"/>
            <a:ext cx="3291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1900"/>
              <a:buFont typeface="Play"/>
              <a:buNone/>
            </a:pPr>
            <a:r>
              <a:rPr b="1" i="0" lang="en-US" sz="1900" u="none" cap="none" strike="noStrike">
                <a:solidFill>
                  <a:srgbClr val="0B1F3A"/>
                </a:solidFill>
              </a:rPr>
              <a:t>Technical</a:t>
            </a:r>
            <a:r>
              <a:rPr b="1" lang="en-US" sz="1900">
                <a:solidFill>
                  <a:srgbClr val="0B1F3A"/>
                </a:solidFill>
              </a:rPr>
              <a:t>ly speaking..</a:t>
            </a:r>
            <a:endParaRPr i="0" sz="1900" u="none" cap="none" strike="noStrike">
              <a:solidFill>
                <a:schemeClr val="dk1"/>
              </a:solidFill>
            </a:endParaRPr>
          </a:p>
        </p:txBody>
      </p:sp>
      <p:sp>
        <p:nvSpPr>
          <p:cNvPr id="102" name="Google Shape;102;p4"/>
          <p:cNvSpPr/>
          <p:nvPr/>
        </p:nvSpPr>
        <p:spPr>
          <a:xfrm>
            <a:off x="7635240" y="2880360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9A7A8"/>
              </a:buClr>
              <a:buSzPts val="2000"/>
              <a:buFont typeface="Quattrocento Sans"/>
              <a:buNone/>
            </a:pPr>
            <a:r>
              <a:rPr b="0" i="0" lang="en-US" sz="2000" u="none" cap="none" strike="noStrike">
                <a:solidFill>
                  <a:srgbClr val="19A7A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🔍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4"/>
          <p:cNvSpPr/>
          <p:nvPr/>
        </p:nvSpPr>
        <p:spPr>
          <a:xfrm>
            <a:off x="8138160" y="2889504"/>
            <a:ext cx="30175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1300"/>
              <a:buFont typeface="Play"/>
              <a:buNone/>
            </a:pPr>
            <a:r>
              <a:rPr b="1" i="0" lang="en-US" sz="1300" u="none" cap="none" strike="noStrike">
                <a:solidFill>
                  <a:srgbClr val="0B1F3A"/>
                </a:solidFill>
                <a:latin typeface="Play"/>
                <a:ea typeface="Play"/>
                <a:cs typeface="Play"/>
                <a:sym typeface="Play"/>
              </a:rPr>
              <a:t>I</a:t>
            </a:r>
            <a:r>
              <a:rPr b="1" i="0" lang="en-US" sz="1300" u="none" cap="none" strike="noStrike">
                <a:solidFill>
                  <a:srgbClr val="0B1F3A"/>
                </a:solidFill>
              </a:rPr>
              <a:t>nput validation</a:t>
            </a:r>
            <a:endParaRPr i="0" sz="1300" u="none" cap="none" strike="noStrike">
              <a:solidFill>
                <a:schemeClr val="dk1"/>
              </a:solidFill>
            </a:endParaRPr>
          </a:p>
        </p:txBody>
      </p:sp>
      <p:sp>
        <p:nvSpPr>
          <p:cNvPr id="104" name="Google Shape;104;p4"/>
          <p:cNvSpPr/>
          <p:nvPr/>
        </p:nvSpPr>
        <p:spPr>
          <a:xfrm>
            <a:off x="8138160" y="3172968"/>
            <a:ext cx="30175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66579"/>
              </a:buClr>
              <a:buSzPts val="1000"/>
              <a:buFont typeface="Arial"/>
              <a:buNone/>
            </a:pPr>
            <a:r>
              <a:rPr b="0" i="0" lang="en-US" sz="1200" u="none" cap="none" strike="noStrike">
                <a:solidFill>
                  <a:srgbClr val="566579"/>
                </a:solidFill>
                <a:latin typeface="Arial"/>
                <a:ea typeface="Arial"/>
                <a:cs typeface="Arial"/>
                <a:sym typeface="Arial"/>
              </a:rPr>
              <a:t>Name, age, and menu choices checked before processing.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4"/>
          <p:cNvSpPr/>
          <p:nvPr/>
        </p:nvSpPr>
        <p:spPr>
          <a:xfrm>
            <a:off x="7635240" y="3611880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46A0"/>
              </a:buClr>
              <a:buSzPts val="2000"/>
              <a:buFont typeface="Quattrocento Sans"/>
              <a:buNone/>
            </a:pPr>
            <a:r>
              <a:rPr b="0" i="0" lang="en-US" sz="2000" u="none" cap="none" strike="noStrike">
                <a:solidFill>
                  <a:srgbClr val="1446A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👤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4"/>
          <p:cNvSpPr/>
          <p:nvPr/>
        </p:nvSpPr>
        <p:spPr>
          <a:xfrm>
            <a:off x="8138160" y="3621024"/>
            <a:ext cx="30175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1300"/>
              <a:buFont typeface="Play"/>
              <a:buNone/>
            </a:pPr>
            <a:r>
              <a:rPr b="1" i="0" lang="en-US" sz="1300" u="none" cap="none" strike="noStrike">
                <a:solidFill>
                  <a:srgbClr val="0B1F3A"/>
                </a:solidFill>
                <a:latin typeface="Play"/>
                <a:ea typeface="Play"/>
                <a:cs typeface="Play"/>
                <a:sym typeface="Play"/>
              </a:rPr>
              <a:t>U</a:t>
            </a:r>
            <a:r>
              <a:rPr b="1" i="0" lang="en-US" sz="1300" u="none" cap="none" strike="noStrike">
                <a:solidFill>
                  <a:srgbClr val="0B1F3A"/>
                </a:solidFill>
              </a:rPr>
              <a:t>ser identification</a:t>
            </a:r>
            <a:endParaRPr i="0" sz="1300" u="none" cap="none" strike="noStrike">
              <a:solidFill>
                <a:schemeClr val="dk1"/>
              </a:solidFill>
            </a:endParaRPr>
          </a:p>
        </p:txBody>
      </p:sp>
      <p:sp>
        <p:nvSpPr>
          <p:cNvPr id="107" name="Google Shape;107;p4"/>
          <p:cNvSpPr/>
          <p:nvPr/>
        </p:nvSpPr>
        <p:spPr>
          <a:xfrm>
            <a:off x="8138160" y="3904488"/>
            <a:ext cx="30175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66579"/>
              </a:buClr>
              <a:buSzPts val="1000"/>
              <a:buFont typeface="Arial"/>
              <a:buNone/>
            </a:pPr>
            <a:r>
              <a:rPr b="0" i="0" lang="en-US" sz="1200" u="none" cap="none" strike="noStrike">
                <a:solidFill>
                  <a:srgbClr val="566579"/>
                </a:solidFill>
                <a:latin typeface="Arial"/>
                <a:ea typeface="Arial"/>
                <a:cs typeface="Arial"/>
                <a:sym typeface="Arial"/>
              </a:rPr>
              <a:t>Returning users are matched; duplicate/conflicting records are blocked.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4"/>
          <p:cNvSpPr/>
          <p:nvPr/>
        </p:nvSpPr>
        <p:spPr>
          <a:xfrm>
            <a:off x="7635240" y="4343400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056A3"/>
              </a:buClr>
              <a:buSzPts val="2000"/>
              <a:buFont typeface="Quattrocento Sans"/>
              <a:buNone/>
            </a:pPr>
            <a:r>
              <a:rPr b="0" i="0" lang="en-US" sz="2000" u="none" cap="none" strike="noStrike">
                <a:solidFill>
                  <a:srgbClr val="8056A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💾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4"/>
          <p:cNvSpPr/>
          <p:nvPr/>
        </p:nvSpPr>
        <p:spPr>
          <a:xfrm>
            <a:off x="8138160" y="4352544"/>
            <a:ext cx="30175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1300"/>
              <a:buFont typeface="Play"/>
              <a:buNone/>
            </a:pPr>
            <a:r>
              <a:rPr b="1" i="0" lang="en-US" sz="1300" u="none" cap="none" strike="noStrike">
                <a:solidFill>
                  <a:srgbClr val="0B1F3A"/>
                </a:solidFill>
              </a:rPr>
              <a:t>JSON persistence</a:t>
            </a:r>
            <a:endParaRPr i="0" sz="1300" u="none" cap="none" strike="noStrike">
              <a:solidFill>
                <a:schemeClr val="dk1"/>
              </a:solidFill>
            </a:endParaRPr>
          </a:p>
        </p:txBody>
      </p:sp>
      <p:sp>
        <p:nvSpPr>
          <p:cNvPr id="110" name="Google Shape;110;p4"/>
          <p:cNvSpPr/>
          <p:nvPr/>
        </p:nvSpPr>
        <p:spPr>
          <a:xfrm>
            <a:off x="8138160" y="4636008"/>
            <a:ext cx="30175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66579"/>
              </a:buClr>
              <a:buSzPts val="1000"/>
              <a:buFont typeface="Arial"/>
              <a:buNone/>
            </a:pPr>
            <a:r>
              <a:rPr b="0" i="0" lang="en-US" sz="1200" u="none" cap="none" strike="noStrike">
                <a:solidFill>
                  <a:srgbClr val="566579"/>
                </a:solidFill>
                <a:latin typeface="Arial"/>
                <a:ea typeface="Arial"/>
                <a:cs typeface="Arial"/>
                <a:sym typeface="Arial"/>
              </a:rPr>
              <a:t>Every check-in is saved with counters and timestamped history.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4"/>
          <p:cNvSpPr/>
          <p:nvPr/>
        </p:nvSpPr>
        <p:spPr>
          <a:xfrm>
            <a:off x="7635240" y="5074920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F4767"/>
              </a:buClr>
              <a:buSzPts val="2000"/>
              <a:buFont typeface="Quattrocento Sans"/>
              <a:buNone/>
            </a:pPr>
            <a:r>
              <a:rPr b="0" i="0" lang="en-US" sz="2000" u="none" cap="none" strike="noStrike">
                <a:solidFill>
                  <a:srgbClr val="BF476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🧠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4"/>
          <p:cNvSpPr/>
          <p:nvPr/>
        </p:nvSpPr>
        <p:spPr>
          <a:xfrm>
            <a:off x="8138160" y="5084064"/>
            <a:ext cx="30175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1300"/>
              <a:buFont typeface="Play"/>
              <a:buNone/>
            </a:pPr>
            <a:r>
              <a:rPr b="1" i="0" lang="en-US" sz="1300" u="none" cap="none" strike="noStrike">
                <a:solidFill>
                  <a:srgbClr val="0B1F3A"/>
                </a:solidFill>
                <a:latin typeface="Play"/>
                <a:ea typeface="Play"/>
                <a:cs typeface="Play"/>
                <a:sym typeface="Play"/>
              </a:rPr>
              <a:t>C</a:t>
            </a:r>
            <a:r>
              <a:rPr b="1" i="0" lang="en-US" sz="1300" u="none" cap="none" strike="noStrike">
                <a:solidFill>
                  <a:srgbClr val="0B1F3A"/>
                </a:solidFill>
              </a:rPr>
              <a:t>onditional logic</a:t>
            </a:r>
            <a:endParaRPr i="0" sz="1300" u="none" cap="none" strike="noStrike">
              <a:solidFill>
                <a:schemeClr val="dk1"/>
              </a:solidFill>
            </a:endParaRPr>
          </a:p>
        </p:txBody>
      </p:sp>
      <p:sp>
        <p:nvSpPr>
          <p:cNvPr id="113" name="Google Shape;113;p4"/>
          <p:cNvSpPr/>
          <p:nvPr/>
        </p:nvSpPr>
        <p:spPr>
          <a:xfrm>
            <a:off x="8138160" y="5367528"/>
            <a:ext cx="30175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66579"/>
              </a:buClr>
              <a:buSzPts val="1000"/>
              <a:buFont typeface="Arial"/>
              <a:buNone/>
            </a:pPr>
            <a:r>
              <a:rPr b="0" i="0" lang="en-US" sz="1200" u="none" cap="none" strike="noStrike">
                <a:solidFill>
                  <a:srgbClr val="566579"/>
                </a:solidFill>
                <a:latin typeface="Arial"/>
                <a:ea typeface="Arial"/>
                <a:cs typeface="Arial"/>
                <a:sym typeface="Arial"/>
              </a:rPr>
              <a:t>Negative and non-negative paths drive support responses.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4" name="Google Shape;114;p4"/>
          <p:cNvCxnSpPr/>
          <p:nvPr/>
        </p:nvCxnSpPr>
        <p:spPr>
          <a:xfrm>
            <a:off x="475488" y="6473952"/>
            <a:ext cx="11247120" cy="0"/>
          </a:xfrm>
          <a:prstGeom prst="straightConnector1">
            <a:avLst/>
          </a:prstGeom>
          <a:noFill/>
          <a:ln cap="flat" cmpd="sng" w="9525">
            <a:solidFill>
              <a:srgbClr val="D8E2F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5" name="Google Shape;115;p4"/>
          <p:cNvSpPr/>
          <p:nvPr/>
        </p:nvSpPr>
        <p:spPr>
          <a:xfrm>
            <a:off x="548640" y="6556248"/>
            <a:ext cx="530352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780"/>
              <a:buFont typeface="Arial"/>
              <a:buNone/>
            </a:pPr>
            <a:r>
              <a:rPr b="0" i="0" lang="en-US" sz="780" u="none" cap="none" strike="noStrike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IAM + GRC Healthcare Cybersecurity Portfolio Pitch</a:t>
            </a:r>
            <a:endParaRPr b="0" i="0" sz="7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4"/>
          <p:cNvSpPr/>
          <p:nvPr/>
        </p:nvSpPr>
        <p:spPr>
          <a:xfrm>
            <a:off x="11155680" y="6519672"/>
            <a:ext cx="5486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850"/>
              <a:buFont typeface="Arial"/>
              <a:buNone/>
            </a:pPr>
            <a:r>
              <a:rPr b="1" i="0" lang="en-US" sz="850" u="none" cap="none" strike="noStrike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mnt/data/wide_cinematic_futuristic_digital_illustration_c_batch_1.png" id="122" name="Google Shape;122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69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5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60000"/>
            </a:srgbClr>
          </a:solidFill>
          <a:ln cap="flat" cmpd="sng" w="12700">
            <a:solidFill>
              <a:srgbClr val="33333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5"/>
          <p:cNvSpPr/>
          <p:nvPr/>
        </p:nvSpPr>
        <p:spPr>
          <a:xfrm>
            <a:off x="475488" y="352339"/>
            <a:ext cx="6492300" cy="5669400"/>
          </a:xfrm>
          <a:prstGeom prst="roundRect">
            <a:avLst>
              <a:gd fmla="val 2903" name="adj"/>
            </a:avLst>
          </a:prstGeom>
          <a:solidFill>
            <a:srgbClr val="FFFFFF">
              <a:alpha val="96863"/>
            </a:srgbClr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algn="bl" dir="2700000" dist="508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5"/>
          <p:cNvSpPr/>
          <p:nvPr/>
        </p:nvSpPr>
        <p:spPr>
          <a:xfrm>
            <a:off x="685810" y="609125"/>
            <a:ext cx="5715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9A7A8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19A7A8"/>
                </a:solidFill>
                <a:latin typeface="Arial"/>
                <a:ea typeface="Arial"/>
                <a:cs typeface="Arial"/>
                <a:sym typeface="Arial"/>
              </a:rPr>
              <a:t>PROJECT 2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5"/>
          <p:cNvSpPr/>
          <p:nvPr/>
        </p:nvSpPr>
        <p:spPr>
          <a:xfrm>
            <a:off x="685835" y="1028675"/>
            <a:ext cx="57150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3100"/>
              <a:buFont typeface="Play"/>
              <a:buNone/>
            </a:pPr>
            <a:r>
              <a:rPr b="1" i="0" lang="en-US" sz="3100" u="none" cap="none" strike="noStrike">
                <a:solidFill>
                  <a:srgbClr val="0B1F3A"/>
                </a:solidFill>
              </a:rPr>
              <a:t>Ongoing capstone: Care </a:t>
            </a:r>
            <a:r>
              <a:rPr b="1" i="0" lang="en-US" sz="3100" u="none" cap="none" strike="noStrike">
                <a:solidFill>
                  <a:srgbClr val="0B1F3A"/>
                </a:solidFill>
              </a:rPr>
              <a:t>Access Navigator (CAN)</a:t>
            </a:r>
            <a:endParaRPr i="0" sz="3100" u="none" cap="none" strike="noStrike">
              <a:solidFill>
                <a:schemeClr val="dk1"/>
              </a:solidFill>
            </a:endParaRPr>
          </a:p>
        </p:txBody>
      </p:sp>
      <p:cxnSp>
        <p:nvCxnSpPr>
          <p:cNvPr id="127" name="Google Shape;127;p5"/>
          <p:cNvCxnSpPr/>
          <p:nvPr/>
        </p:nvCxnSpPr>
        <p:spPr>
          <a:xfrm>
            <a:off x="754385" y="1818230"/>
            <a:ext cx="1051500" cy="0"/>
          </a:xfrm>
          <a:prstGeom prst="straightConnector1">
            <a:avLst/>
          </a:prstGeom>
          <a:noFill/>
          <a:ln cap="flat" cmpd="sng" w="38100">
            <a:solidFill>
              <a:srgbClr val="BF476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8" name="Google Shape;128;p5"/>
          <p:cNvSpPr/>
          <p:nvPr/>
        </p:nvSpPr>
        <p:spPr>
          <a:xfrm>
            <a:off x="754375" y="1911100"/>
            <a:ext cx="5577900" cy="96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3645"/>
              </a:buClr>
              <a:buSzPts val="1340"/>
              <a:buFont typeface="Arial"/>
              <a:buNone/>
            </a:pPr>
            <a:r>
              <a:rPr lang="en-US" sz="1640">
                <a:solidFill>
                  <a:srgbClr val="263645"/>
                </a:solidFill>
              </a:rPr>
              <a:t>Care Access Navigator is the project for IAM/GRC simulation for  the </a:t>
            </a:r>
            <a:r>
              <a:rPr b="0" i="0" lang="en-US" sz="1640" u="none" cap="none" strike="noStrike">
                <a:solidFill>
                  <a:srgbClr val="263645"/>
                </a:solidFill>
                <a:latin typeface="Arial"/>
                <a:ea typeface="Arial"/>
                <a:cs typeface="Arial"/>
                <a:sym typeface="Arial"/>
              </a:rPr>
              <a:t>Fictional Healthline Regional Medical Center (HRMC)using synthetic identities, workflows, monitoring, risk tracking, and reporting.</a:t>
            </a:r>
            <a:endParaRPr b="0" i="0" sz="16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5"/>
          <p:cNvSpPr/>
          <p:nvPr/>
        </p:nvSpPr>
        <p:spPr>
          <a:xfrm>
            <a:off x="877824" y="3127248"/>
            <a:ext cx="3017520" cy="749808"/>
          </a:xfrm>
          <a:prstGeom prst="roundRect">
            <a:avLst>
              <a:gd fmla="val 12195" name="adj"/>
            </a:avLst>
          </a:prstGeom>
          <a:solidFill>
            <a:srgbClr val="FFFFFF"/>
          </a:solidFill>
          <a:ln cap="flat" cmpd="sng" w="10150">
            <a:solidFill>
              <a:srgbClr val="D7E3EF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50800">
              <a:srgbClr val="91A4B7">
                <a:alpha val="1411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5"/>
          <p:cNvSpPr/>
          <p:nvPr/>
        </p:nvSpPr>
        <p:spPr>
          <a:xfrm>
            <a:off x="877824" y="3127248"/>
            <a:ext cx="73152" cy="749808"/>
          </a:xfrm>
          <a:prstGeom prst="rect">
            <a:avLst/>
          </a:prstGeom>
          <a:solidFill>
            <a:srgbClr val="19A7A8"/>
          </a:solidFill>
          <a:ln cap="flat" cmpd="sng" w="12700">
            <a:solidFill>
              <a:srgbClr val="33333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5"/>
          <p:cNvSpPr/>
          <p:nvPr/>
        </p:nvSpPr>
        <p:spPr>
          <a:xfrm>
            <a:off x="1042416" y="3255264"/>
            <a:ext cx="2788920" cy="109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9A7A8"/>
              </a:buClr>
              <a:buSzPts val="750"/>
              <a:buFont typeface="Arial"/>
              <a:buNone/>
            </a:pPr>
            <a:r>
              <a:rPr b="1" i="0" lang="en-US" sz="750" u="none" cap="none" strike="noStrike">
                <a:solidFill>
                  <a:srgbClr val="19A7A8"/>
                </a:solidFill>
                <a:latin typeface="Arial"/>
                <a:ea typeface="Arial"/>
                <a:cs typeface="Arial"/>
                <a:sym typeface="Arial"/>
              </a:rPr>
              <a:t>PRIMARY TARGET</a:t>
            </a:r>
            <a:endParaRPr b="0" i="0" sz="7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5"/>
          <p:cNvSpPr/>
          <p:nvPr/>
        </p:nvSpPr>
        <p:spPr>
          <a:xfrm>
            <a:off x="992178" y="3449019"/>
            <a:ext cx="2788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1450"/>
              <a:buFont typeface="Play"/>
              <a:buNone/>
            </a:pPr>
            <a:r>
              <a:rPr b="1" i="0" lang="en-US" sz="1450" u="none" cap="none" strike="noStrike">
                <a:solidFill>
                  <a:srgbClr val="0B1F3A"/>
                </a:solidFill>
              </a:rPr>
              <a:t>IAM + GRC in healthcare</a:t>
            </a:r>
            <a:endParaRPr i="0" sz="1450" u="none" cap="none" strike="noStrike">
              <a:solidFill>
                <a:schemeClr val="dk1"/>
              </a:solidFill>
            </a:endParaRPr>
          </a:p>
        </p:txBody>
      </p:sp>
      <p:sp>
        <p:nvSpPr>
          <p:cNvPr id="133" name="Google Shape;133;p5"/>
          <p:cNvSpPr/>
          <p:nvPr/>
        </p:nvSpPr>
        <p:spPr>
          <a:xfrm>
            <a:off x="4096512" y="3127248"/>
            <a:ext cx="2514600" cy="749808"/>
          </a:xfrm>
          <a:prstGeom prst="roundRect">
            <a:avLst>
              <a:gd fmla="val 12195" name="adj"/>
            </a:avLst>
          </a:prstGeom>
          <a:solidFill>
            <a:srgbClr val="FFFFFF"/>
          </a:solidFill>
          <a:ln cap="flat" cmpd="sng" w="10150">
            <a:solidFill>
              <a:srgbClr val="D7E3EF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50800">
              <a:srgbClr val="91A4B7">
                <a:alpha val="1411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5"/>
          <p:cNvSpPr/>
          <p:nvPr/>
        </p:nvSpPr>
        <p:spPr>
          <a:xfrm>
            <a:off x="4096512" y="3127248"/>
            <a:ext cx="73152" cy="749808"/>
          </a:xfrm>
          <a:prstGeom prst="rect">
            <a:avLst/>
          </a:prstGeom>
          <a:solidFill>
            <a:srgbClr val="BF4767"/>
          </a:solidFill>
          <a:ln cap="flat" cmpd="sng" w="12700">
            <a:solidFill>
              <a:srgbClr val="33333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5"/>
          <p:cNvSpPr/>
          <p:nvPr/>
        </p:nvSpPr>
        <p:spPr>
          <a:xfrm>
            <a:off x="4261104" y="3255227"/>
            <a:ext cx="2286000" cy="10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F4767"/>
              </a:buClr>
              <a:buSzPts val="750"/>
              <a:buFont typeface="Arial"/>
              <a:buNone/>
            </a:pPr>
            <a:r>
              <a:rPr b="1" i="0" lang="en-US" sz="750" u="none" cap="none" strike="noStrike">
                <a:solidFill>
                  <a:srgbClr val="BF4767"/>
                </a:solidFill>
                <a:latin typeface="Arial"/>
                <a:ea typeface="Arial"/>
                <a:cs typeface="Arial"/>
                <a:sym typeface="Arial"/>
              </a:rPr>
              <a:t>CURRENT STAGE</a:t>
            </a:r>
            <a:endParaRPr b="0" i="0" sz="7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5"/>
          <p:cNvSpPr/>
          <p:nvPr/>
        </p:nvSpPr>
        <p:spPr>
          <a:xfrm>
            <a:off x="4261104" y="3541532"/>
            <a:ext cx="2286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1450"/>
              <a:buFont typeface="Play"/>
              <a:buNone/>
            </a:pPr>
            <a:r>
              <a:rPr b="1" i="0" lang="en-US" sz="1450" u="none" cap="none" strike="noStrike">
                <a:solidFill>
                  <a:srgbClr val="0B1F3A"/>
                </a:solidFill>
              </a:rPr>
              <a:t>3 months complete / 3 remaining</a:t>
            </a:r>
            <a:endParaRPr i="0" sz="1450" u="none" cap="none" strike="noStrike">
              <a:solidFill>
                <a:schemeClr val="dk1"/>
              </a:solidFill>
            </a:endParaRPr>
          </a:p>
        </p:txBody>
      </p:sp>
      <p:sp>
        <p:nvSpPr>
          <p:cNvPr id="137" name="Google Shape;137;p5"/>
          <p:cNvSpPr/>
          <p:nvPr/>
        </p:nvSpPr>
        <p:spPr>
          <a:xfrm>
            <a:off x="992175" y="4700938"/>
            <a:ext cx="5257800" cy="7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66579"/>
              </a:buClr>
              <a:buSzPts val="1300"/>
              <a:buFont typeface="Arial"/>
              <a:buNone/>
            </a:pPr>
            <a:r>
              <a:rPr b="0" i="0" lang="en-US" sz="1600" u="none" cap="none" strike="noStrike">
                <a:solidFill>
                  <a:srgbClr val="566579"/>
                </a:solidFill>
                <a:latin typeface="Arial"/>
                <a:ea typeface="Arial"/>
                <a:cs typeface="Arial"/>
                <a:sym typeface="Arial"/>
              </a:rPr>
              <a:t>Boundary: all identities, events, ePHI scenarios, logs, and evidence are simulated. No real patient or production data is used.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8" name="Google Shape;138;p5"/>
          <p:cNvCxnSpPr/>
          <p:nvPr/>
        </p:nvCxnSpPr>
        <p:spPr>
          <a:xfrm>
            <a:off x="475488" y="6473952"/>
            <a:ext cx="11247120" cy="0"/>
          </a:xfrm>
          <a:prstGeom prst="straightConnector1">
            <a:avLst/>
          </a:prstGeom>
          <a:noFill/>
          <a:ln cap="flat" cmpd="sng" w="9525">
            <a:solidFill>
              <a:srgbClr val="D8E2F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9" name="Google Shape;139;p5"/>
          <p:cNvSpPr/>
          <p:nvPr/>
        </p:nvSpPr>
        <p:spPr>
          <a:xfrm>
            <a:off x="548640" y="6556248"/>
            <a:ext cx="530352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780"/>
              <a:buFont typeface="Arial"/>
              <a:buNone/>
            </a:pPr>
            <a:r>
              <a:rPr b="0" i="0" lang="en-US" sz="780" u="none" cap="none" strike="noStrike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IAM + GRC Healthcare Cybersecurity Portfolio Pitch</a:t>
            </a:r>
            <a:endParaRPr b="0" i="0" sz="7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5"/>
          <p:cNvSpPr/>
          <p:nvPr/>
        </p:nvSpPr>
        <p:spPr>
          <a:xfrm>
            <a:off x="11155680" y="6519672"/>
            <a:ext cx="5486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850"/>
              <a:buFont typeface="Arial"/>
              <a:buNone/>
            </a:pPr>
            <a:r>
              <a:rPr b="1" i="0" lang="en-US" sz="850" u="none" cap="none" strike="noStrike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05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9FC"/>
        </a:solidFill>
      </p:bgPr>
    </p:bg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6"/>
          <p:cNvSpPr/>
          <p:nvPr/>
        </p:nvSpPr>
        <p:spPr>
          <a:xfrm>
            <a:off x="475488" y="6492240"/>
            <a:ext cx="11247120" cy="9144"/>
          </a:xfrm>
          <a:prstGeom prst="rect">
            <a:avLst/>
          </a:prstGeom>
          <a:solidFill>
            <a:srgbClr val="D0DBE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6"/>
          <p:cNvSpPr txBox="1"/>
          <p:nvPr/>
        </p:nvSpPr>
        <p:spPr>
          <a:xfrm>
            <a:off x="530352" y="6601968"/>
            <a:ext cx="4754880" cy="1463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50" u="none" cap="none" strike="noStrike">
                <a:solidFill>
                  <a:srgbClr val="505F73"/>
                </a:solidFill>
                <a:latin typeface="Arial"/>
                <a:ea typeface="Arial"/>
                <a:cs typeface="Arial"/>
                <a:sym typeface="Arial"/>
              </a:rPr>
              <a:t>IAM + GRC Healthcare Cybersecurity Portfolio Pitch</a:t>
            </a:r>
            <a:endParaRPr/>
          </a:p>
        </p:txBody>
      </p:sp>
      <p:sp>
        <p:nvSpPr>
          <p:cNvPr id="148" name="Google Shape;148;p6"/>
          <p:cNvSpPr txBox="1"/>
          <p:nvPr/>
        </p:nvSpPr>
        <p:spPr>
          <a:xfrm>
            <a:off x="603504" y="457200"/>
            <a:ext cx="20116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00A3A3"/>
                </a:solidFill>
                <a:latin typeface="Arial"/>
                <a:ea typeface="Arial"/>
                <a:cs typeface="Arial"/>
                <a:sym typeface="Arial"/>
              </a:rPr>
              <a:t>ARCHITECTURE</a:t>
            </a:r>
            <a:endParaRPr/>
          </a:p>
        </p:txBody>
      </p:sp>
      <p:sp>
        <p:nvSpPr>
          <p:cNvPr id="149" name="Google Shape;149;p6"/>
          <p:cNvSpPr txBox="1"/>
          <p:nvPr/>
        </p:nvSpPr>
        <p:spPr>
          <a:xfrm>
            <a:off x="603504" y="786384"/>
            <a:ext cx="98755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0A1F3D"/>
                </a:solidFill>
                <a:latin typeface="Arial"/>
                <a:ea typeface="Arial"/>
                <a:cs typeface="Arial"/>
                <a:sym typeface="Arial"/>
              </a:rPr>
              <a:t>Care Access Navigator: architecture &amp; flow</a:t>
            </a:r>
            <a:endParaRPr/>
          </a:p>
        </p:txBody>
      </p:sp>
      <p:sp>
        <p:nvSpPr>
          <p:cNvPr id="150" name="Google Shape;150;p6"/>
          <p:cNvSpPr/>
          <p:nvPr/>
        </p:nvSpPr>
        <p:spPr>
          <a:xfrm>
            <a:off x="603504" y="1353312"/>
            <a:ext cx="1078992" cy="32004"/>
          </a:xfrm>
          <a:prstGeom prst="rect">
            <a:avLst/>
          </a:prstGeom>
          <a:solidFill>
            <a:srgbClr val="C747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6"/>
          <p:cNvSpPr txBox="1"/>
          <p:nvPr/>
        </p:nvSpPr>
        <p:spPr>
          <a:xfrm>
            <a:off x="749804" y="1451718"/>
            <a:ext cx="109728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233446"/>
                </a:solidFill>
                <a:latin typeface="Arial"/>
                <a:ea typeface="Arial"/>
                <a:cs typeface="Arial"/>
                <a:sym typeface="Arial"/>
              </a:rPr>
              <a:t>Original project flow diagram plus a professional architecture view for explaining IAM, access governance, monitoring, and GRC reporting.</a:t>
            </a:r>
            <a:endParaRPr sz="1600"/>
          </a:p>
        </p:txBody>
      </p:sp>
      <p:sp>
        <p:nvSpPr>
          <p:cNvPr id="152" name="Google Shape;152;p6"/>
          <p:cNvSpPr/>
          <p:nvPr/>
        </p:nvSpPr>
        <p:spPr>
          <a:xfrm>
            <a:off x="525716" y="2103135"/>
            <a:ext cx="6126600" cy="42519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0DBE8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6"/>
          <p:cNvSpPr txBox="1"/>
          <p:nvPr/>
        </p:nvSpPr>
        <p:spPr>
          <a:xfrm>
            <a:off x="2414360" y="2085020"/>
            <a:ext cx="26061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0A1F3D"/>
                </a:solidFill>
                <a:latin typeface="Arial"/>
                <a:ea typeface="Arial"/>
                <a:cs typeface="Arial"/>
                <a:sym typeface="Arial"/>
              </a:rPr>
              <a:t>Original project flow diagram</a:t>
            </a:r>
            <a:endParaRPr sz="1450"/>
          </a:p>
        </p:txBody>
      </p:sp>
      <p:sp>
        <p:nvSpPr>
          <p:cNvPr id="154" name="Google Shape;154;p6"/>
          <p:cNvSpPr txBox="1"/>
          <p:nvPr/>
        </p:nvSpPr>
        <p:spPr>
          <a:xfrm>
            <a:off x="822960" y="2331720"/>
            <a:ext cx="5577900" cy="39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80" u="none" cap="none" strike="noStrike">
                <a:solidFill>
                  <a:srgbClr val="505F73"/>
                </a:solidFill>
                <a:latin typeface="Arial"/>
                <a:ea typeface="Arial"/>
                <a:cs typeface="Arial"/>
                <a:sym typeface="Arial"/>
              </a:rPr>
              <a:t>flow: workforce data → IAM lab → apps/workflows → logs → reviews, incidents, GRC → dashboard</a:t>
            </a:r>
            <a:endParaRPr sz="1600"/>
          </a:p>
        </p:txBody>
      </p:sp>
      <p:pic>
        <p:nvPicPr>
          <p:cNvPr descr="care_image2.png" id="155" name="Google Shape;155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33325" y="2687140"/>
            <a:ext cx="3711389" cy="3154681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6"/>
          <p:cNvSpPr/>
          <p:nvPr/>
        </p:nvSpPr>
        <p:spPr>
          <a:xfrm>
            <a:off x="2560313" y="5998547"/>
            <a:ext cx="2057400" cy="255900"/>
          </a:xfrm>
          <a:prstGeom prst="roundRect">
            <a:avLst>
              <a:gd fmla="val 16667" name="adj"/>
            </a:avLst>
          </a:prstGeom>
          <a:solidFill>
            <a:srgbClr val="E8F7F9"/>
          </a:solidFill>
          <a:ln cap="flat" cmpd="sng" w="12700">
            <a:solidFill>
              <a:srgbClr val="9DDEE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6"/>
          <p:cNvSpPr txBox="1"/>
          <p:nvPr/>
        </p:nvSpPr>
        <p:spPr>
          <a:xfrm>
            <a:off x="2780191" y="6027942"/>
            <a:ext cx="1874400" cy="197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80" u="none" cap="none" strike="noStrike">
                <a:solidFill>
                  <a:srgbClr val="00A3A3"/>
                </a:solidFill>
                <a:latin typeface="Arial"/>
                <a:ea typeface="Arial"/>
                <a:cs typeface="Arial"/>
                <a:sym typeface="Arial"/>
              </a:rPr>
              <a:t>Lucidchart workflow diagram</a:t>
            </a:r>
            <a:endParaRPr/>
          </a:p>
        </p:txBody>
      </p:sp>
      <p:sp>
        <p:nvSpPr>
          <p:cNvPr id="158" name="Google Shape;158;p6"/>
          <p:cNvSpPr/>
          <p:nvPr/>
        </p:nvSpPr>
        <p:spPr>
          <a:xfrm>
            <a:off x="6931153" y="2057410"/>
            <a:ext cx="4617600" cy="42519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0DBE8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6"/>
          <p:cNvSpPr txBox="1"/>
          <p:nvPr/>
        </p:nvSpPr>
        <p:spPr>
          <a:xfrm>
            <a:off x="7461499" y="2271075"/>
            <a:ext cx="31632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0A1F3D"/>
                </a:solidFill>
              </a:rPr>
              <a:t>               </a:t>
            </a:r>
            <a:r>
              <a:rPr b="1" i="0" lang="en-US" sz="1250" u="none" cap="none" strike="noStrike">
                <a:solidFill>
                  <a:srgbClr val="0A1F3D"/>
                </a:solidFill>
                <a:latin typeface="Arial"/>
                <a:ea typeface="Arial"/>
                <a:cs typeface="Arial"/>
                <a:sym typeface="Arial"/>
              </a:rPr>
              <a:t>Professional architecture view</a:t>
            </a:r>
            <a:endParaRPr sz="1600"/>
          </a:p>
        </p:txBody>
      </p:sp>
      <p:sp>
        <p:nvSpPr>
          <p:cNvPr id="160" name="Google Shape;160;p6"/>
          <p:cNvSpPr txBox="1"/>
          <p:nvPr/>
        </p:nvSpPr>
        <p:spPr>
          <a:xfrm>
            <a:off x="8551759" y="2211470"/>
            <a:ext cx="4023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pic>
        <p:nvPicPr>
          <p:cNvPr descr="image.png" id="161" name="Google Shape;161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310657" y="2724912"/>
            <a:ext cx="3931861" cy="2212848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6"/>
          <p:cNvSpPr/>
          <p:nvPr/>
        </p:nvSpPr>
        <p:spPr>
          <a:xfrm>
            <a:off x="7205472" y="5138928"/>
            <a:ext cx="4069080" cy="512064"/>
          </a:xfrm>
          <a:prstGeom prst="roundRect">
            <a:avLst>
              <a:gd fmla="val 16667" name="adj"/>
            </a:avLst>
          </a:prstGeom>
          <a:solidFill>
            <a:srgbClr val="0A1F3D"/>
          </a:solidFill>
          <a:ln cap="flat" cmpd="sng" w="12700">
            <a:solidFill>
              <a:srgbClr val="0A1F3D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6"/>
          <p:cNvSpPr txBox="1"/>
          <p:nvPr/>
        </p:nvSpPr>
        <p:spPr>
          <a:xfrm>
            <a:off x="7333488" y="5285232"/>
            <a:ext cx="37947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Identities → Roles → Apps → Logs → Reviews / Incidents → Controls → Reporting</a:t>
            </a:r>
            <a:endParaRPr/>
          </a:p>
        </p:txBody>
      </p:sp>
      <p:sp>
        <p:nvSpPr>
          <p:cNvPr id="164" name="Google Shape;164;p6"/>
          <p:cNvSpPr/>
          <p:nvPr/>
        </p:nvSpPr>
        <p:spPr>
          <a:xfrm>
            <a:off x="7461504" y="5797296"/>
            <a:ext cx="3520440" cy="256032"/>
          </a:xfrm>
          <a:prstGeom prst="roundRect">
            <a:avLst>
              <a:gd fmla="val 16667" name="adj"/>
            </a:avLst>
          </a:prstGeom>
          <a:solidFill>
            <a:srgbClr val="E8F7F9"/>
          </a:solidFill>
          <a:ln cap="flat" cmpd="sng" w="12700">
            <a:solidFill>
              <a:srgbClr val="9DDEE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6"/>
          <p:cNvSpPr txBox="1"/>
          <p:nvPr/>
        </p:nvSpPr>
        <p:spPr>
          <a:xfrm>
            <a:off x="7543800" y="5843016"/>
            <a:ext cx="3383280" cy="1280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80" u="none" cap="none" strike="noStrike">
                <a:solidFill>
                  <a:srgbClr val="00A3A3"/>
                </a:solidFill>
                <a:latin typeface="Arial"/>
                <a:ea typeface="Arial"/>
                <a:cs typeface="Arial"/>
                <a:sym typeface="Arial"/>
              </a:rPr>
              <a:t>Diagram style: Lucidchart / healthcare IAM architecture</a:t>
            </a:r>
            <a:endParaRPr/>
          </a:p>
        </p:txBody>
      </p:sp>
      <p:sp>
        <p:nvSpPr>
          <p:cNvPr id="166" name="Google Shape;166;p6"/>
          <p:cNvSpPr txBox="1"/>
          <p:nvPr/>
        </p:nvSpPr>
        <p:spPr>
          <a:xfrm>
            <a:off x="7333504" y="6140893"/>
            <a:ext cx="4023300" cy="18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80" u="none" cap="none" strike="noStrike">
                <a:solidFill>
                  <a:srgbClr val="505F73"/>
                </a:solidFill>
                <a:latin typeface="Arial"/>
                <a:ea typeface="Arial"/>
                <a:cs typeface="Arial"/>
                <a:sym typeface="Arial"/>
              </a:rPr>
              <a:t>Note: Figma is useful for UI mockups; Lucidchart is the stronger term for IAM/GRC architecture diagrams.</a:t>
            </a:r>
            <a:endParaRPr/>
          </a:p>
        </p:txBody>
      </p:sp>
      <p:sp>
        <p:nvSpPr>
          <p:cNvPr id="167" name="Google Shape;167;p6"/>
          <p:cNvSpPr txBox="1"/>
          <p:nvPr/>
        </p:nvSpPr>
        <p:spPr>
          <a:xfrm>
            <a:off x="11384280" y="6601968"/>
            <a:ext cx="4114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505F73"/>
                </a:solidFill>
                <a:latin typeface="Arial"/>
                <a:ea typeface="Arial"/>
                <a:cs typeface="Arial"/>
                <a:sym typeface="Arial"/>
              </a:rPr>
              <a:t>06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AFC"/>
        </a:solidFill>
      </p:bgPr>
    </p:bg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7"/>
          <p:cNvSpPr/>
          <p:nvPr/>
        </p:nvSpPr>
        <p:spPr>
          <a:xfrm>
            <a:off x="-15937" y="-18275"/>
            <a:ext cx="12191700" cy="6858000"/>
          </a:xfrm>
          <a:prstGeom prst="rect">
            <a:avLst/>
          </a:prstGeom>
          <a:solidFill>
            <a:srgbClr val="F7FAFC"/>
          </a:solidFill>
          <a:ln cap="flat" cmpd="sng" w="12700">
            <a:solidFill>
              <a:srgbClr val="33333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7"/>
          <p:cNvSpPr/>
          <p:nvPr/>
        </p:nvSpPr>
        <p:spPr>
          <a:xfrm>
            <a:off x="594410" y="276973"/>
            <a:ext cx="9875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9A7A8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19A7A8"/>
                </a:solidFill>
                <a:latin typeface="Arial"/>
                <a:ea typeface="Arial"/>
                <a:cs typeface="Arial"/>
                <a:sym typeface="Arial"/>
              </a:rPr>
              <a:t>WHERE I AM NOW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7"/>
          <p:cNvSpPr/>
          <p:nvPr/>
        </p:nvSpPr>
        <p:spPr>
          <a:xfrm>
            <a:off x="594360" y="731520"/>
            <a:ext cx="987552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3100"/>
              <a:buFont typeface="Play"/>
              <a:buNone/>
            </a:pPr>
            <a:r>
              <a:rPr b="1" i="0" lang="en-US" sz="3100" u="none" cap="none" strike="noStrike">
                <a:solidFill>
                  <a:srgbClr val="0B1F3A"/>
                </a:solidFill>
              </a:rPr>
              <a:t>Current progress: foundation is being built intentionally</a:t>
            </a:r>
            <a:endParaRPr i="0" sz="3100" u="none" cap="none" strike="noStrike">
              <a:solidFill>
                <a:schemeClr val="dk1"/>
              </a:solidFill>
            </a:endParaRPr>
          </a:p>
        </p:txBody>
      </p:sp>
      <p:cxnSp>
        <p:nvCxnSpPr>
          <p:cNvPr id="176" name="Google Shape;176;p7"/>
          <p:cNvCxnSpPr/>
          <p:nvPr/>
        </p:nvCxnSpPr>
        <p:spPr>
          <a:xfrm>
            <a:off x="598960" y="1432950"/>
            <a:ext cx="1051500" cy="0"/>
          </a:xfrm>
          <a:prstGeom prst="straightConnector1">
            <a:avLst/>
          </a:prstGeom>
          <a:noFill/>
          <a:ln cap="flat" cmpd="sng" w="38100">
            <a:solidFill>
              <a:srgbClr val="BF476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7" name="Google Shape;177;p7"/>
          <p:cNvSpPr/>
          <p:nvPr/>
        </p:nvSpPr>
        <p:spPr>
          <a:xfrm>
            <a:off x="594360" y="1581912"/>
            <a:ext cx="10058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3645"/>
              </a:buClr>
              <a:buSzPts val="1420"/>
              <a:buFont typeface="Arial"/>
              <a:buNone/>
            </a:pPr>
            <a:r>
              <a:rPr b="0" i="0" lang="en-US" sz="1520" u="none" cap="none" strike="noStrike">
                <a:solidFill>
                  <a:srgbClr val="263645"/>
                </a:solidFill>
                <a:latin typeface="Arial"/>
                <a:ea typeface="Arial"/>
                <a:cs typeface="Arial"/>
                <a:sym typeface="Arial"/>
              </a:rPr>
              <a:t>The current work is focused on structure, lab boundaries, and evidence organization before identity-provider configuration starts</a:t>
            </a:r>
            <a:r>
              <a:rPr b="0" i="0" lang="en-US" sz="1420" u="none" cap="none" strike="noStrike">
                <a:solidFill>
                  <a:srgbClr val="263645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14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7"/>
          <p:cNvSpPr/>
          <p:nvPr/>
        </p:nvSpPr>
        <p:spPr>
          <a:xfrm>
            <a:off x="960120" y="2286000"/>
            <a:ext cx="329184" cy="329184"/>
          </a:xfrm>
          <a:prstGeom prst="ellipse">
            <a:avLst/>
          </a:prstGeom>
          <a:solidFill>
            <a:srgbClr val="0D8B61"/>
          </a:solidFill>
          <a:ln cap="flat" cmpd="sng" w="12700">
            <a:solidFill>
              <a:srgbClr val="33333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79" name="Google Shape;179;p7"/>
          <p:cNvCxnSpPr/>
          <p:nvPr/>
        </p:nvCxnSpPr>
        <p:spPr>
          <a:xfrm>
            <a:off x="1124712" y="2615184"/>
            <a:ext cx="0" cy="621792"/>
          </a:xfrm>
          <a:prstGeom prst="straightConnector1">
            <a:avLst/>
          </a:prstGeom>
          <a:noFill/>
          <a:ln cap="flat" cmpd="sng" w="15225">
            <a:solidFill>
              <a:srgbClr val="B8C4D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0" name="Google Shape;180;p7"/>
          <p:cNvSpPr/>
          <p:nvPr/>
        </p:nvSpPr>
        <p:spPr>
          <a:xfrm>
            <a:off x="1449250" y="2322570"/>
            <a:ext cx="20118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1500"/>
              <a:buFont typeface="Play"/>
              <a:buNone/>
            </a:pPr>
            <a:r>
              <a:rPr b="1" i="0" lang="en-US" sz="1600" u="none" cap="none" strike="noStrike">
                <a:solidFill>
                  <a:srgbClr val="0B1F3A"/>
                </a:solidFill>
              </a:rPr>
              <a:t>Completed / started</a:t>
            </a:r>
            <a:endParaRPr i="0" sz="1600" u="none" cap="none" strike="noStrike">
              <a:solidFill>
                <a:schemeClr val="dk1"/>
              </a:solidFill>
            </a:endParaRPr>
          </a:p>
        </p:txBody>
      </p:sp>
      <p:sp>
        <p:nvSpPr>
          <p:cNvPr id="181" name="Google Shape;181;p7"/>
          <p:cNvSpPr/>
          <p:nvPr/>
        </p:nvSpPr>
        <p:spPr>
          <a:xfrm>
            <a:off x="3621025" y="2249425"/>
            <a:ext cx="66294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66579"/>
              </a:buClr>
              <a:buSzPts val="1290"/>
              <a:buFont typeface="Arial"/>
              <a:buNone/>
            </a:pPr>
            <a:r>
              <a:rPr b="0" i="0" lang="en-US" sz="1590" u="none" cap="none" strike="noStrike">
                <a:solidFill>
                  <a:srgbClr val="566579"/>
                </a:solidFill>
                <a:latin typeface="Arial"/>
                <a:ea typeface="Arial"/>
                <a:cs typeface="Arial"/>
                <a:sym typeface="Arial"/>
              </a:rPr>
              <a:t>Project folder structure, naming standards, lab boundaries, and initial documentation evidence.</a:t>
            </a:r>
            <a:endParaRPr b="0" i="0" sz="159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7"/>
          <p:cNvSpPr/>
          <p:nvPr/>
        </p:nvSpPr>
        <p:spPr>
          <a:xfrm>
            <a:off x="960120" y="3246120"/>
            <a:ext cx="329184" cy="329184"/>
          </a:xfrm>
          <a:prstGeom prst="ellipse">
            <a:avLst/>
          </a:prstGeom>
          <a:solidFill>
            <a:srgbClr val="19A7A8"/>
          </a:solidFill>
          <a:ln cap="flat" cmpd="sng" w="12700">
            <a:solidFill>
              <a:srgbClr val="33333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83" name="Google Shape;183;p7"/>
          <p:cNvCxnSpPr/>
          <p:nvPr/>
        </p:nvCxnSpPr>
        <p:spPr>
          <a:xfrm>
            <a:off x="1124712" y="3575304"/>
            <a:ext cx="0" cy="621792"/>
          </a:xfrm>
          <a:prstGeom prst="straightConnector1">
            <a:avLst/>
          </a:prstGeom>
          <a:noFill/>
          <a:ln cap="flat" cmpd="sng" w="15225">
            <a:solidFill>
              <a:srgbClr val="B8C4D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4" name="Google Shape;184;p7"/>
          <p:cNvSpPr/>
          <p:nvPr/>
        </p:nvSpPr>
        <p:spPr>
          <a:xfrm>
            <a:off x="1449265" y="3296420"/>
            <a:ext cx="2011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1500"/>
              <a:buFont typeface="Play"/>
              <a:buNone/>
            </a:pPr>
            <a:r>
              <a:rPr b="1" i="0" lang="en-US" sz="1600" u="none" cap="none" strike="noStrike">
                <a:solidFill>
                  <a:srgbClr val="0B1F3A"/>
                </a:solidFill>
              </a:rPr>
              <a:t>Next build step</a:t>
            </a:r>
            <a:endParaRPr i="0" sz="1600" u="none" cap="none" strike="noStrike">
              <a:solidFill>
                <a:schemeClr val="dk1"/>
              </a:solidFill>
            </a:endParaRPr>
          </a:p>
        </p:txBody>
      </p:sp>
      <p:sp>
        <p:nvSpPr>
          <p:cNvPr id="185" name="Google Shape;185;p7"/>
          <p:cNvSpPr/>
          <p:nvPr/>
        </p:nvSpPr>
        <p:spPr>
          <a:xfrm>
            <a:off x="3621024" y="3209544"/>
            <a:ext cx="66294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66579"/>
              </a:buClr>
              <a:buSzPts val="1290"/>
              <a:buFont typeface="Arial"/>
              <a:buNone/>
            </a:pPr>
            <a:r>
              <a:rPr b="0" i="0" lang="en-US" sz="1590" u="none" cap="none" strike="noStrike">
                <a:solidFill>
                  <a:srgbClr val="566579"/>
                </a:solidFill>
                <a:latin typeface="Arial"/>
                <a:ea typeface="Arial"/>
                <a:cs typeface="Arial"/>
                <a:sym typeface="Arial"/>
              </a:rPr>
              <a:t>Integrate Keycloak and Microsoft Entra ID concepts; define users, groups, roles, and applications.</a:t>
            </a:r>
            <a:endParaRPr b="0" i="0" sz="159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7"/>
          <p:cNvSpPr/>
          <p:nvPr/>
        </p:nvSpPr>
        <p:spPr>
          <a:xfrm>
            <a:off x="960120" y="4206240"/>
            <a:ext cx="329184" cy="329184"/>
          </a:xfrm>
          <a:prstGeom prst="ellipse">
            <a:avLst/>
          </a:prstGeom>
          <a:solidFill>
            <a:srgbClr val="1446A0"/>
          </a:solidFill>
          <a:ln cap="flat" cmpd="sng" w="12700">
            <a:solidFill>
              <a:srgbClr val="33333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87" name="Google Shape;187;p7"/>
          <p:cNvCxnSpPr/>
          <p:nvPr/>
        </p:nvCxnSpPr>
        <p:spPr>
          <a:xfrm>
            <a:off x="1124712" y="4535424"/>
            <a:ext cx="0" cy="621792"/>
          </a:xfrm>
          <a:prstGeom prst="straightConnector1">
            <a:avLst/>
          </a:prstGeom>
          <a:noFill/>
          <a:ln cap="flat" cmpd="sng" w="15225">
            <a:solidFill>
              <a:srgbClr val="B8C4D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8" name="Google Shape;188;p7"/>
          <p:cNvSpPr/>
          <p:nvPr/>
        </p:nvSpPr>
        <p:spPr>
          <a:xfrm>
            <a:off x="1449253" y="4222252"/>
            <a:ext cx="2011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1500"/>
              <a:buFont typeface="Play"/>
              <a:buNone/>
            </a:pPr>
            <a:r>
              <a:rPr b="1" i="0" lang="en-US" sz="1600" u="none" cap="none" strike="noStrike">
                <a:solidFill>
                  <a:srgbClr val="0B1F3A"/>
                </a:solidFill>
              </a:rPr>
              <a:t>Validation focus</a:t>
            </a:r>
            <a:endParaRPr i="0" sz="1600" u="none" cap="none" strike="noStrike">
              <a:solidFill>
                <a:schemeClr val="dk1"/>
              </a:solidFill>
            </a:endParaRPr>
          </a:p>
        </p:txBody>
      </p:sp>
      <p:sp>
        <p:nvSpPr>
          <p:cNvPr id="189" name="Google Shape;189;p7"/>
          <p:cNvSpPr/>
          <p:nvPr/>
        </p:nvSpPr>
        <p:spPr>
          <a:xfrm>
            <a:off x="3621024" y="4169664"/>
            <a:ext cx="66294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66579"/>
              </a:buClr>
              <a:buSzPts val="1290"/>
              <a:buFont typeface="Arial"/>
              <a:buNone/>
            </a:pPr>
            <a:r>
              <a:rPr b="0" i="0" lang="en-US" sz="1590" u="none" cap="none" strike="noStrike">
                <a:solidFill>
                  <a:srgbClr val="566579"/>
                </a:solidFill>
                <a:latin typeface="Arial"/>
                <a:ea typeface="Arial"/>
                <a:cs typeface="Arial"/>
                <a:sym typeface="Arial"/>
              </a:rPr>
              <a:t>Prove least privilege, JML workflows, access approvals, and access reviews through screenshots and evidence.</a:t>
            </a:r>
            <a:endParaRPr b="0" i="0" sz="159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7"/>
          <p:cNvSpPr/>
          <p:nvPr/>
        </p:nvSpPr>
        <p:spPr>
          <a:xfrm>
            <a:off x="960120" y="5166360"/>
            <a:ext cx="329184" cy="329184"/>
          </a:xfrm>
          <a:prstGeom prst="ellipse">
            <a:avLst/>
          </a:prstGeom>
          <a:solidFill>
            <a:srgbClr val="BF4767"/>
          </a:solidFill>
          <a:ln cap="flat" cmpd="sng" w="12700">
            <a:solidFill>
              <a:srgbClr val="33333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7"/>
          <p:cNvSpPr/>
          <p:nvPr/>
        </p:nvSpPr>
        <p:spPr>
          <a:xfrm>
            <a:off x="1449328" y="5216647"/>
            <a:ext cx="2011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1500"/>
              <a:buFont typeface="Play"/>
              <a:buNone/>
            </a:pPr>
            <a:r>
              <a:rPr b="1" i="0" lang="en-US" sz="1600" u="none" cap="none" strike="noStrike">
                <a:solidFill>
                  <a:srgbClr val="0B1F3A"/>
                </a:solidFill>
              </a:rPr>
              <a:t>Portfolio focus</a:t>
            </a:r>
            <a:endParaRPr i="0" sz="1600" u="none" cap="none" strike="noStrike">
              <a:solidFill>
                <a:schemeClr val="dk1"/>
              </a:solidFill>
            </a:endParaRPr>
          </a:p>
        </p:txBody>
      </p:sp>
      <p:sp>
        <p:nvSpPr>
          <p:cNvPr id="192" name="Google Shape;192;p7"/>
          <p:cNvSpPr/>
          <p:nvPr/>
        </p:nvSpPr>
        <p:spPr>
          <a:xfrm>
            <a:off x="3621024" y="5129784"/>
            <a:ext cx="66294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66579"/>
              </a:buClr>
              <a:buSzPts val="1290"/>
              <a:buFont typeface="Arial"/>
              <a:buNone/>
            </a:pPr>
            <a:r>
              <a:rPr b="0" i="0" lang="en-US" sz="1590" u="none" cap="none" strike="noStrike">
                <a:solidFill>
                  <a:srgbClr val="566579"/>
                </a:solidFill>
                <a:latin typeface="Arial"/>
                <a:ea typeface="Arial"/>
                <a:cs typeface="Arial"/>
                <a:sym typeface="Arial"/>
              </a:rPr>
              <a:t>Keep the scope beginner-feasible while making the story credible for IAM and GRC </a:t>
            </a:r>
            <a:r>
              <a:rPr lang="en-US" sz="1590">
                <a:solidFill>
                  <a:srgbClr val="566579"/>
                </a:solidFill>
              </a:rPr>
              <a:t>roles.</a:t>
            </a:r>
            <a:endParaRPr b="0" i="0" sz="159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93" name="Google Shape;193;p7"/>
          <p:cNvCxnSpPr/>
          <p:nvPr/>
        </p:nvCxnSpPr>
        <p:spPr>
          <a:xfrm>
            <a:off x="475488" y="6473952"/>
            <a:ext cx="11247120" cy="0"/>
          </a:xfrm>
          <a:prstGeom prst="straightConnector1">
            <a:avLst/>
          </a:prstGeom>
          <a:noFill/>
          <a:ln cap="flat" cmpd="sng" w="9525">
            <a:solidFill>
              <a:srgbClr val="D8E2F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4" name="Google Shape;194;p7"/>
          <p:cNvSpPr/>
          <p:nvPr/>
        </p:nvSpPr>
        <p:spPr>
          <a:xfrm>
            <a:off x="548640" y="6556248"/>
            <a:ext cx="530352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780"/>
              <a:buFont typeface="Arial"/>
              <a:buNone/>
            </a:pPr>
            <a:r>
              <a:rPr b="0" i="0" lang="en-US" sz="780" u="none" cap="none" strike="noStrike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IAM + GRC Healthcare Cybersecurity Portfolio Pitch</a:t>
            </a:r>
            <a:endParaRPr b="0" i="0" sz="7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7"/>
          <p:cNvSpPr/>
          <p:nvPr/>
        </p:nvSpPr>
        <p:spPr>
          <a:xfrm>
            <a:off x="11155680" y="6519672"/>
            <a:ext cx="5486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850"/>
              <a:buFont typeface="Arial"/>
              <a:buNone/>
            </a:pPr>
            <a:r>
              <a:rPr b="1" i="0" lang="en-US" sz="850" u="none" cap="none" strike="noStrike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07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7"/>
          <p:cNvSpPr txBox="1"/>
          <p:nvPr/>
        </p:nvSpPr>
        <p:spPr>
          <a:xfrm>
            <a:off x="2780211" y="6027950"/>
            <a:ext cx="39933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900"/>
          </a:p>
        </p:txBody>
      </p:sp>
      <p:sp>
        <p:nvSpPr>
          <p:cNvPr id="197" name="Google Shape;197;p7"/>
          <p:cNvSpPr/>
          <p:nvPr/>
        </p:nvSpPr>
        <p:spPr>
          <a:xfrm>
            <a:off x="3748160" y="6089900"/>
            <a:ext cx="3746400" cy="255900"/>
          </a:xfrm>
          <a:prstGeom prst="roundRect">
            <a:avLst>
              <a:gd fmla="val 16667" name="adj"/>
            </a:avLst>
          </a:prstGeom>
          <a:solidFill>
            <a:srgbClr val="E8F7F9"/>
          </a:solidFill>
          <a:ln cap="flat" cmpd="sng" w="12700">
            <a:solidFill>
              <a:srgbClr val="9DDEE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19A7A8"/>
                </a:solidFill>
              </a:rPr>
              <a:t>Project tracking on monday.com</a:t>
            </a:r>
            <a:endParaRPr b="0" i="0" sz="1800" u="none" cap="none" strike="noStrike">
              <a:solidFill>
                <a:srgbClr val="19A7A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BFF"/>
        </a:solidFill>
      </p:bgPr>
    </p:bg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8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BFF"/>
          </a:solidFill>
          <a:ln cap="flat" cmpd="sng" w="12700">
            <a:solidFill>
              <a:srgbClr val="33333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8"/>
          <p:cNvSpPr/>
          <p:nvPr/>
        </p:nvSpPr>
        <p:spPr>
          <a:xfrm>
            <a:off x="594360" y="384048"/>
            <a:ext cx="95097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9A7A8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19A7A8"/>
                </a:solidFill>
                <a:latin typeface="Arial"/>
                <a:ea typeface="Arial"/>
                <a:cs typeface="Arial"/>
                <a:sym typeface="Arial"/>
              </a:rPr>
              <a:t>ROADMAP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8"/>
          <p:cNvSpPr/>
          <p:nvPr/>
        </p:nvSpPr>
        <p:spPr>
          <a:xfrm>
            <a:off x="594360" y="731520"/>
            <a:ext cx="950976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3100"/>
              <a:buFont typeface="Play"/>
              <a:buNone/>
            </a:pPr>
            <a:r>
              <a:rPr b="1" i="0" lang="en-US" sz="3100" u="none" cap="none" strike="noStrike">
                <a:solidFill>
                  <a:srgbClr val="0B1F3A"/>
                </a:solidFill>
              </a:rPr>
              <a:t>Planned execution for the next 3 months</a:t>
            </a:r>
            <a:endParaRPr i="0" sz="3100" u="none" cap="none" strike="noStrike">
              <a:solidFill>
                <a:schemeClr val="dk1"/>
              </a:solidFill>
            </a:endParaRPr>
          </a:p>
        </p:txBody>
      </p:sp>
      <p:cxnSp>
        <p:nvCxnSpPr>
          <p:cNvPr id="206" name="Google Shape;206;p8"/>
          <p:cNvCxnSpPr/>
          <p:nvPr/>
        </p:nvCxnSpPr>
        <p:spPr>
          <a:xfrm>
            <a:off x="594360" y="1371600"/>
            <a:ext cx="1051560" cy="0"/>
          </a:xfrm>
          <a:prstGeom prst="straightConnector1">
            <a:avLst/>
          </a:prstGeom>
          <a:noFill/>
          <a:ln cap="flat" cmpd="sng" w="38100">
            <a:solidFill>
              <a:srgbClr val="BF476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7" name="Google Shape;207;p8"/>
          <p:cNvSpPr/>
          <p:nvPr/>
        </p:nvSpPr>
        <p:spPr>
          <a:xfrm>
            <a:off x="594350" y="1581900"/>
            <a:ext cx="108393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3645"/>
              </a:buClr>
              <a:buSzPts val="1420"/>
              <a:buFont typeface="Arial"/>
              <a:buNone/>
            </a:pPr>
            <a:r>
              <a:rPr b="0" i="0" lang="en-US" sz="1620" u="none" cap="none" strike="noStrike">
                <a:solidFill>
                  <a:srgbClr val="263645"/>
                </a:solidFill>
                <a:latin typeface="Arial"/>
                <a:ea typeface="Arial"/>
                <a:cs typeface="Arial"/>
                <a:sym typeface="Arial"/>
              </a:rPr>
              <a:t>The remaining work moves from IAM configuration to evidence-based GRC reporting and a concise hiring-manager demo</a:t>
            </a:r>
            <a:r>
              <a:rPr b="0" i="0" lang="en-US" sz="1420" u="none" cap="none" strike="noStrike">
                <a:solidFill>
                  <a:srgbClr val="263645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14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8"/>
          <p:cNvSpPr/>
          <p:nvPr/>
        </p:nvSpPr>
        <p:spPr>
          <a:xfrm>
            <a:off x="685800" y="2359152"/>
            <a:ext cx="2558034" cy="2788920"/>
          </a:xfrm>
          <a:prstGeom prst="roundRect">
            <a:avLst>
              <a:gd fmla="val 4647" name="adj"/>
            </a:avLst>
          </a:prstGeom>
          <a:solidFill>
            <a:srgbClr val="EFF7FF"/>
          </a:solidFill>
          <a:ln cap="flat" cmpd="sng" w="12700">
            <a:solidFill>
              <a:srgbClr val="D8E6F5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50800">
              <a:srgbClr val="91A4B7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8"/>
          <p:cNvSpPr/>
          <p:nvPr/>
        </p:nvSpPr>
        <p:spPr>
          <a:xfrm>
            <a:off x="886968" y="2615184"/>
            <a:ext cx="502920" cy="502920"/>
          </a:xfrm>
          <a:prstGeom prst="ellipse">
            <a:avLst/>
          </a:prstGeom>
          <a:solidFill>
            <a:srgbClr val="19A7A8"/>
          </a:solidFill>
          <a:ln cap="flat" cmpd="sng" w="12700">
            <a:solidFill>
              <a:srgbClr val="33333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8"/>
          <p:cNvSpPr/>
          <p:nvPr/>
        </p:nvSpPr>
        <p:spPr>
          <a:xfrm>
            <a:off x="1042416" y="2752344"/>
            <a:ext cx="201168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8"/>
          <p:cNvSpPr/>
          <p:nvPr/>
        </p:nvSpPr>
        <p:spPr>
          <a:xfrm>
            <a:off x="886968" y="3364992"/>
            <a:ext cx="2155698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1600"/>
              <a:buFont typeface="Play"/>
              <a:buNone/>
            </a:pPr>
            <a:r>
              <a:rPr b="1" i="0" lang="en-US" sz="1600" u="none" cap="none" strike="noStrike">
                <a:solidFill>
                  <a:srgbClr val="0B1F3A"/>
                </a:solidFill>
                <a:latin typeface="Play"/>
                <a:ea typeface="Play"/>
                <a:cs typeface="Play"/>
                <a:sym typeface="Play"/>
              </a:rPr>
              <a:t>I</a:t>
            </a:r>
            <a:r>
              <a:rPr b="1" i="0" lang="en-US" sz="1600" u="none" cap="none" strike="noStrike">
                <a:solidFill>
                  <a:srgbClr val="0B1F3A"/>
                </a:solidFill>
              </a:rPr>
              <a:t>dentity foundation</a:t>
            </a:r>
            <a:endParaRPr i="0" sz="1600" u="none" cap="none" strike="noStrike">
              <a:solidFill>
                <a:schemeClr val="dk1"/>
              </a:solidFill>
            </a:endParaRPr>
          </a:p>
        </p:txBody>
      </p:sp>
      <p:sp>
        <p:nvSpPr>
          <p:cNvPr id="212" name="Google Shape;212;p8"/>
          <p:cNvSpPr/>
          <p:nvPr/>
        </p:nvSpPr>
        <p:spPr>
          <a:xfrm>
            <a:off x="886968" y="3904488"/>
            <a:ext cx="2155698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66579"/>
              </a:buClr>
              <a:buSzPts val="1130"/>
              <a:buFont typeface="Arial"/>
              <a:buNone/>
            </a:pPr>
            <a:r>
              <a:rPr b="0" i="0" lang="en-US" sz="1530" u="none" cap="none" strike="noStrike">
                <a:solidFill>
                  <a:srgbClr val="566579"/>
                </a:solidFill>
                <a:latin typeface="Arial"/>
                <a:ea typeface="Arial"/>
                <a:cs typeface="Arial"/>
                <a:sym typeface="Arial"/>
              </a:rPr>
              <a:t>Keycloak + Entra concepts, applications, users, groups, RBAC, MFA concept evidence</a:t>
            </a:r>
            <a:r>
              <a:rPr b="0" i="0" lang="en-US" sz="1130" u="none" cap="none" strike="noStrike">
                <a:solidFill>
                  <a:srgbClr val="566579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11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8"/>
          <p:cNvSpPr/>
          <p:nvPr/>
        </p:nvSpPr>
        <p:spPr>
          <a:xfrm>
            <a:off x="3445002" y="2359152"/>
            <a:ext cx="2558034" cy="2788920"/>
          </a:xfrm>
          <a:prstGeom prst="roundRect">
            <a:avLst>
              <a:gd fmla="val 4647" name="adj"/>
            </a:avLst>
          </a:prstGeom>
          <a:solidFill>
            <a:srgbClr val="FFFFFF"/>
          </a:solidFill>
          <a:ln cap="flat" cmpd="sng" w="12700">
            <a:solidFill>
              <a:srgbClr val="D8E6F5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50800">
              <a:srgbClr val="91A4B7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8"/>
          <p:cNvSpPr/>
          <p:nvPr/>
        </p:nvSpPr>
        <p:spPr>
          <a:xfrm>
            <a:off x="3646170" y="2615184"/>
            <a:ext cx="502920" cy="502920"/>
          </a:xfrm>
          <a:prstGeom prst="ellipse">
            <a:avLst/>
          </a:prstGeom>
          <a:solidFill>
            <a:srgbClr val="1446A0"/>
          </a:solidFill>
          <a:ln cap="flat" cmpd="sng" w="12700">
            <a:solidFill>
              <a:srgbClr val="33333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8"/>
          <p:cNvSpPr/>
          <p:nvPr/>
        </p:nvSpPr>
        <p:spPr>
          <a:xfrm>
            <a:off x="3801618" y="2752344"/>
            <a:ext cx="201168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p8"/>
          <p:cNvSpPr/>
          <p:nvPr/>
        </p:nvSpPr>
        <p:spPr>
          <a:xfrm>
            <a:off x="3646170" y="3364992"/>
            <a:ext cx="2155698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1600"/>
              <a:buFont typeface="Play"/>
              <a:buNone/>
            </a:pPr>
            <a:r>
              <a:rPr b="1" i="0" lang="en-US" sz="1600" u="none" cap="none" strike="noStrike">
                <a:solidFill>
                  <a:srgbClr val="0B1F3A"/>
                </a:solidFill>
              </a:rPr>
              <a:t>IAM workflows</a:t>
            </a:r>
            <a:endParaRPr i="0" sz="1600" u="none" cap="none" strike="noStrike">
              <a:solidFill>
                <a:schemeClr val="dk1"/>
              </a:solidFill>
            </a:endParaRPr>
          </a:p>
        </p:txBody>
      </p:sp>
      <p:sp>
        <p:nvSpPr>
          <p:cNvPr id="217" name="Google Shape;217;p8"/>
          <p:cNvSpPr/>
          <p:nvPr/>
        </p:nvSpPr>
        <p:spPr>
          <a:xfrm>
            <a:off x="3646170" y="3904488"/>
            <a:ext cx="2155698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66579"/>
              </a:buClr>
              <a:buSzPts val="1130"/>
              <a:buFont typeface="Arial"/>
              <a:buNone/>
            </a:pPr>
            <a:r>
              <a:rPr b="0" i="0" lang="en-US" sz="1530" u="none" cap="none" strike="noStrike">
                <a:solidFill>
                  <a:srgbClr val="566579"/>
                </a:solidFill>
                <a:latin typeface="Arial"/>
                <a:ea typeface="Arial"/>
                <a:cs typeface="Arial"/>
                <a:sym typeface="Arial"/>
              </a:rPr>
              <a:t>JML, access request approvals, privileged access, vendor/service account scenarios.</a:t>
            </a:r>
            <a:endParaRPr b="0" i="0" sz="15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p8"/>
          <p:cNvSpPr/>
          <p:nvPr/>
        </p:nvSpPr>
        <p:spPr>
          <a:xfrm>
            <a:off x="6204167" y="2409465"/>
            <a:ext cx="2558100" cy="2788800"/>
          </a:xfrm>
          <a:prstGeom prst="roundRect">
            <a:avLst>
              <a:gd fmla="val 4647" name="adj"/>
            </a:avLst>
          </a:prstGeom>
          <a:solidFill>
            <a:srgbClr val="EFF7FF"/>
          </a:solidFill>
          <a:ln cap="flat" cmpd="sng" w="12700">
            <a:solidFill>
              <a:srgbClr val="D8E6F5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50800">
              <a:srgbClr val="91A4B7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8"/>
          <p:cNvSpPr/>
          <p:nvPr/>
        </p:nvSpPr>
        <p:spPr>
          <a:xfrm>
            <a:off x="6405372" y="2615184"/>
            <a:ext cx="502920" cy="502920"/>
          </a:xfrm>
          <a:prstGeom prst="ellipse">
            <a:avLst/>
          </a:prstGeom>
          <a:solidFill>
            <a:srgbClr val="8056A3"/>
          </a:solidFill>
          <a:ln cap="flat" cmpd="sng" w="12700">
            <a:solidFill>
              <a:srgbClr val="33333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8"/>
          <p:cNvSpPr/>
          <p:nvPr/>
        </p:nvSpPr>
        <p:spPr>
          <a:xfrm>
            <a:off x="6560820" y="2752344"/>
            <a:ext cx="201168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p8"/>
          <p:cNvSpPr/>
          <p:nvPr/>
        </p:nvSpPr>
        <p:spPr>
          <a:xfrm>
            <a:off x="6405372" y="3364992"/>
            <a:ext cx="2155698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1600"/>
              <a:buFont typeface="Play"/>
              <a:buNone/>
            </a:pPr>
            <a:r>
              <a:rPr b="1" i="0" lang="en-US" sz="1600" u="none" cap="none" strike="noStrike">
                <a:solidFill>
                  <a:srgbClr val="0B1F3A"/>
                </a:solidFill>
              </a:rPr>
              <a:t>Monitoring + incident</a:t>
            </a:r>
            <a:endParaRPr i="0" sz="1600" u="none" cap="none" strike="noStrike">
              <a:solidFill>
                <a:schemeClr val="dk1"/>
              </a:solidFill>
            </a:endParaRPr>
          </a:p>
        </p:txBody>
      </p:sp>
      <p:sp>
        <p:nvSpPr>
          <p:cNvPr id="222" name="Google Shape;222;p8"/>
          <p:cNvSpPr/>
          <p:nvPr/>
        </p:nvSpPr>
        <p:spPr>
          <a:xfrm>
            <a:off x="6405375" y="3904400"/>
            <a:ext cx="2155800" cy="7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66579"/>
              </a:buClr>
              <a:buSzPts val="1130"/>
              <a:buFont typeface="Arial"/>
              <a:buNone/>
            </a:pPr>
            <a:r>
              <a:rPr lang="en-US" sz="1530">
                <a:solidFill>
                  <a:srgbClr val="566579"/>
                </a:solidFill>
              </a:rPr>
              <a:t>S</a:t>
            </a:r>
            <a:r>
              <a:rPr b="0" i="0" lang="en-US" sz="1530" u="none" cap="none" strike="noStrike">
                <a:solidFill>
                  <a:srgbClr val="566579"/>
                </a:solidFill>
                <a:latin typeface="Arial"/>
                <a:ea typeface="Arial"/>
                <a:cs typeface="Arial"/>
                <a:sym typeface="Arial"/>
              </a:rPr>
              <a:t>ynthetic logs, detection use cases, ePHI-related suspicious access scenario, triage evidence</a:t>
            </a:r>
            <a:r>
              <a:rPr b="0" i="0" lang="en-US" sz="1130" u="none" cap="none" strike="noStrike">
                <a:solidFill>
                  <a:srgbClr val="566579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11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8"/>
          <p:cNvSpPr/>
          <p:nvPr/>
        </p:nvSpPr>
        <p:spPr>
          <a:xfrm>
            <a:off x="8963406" y="2359152"/>
            <a:ext cx="2558034" cy="2788920"/>
          </a:xfrm>
          <a:prstGeom prst="roundRect">
            <a:avLst>
              <a:gd fmla="val 4647" name="adj"/>
            </a:avLst>
          </a:prstGeom>
          <a:solidFill>
            <a:srgbClr val="FFFFFF"/>
          </a:solidFill>
          <a:ln cap="flat" cmpd="sng" w="12700">
            <a:solidFill>
              <a:srgbClr val="D8E6F5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50800">
              <a:srgbClr val="91A4B7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8"/>
          <p:cNvSpPr/>
          <p:nvPr/>
        </p:nvSpPr>
        <p:spPr>
          <a:xfrm>
            <a:off x="9164574" y="2615184"/>
            <a:ext cx="502920" cy="502920"/>
          </a:xfrm>
          <a:prstGeom prst="ellipse">
            <a:avLst/>
          </a:prstGeom>
          <a:solidFill>
            <a:srgbClr val="BF4767"/>
          </a:solidFill>
          <a:ln cap="flat" cmpd="sng" w="12700">
            <a:solidFill>
              <a:srgbClr val="33333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8"/>
          <p:cNvSpPr/>
          <p:nvPr/>
        </p:nvSpPr>
        <p:spPr>
          <a:xfrm>
            <a:off x="9320022" y="2752344"/>
            <a:ext cx="201168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p8"/>
          <p:cNvSpPr/>
          <p:nvPr/>
        </p:nvSpPr>
        <p:spPr>
          <a:xfrm>
            <a:off x="9164574" y="3364992"/>
            <a:ext cx="2155698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1600"/>
              <a:buFont typeface="Play"/>
              <a:buNone/>
            </a:pPr>
            <a:r>
              <a:rPr b="1" i="0" lang="en-US" sz="1600" u="none" cap="none" strike="noStrike">
                <a:solidFill>
                  <a:srgbClr val="0B1F3A"/>
                </a:solidFill>
              </a:rPr>
              <a:t>GRC finish</a:t>
            </a:r>
            <a:endParaRPr i="0" sz="1600" u="none" cap="none" strike="noStrike">
              <a:solidFill>
                <a:schemeClr val="dk1"/>
              </a:solidFill>
            </a:endParaRPr>
          </a:p>
        </p:txBody>
      </p:sp>
      <p:sp>
        <p:nvSpPr>
          <p:cNvPr id="227" name="Google Shape;227;p8"/>
          <p:cNvSpPr/>
          <p:nvPr/>
        </p:nvSpPr>
        <p:spPr>
          <a:xfrm>
            <a:off x="9164650" y="3904250"/>
            <a:ext cx="2155800" cy="7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66579"/>
              </a:buClr>
              <a:buSzPts val="1130"/>
              <a:buFont typeface="Arial"/>
              <a:buNone/>
            </a:pPr>
            <a:r>
              <a:rPr lang="en-US" sz="1530">
                <a:solidFill>
                  <a:srgbClr val="566579"/>
                </a:solidFill>
              </a:rPr>
              <a:t>Risk </a:t>
            </a:r>
            <a:r>
              <a:rPr b="0" i="0" lang="en-US" sz="1530" u="none" cap="none" strike="noStrike">
                <a:solidFill>
                  <a:srgbClr val="566579"/>
                </a:solidFill>
                <a:latin typeface="Arial"/>
                <a:ea typeface="Arial"/>
                <a:cs typeface="Arial"/>
                <a:sym typeface="Arial"/>
              </a:rPr>
              <a:t>register, control matrix, HIPAA/NIST mapping, evidence index, dashboard, 5-minute demo.</a:t>
            </a:r>
            <a:endParaRPr b="0" i="0" sz="15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p8"/>
          <p:cNvSpPr/>
          <p:nvPr/>
        </p:nvSpPr>
        <p:spPr>
          <a:xfrm>
            <a:off x="914400" y="5660136"/>
            <a:ext cx="10378440" cy="411480"/>
          </a:xfrm>
          <a:prstGeom prst="roundRect">
            <a:avLst>
              <a:gd fmla="val 22222" name="adj"/>
            </a:avLst>
          </a:prstGeom>
          <a:solidFill>
            <a:srgbClr val="0B1F3A"/>
          </a:solidFill>
          <a:ln cap="flat" cmpd="sng" w="12700">
            <a:solidFill>
              <a:srgbClr val="33333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8"/>
          <p:cNvSpPr/>
          <p:nvPr/>
        </p:nvSpPr>
        <p:spPr>
          <a:xfrm>
            <a:off x="1097280" y="5788152"/>
            <a:ext cx="10012680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Output goal: portfolio-ready proof, not only lab configuration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30" name="Google Shape;230;p8"/>
          <p:cNvCxnSpPr/>
          <p:nvPr/>
        </p:nvCxnSpPr>
        <p:spPr>
          <a:xfrm>
            <a:off x="475488" y="6473952"/>
            <a:ext cx="11247120" cy="0"/>
          </a:xfrm>
          <a:prstGeom prst="straightConnector1">
            <a:avLst/>
          </a:prstGeom>
          <a:noFill/>
          <a:ln cap="flat" cmpd="sng" w="9525">
            <a:solidFill>
              <a:srgbClr val="D8E2F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31" name="Google Shape;231;p8"/>
          <p:cNvSpPr/>
          <p:nvPr/>
        </p:nvSpPr>
        <p:spPr>
          <a:xfrm>
            <a:off x="548640" y="6556248"/>
            <a:ext cx="530352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780"/>
              <a:buFont typeface="Arial"/>
              <a:buNone/>
            </a:pPr>
            <a:r>
              <a:rPr b="0" i="0" lang="en-US" sz="780" u="none" cap="none" strike="noStrike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IAM + GRC Healthcare Cybersecurity Portfolio Pitch</a:t>
            </a:r>
            <a:endParaRPr b="0" i="0" sz="7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8"/>
          <p:cNvSpPr/>
          <p:nvPr/>
        </p:nvSpPr>
        <p:spPr>
          <a:xfrm>
            <a:off x="11155680" y="6519672"/>
            <a:ext cx="5486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850"/>
              <a:buFont typeface="Arial"/>
              <a:buNone/>
            </a:pPr>
            <a:r>
              <a:rPr b="1" i="0" lang="en-US" sz="850" u="none" cap="none" strike="noStrike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08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AFC"/>
        </a:solidFill>
      </p:bgPr>
    </p:bg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9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 cap="flat" cmpd="sng" w="12700">
            <a:solidFill>
              <a:srgbClr val="33333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data/iam_banner_crop.png" id="239" name="Google Shape;239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695" cy="2148840"/>
          </a:xfrm>
          <a:prstGeom prst="rect">
            <a:avLst/>
          </a:prstGeom>
          <a:noFill/>
          <a:ln>
            <a:noFill/>
          </a:ln>
        </p:spPr>
      </p:pic>
      <p:sp>
        <p:nvSpPr>
          <p:cNvPr id="240" name="Google Shape;240;p9"/>
          <p:cNvSpPr/>
          <p:nvPr/>
        </p:nvSpPr>
        <p:spPr>
          <a:xfrm>
            <a:off x="0" y="0"/>
            <a:ext cx="12191695" cy="2148840"/>
          </a:xfrm>
          <a:prstGeom prst="rect">
            <a:avLst/>
          </a:prstGeom>
          <a:solidFill>
            <a:srgbClr val="0B1F3A">
              <a:alpha val="65098"/>
            </a:srgbClr>
          </a:solidFill>
          <a:ln cap="flat" cmpd="sng" w="12700">
            <a:solidFill>
              <a:srgbClr val="33333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9"/>
          <p:cNvSpPr/>
          <p:nvPr/>
        </p:nvSpPr>
        <p:spPr>
          <a:xfrm>
            <a:off x="621792" y="566928"/>
            <a:ext cx="621792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300"/>
              <a:buFont typeface="Play"/>
              <a:buNone/>
            </a:pPr>
            <a:r>
              <a:rPr b="1" lang="en-US" sz="3300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IAM</a:t>
            </a:r>
            <a:r>
              <a:rPr b="1" i="0" lang="en-US" sz="3200" u="none" cap="none" strike="noStrike">
                <a:solidFill>
                  <a:srgbClr val="FFFFFF"/>
                </a:solidFill>
              </a:rPr>
              <a:t> </a:t>
            </a:r>
            <a:r>
              <a:rPr b="1" lang="en-US" sz="3000">
                <a:solidFill>
                  <a:srgbClr val="FFFFFF"/>
                </a:solidFill>
              </a:rPr>
              <a:t>A</a:t>
            </a:r>
            <a:r>
              <a:rPr b="1" i="0" lang="en-US" sz="3300" u="none" cap="none" strike="noStrike">
                <a:solidFill>
                  <a:srgbClr val="FFFFFF"/>
                </a:solidFill>
              </a:rPr>
              <a:t>nalyst fit</a:t>
            </a:r>
            <a:endParaRPr i="0" sz="3300" u="none" cap="none" strike="noStrike">
              <a:solidFill>
                <a:schemeClr val="dk1"/>
              </a:solidFill>
            </a:endParaRPr>
          </a:p>
        </p:txBody>
      </p:sp>
      <p:cxnSp>
        <p:nvCxnSpPr>
          <p:cNvPr id="242" name="Google Shape;242;p9"/>
          <p:cNvCxnSpPr/>
          <p:nvPr/>
        </p:nvCxnSpPr>
        <p:spPr>
          <a:xfrm>
            <a:off x="621792" y="1069848"/>
            <a:ext cx="1051560" cy="0"/>
          </a:xfrm>
          <a:prstGeom prst="straightConnector1">
            <a:avLst/>
          </a:prstGeom>
          <a:noFill/>
          <a:ln cap="flat" cmpd="sng" w="38100">
            <a:solidFill>
              <a:srgbClr val="BF476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3" name="Google Shape;243;p9"/>
          <p:cNvSpPr/>
          <p:nvPr/>
        </p:nvSpPr>
        <p:spPr>
          <a:xfrm>
            <a:off x="658368" y="1325880"/>
            <a:ext cx="6035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F0FF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E6F0FF"/>
                </a:solidFill>
                <a:latin typeface="Arial"/>
                <a:ea typeface="Arial"/>
                <a:cs typeface="Arial"/>
                <a:sym typeface="Arial"/>
              </a:rPr>
              <a:t>How the capstone maps to beginner IAM responsibilities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" name="Google Shape;244;p9"/>
          <p:cNvSpPr/>
          <p:nvPr/>
        </p:nvSpPr>
        <p:spPr>
          <a:xfrm>
            <a:off x="749808" y="2788920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9A7A8"/>
              </a:buClr>
              <a:buSzPts val="2000"/>
              <a:buFont typeface="Quattrocento Sans"/>
              <a:buNone/>
            </a:pPr>
            <a:r>
              <a:rPr b="0" i="0" lang="en-US" sz="2000" u="none" cap="none" strike="noStrike">
                <a:solidFill>
                  <a:srgbClr val="19A7A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👥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" name="Google Shape;245;p9"/>
          <p:cNvSpPr/>
          <p:nvPr/>
        </p:nvSpPr>
        <p:spPr>
          <a:xfrm>
            <a:off x="1252728" y="2798064"/>
            <a:ext cx="2286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1350"/>
              <a:buFont typeface="Play"/>
              <a:buNone/>
            </a:pPr>
            <a:r>
              <a:rPr b="1" i="0" lang="en-US" sz="1550" u="none" cap="none" strike="noStrike">
                <a:solidFill>
                  <a:srgbClr val="0B1F3A"/>
                </a:solidFill>
              </a:rPr>
              <a:t>RBAC design</a:t>
            </a:r>
            <a:endParaRPr i="0" sz="1550" u="none" cap="none" strike="noStrike">
              <a:solidFill>
                <a:schemeClr val="dk1"/>
              </a:solidFill>
            </a:endParaRPr>
          </a:p>
        </p:txBody>
      </p:sp>
      <p:sp>
        <p:nvSpPr>
          <p:cNvPr id="246" name="Google Shape;246;p9"/>
          <p:cNvSpPr/>
          <p:nvPr/>
        </p:nvSpPr>
        <p:spPr>
          <a:xfrm>
            <a:off x="1252750" y="3250825"/>
            <a:ext cx="22860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66579"/>
              </a:buClr>
              <a:buSzPts val="1120"/>
              <a:buFont typeface="Arial"/>
              <a:buNone/>
            </a:pPr>
            <a:r>
              <a:rPr b="0" i="0" lang="en-US" sz="1500" u="none" cap="none" strike="noStrike">
                <a:solidFill>
                  <a:srgbClr val="566579"/>
                </a:solidFill>
                <a:latin typeface="Arial"/>
                <a:ea typeface="Arial"/>
                <a:cs typeface="Arial"/>
                <a:sym typeface="Arial"/>
              </a:rPr>
              <a:t>Translate healthcare job roles into access groups and permissions.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" name="Google Shape;247;p9"/>
          <p:cNvSpPr/>
          <p:nvPr/>
        </p:nvSpPr>
        <p:spPr>
          <a:xfrm>
            <a:off x="4315968" y="2788920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46A0"/>
              </a:buClr>
              <a:buSzPts val="2000"/>
              <a:buFont typeface="Quattrocento Sans"/>
              <a:buNone/>
            </a:pPr>
            <a:r>
              <a:rPr b="0" i="0" lang="en-US" sz="2000" u="none" cap="none" strike="noStrike">
                <a:solidFill>
                  <a:srgbClr val="1446A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🔒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" name="Google Shape;248;p9"/>
          <p:cNvSpPr/>
          <p:nvPr/>
        </p:nvSpPr>
        <p:spPr>
          <a:xfrm>
            <a:off x="4818888" y="2798064"/>
            <a:ext cx="2286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1350"/>
              <a:buFont typeface="Play"/>
              <a:buNone/>
            </a:pPr>
            <a:r>
              <a:rPr b="1" i="0" lang="en-US" sz="1550" u="none" cap="none" strike="noStrike">
                <a:solidFill>
                  <a:srgbClr val="0B1F3A"/>
                </a:solidFill>
              </a:rPr>
              <a:t>Least privilege</a:t>
            </a:r>
            <a:endParaRPr i="0" sz="1550" u="none" cap="none" strike="noStrike">
              <a:solidFill>
                <a:schemeClr val="dk1"/>
              </a:solidFill>
            </a:endParaRPr>
          </a:p>
        </p:txBody>
      </p:sp>
      <p:sp>
        <p:nvSpPr>
          <p:cNvPr id="249" name="Google Shape;249;p9"/>
          <p:cNvSpPr/>
          <p:nvPr/>
        </p:nvSpPr>
        <p:spPr>
          <a:xfrm>
            <a:off x="4818900" y="3218674"/>
            <a:ext cx="22860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66579"/>
              </a:buClr>
              <a:buSzPts val="1120"/>
              <a:buFont typeface="Arial"/>
              <a:buNone/>
            </a:pPr>
            <a:r>
              <a:rPr b="0" i="0" lang="en-US" sz="1520" u="none" cap="none" strike="noStrike">
                <a:solidFill>
                  <a:srgbClr val="566579"/>
                </a:solidFill>
                <a:latin typeface="Arial"/>
                <a:ea typeface="Arial"/>
                <a:cs typeface="Arial"/>
                <a:sym typeface="Arial"/>
              </a:rPr>
              <a:t>Show why each role receives only needed access.</a:t>
            </a:r>
            <a:endParaRPr b="0" i="0" sz="15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" name="Google Shape;250;p9"/>
          <p:cNvSpPr/>
          <p:nvPr/>
        </p:nvSpPr>
        <p:spPr>
          <a:xfrm>
            <a:off x="7882128" y="2788920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056A3"/>
              </a:buClr>
              <a:buSzPts val="2000"/>
              <a:buFont typeface="Quattrocento Sans"/>
              <a:buNone/>
            </a:pPr>
            <a:r>
              <a:rPr b="0" i="0" lang="en-US" sz="2000" u="none" cap="none" strike="noStrike">
                <a:solidFill>
                  <a:srgbClr val="8056A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🔁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1" name="Google Shape;251;p9"/>
          <p:cNvSpPr/>
          <p:nvPr/>
        </p:nvSpPr>
        <p:spPr>
          <a:xfrm>
            <a:off x="8385050" y="2752549"/>
            <a:ext cx="2286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1350"/>
              <a:buFont typeface="Play"/>
              <a:buNone/>
            </a:pPr>
            <a:r>
              <a:rPr b="1" i="0" lang="en-US" sz="1550" u="none" cap="none" strike="noStrike">
                <a:solidFill>
                  <a:srgbClr val="0B1F3A"/>
                </a:solidFill>
              </a:rPr>
              <a:t>JML lifecycle</a:t>
            </a:r>
            <a:endParaRPr i="0" sz="1550" u="none" cap="none" strike="noStrike">
              <a:solidFill>
                <a:schemeClr val="dk1"/>
              </a:solidFill>
            </a:endParaRPr>
          </a:p>
        </p:txBody>
      </p:sp>
      <p:sp>
        <p:nvSpPr>
          <p:cNvPr id="252" name="Google Shape;252;p9"/>
          <p:cNvSpPr/>
          <p:nvPr/>
        </p:nvSpPr>
        <p:spPr>
          <a:xfrm>
            <a:off x="8385050" y="3328275"/>
            <a:ext cx="22860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66579"/>
              </a:buClr>
              <a:buSzPts val="1120"/>
              <a:buFont typeface="Arial"/>
              <a:buNone/>
            </a:pPr>
            <a:r>
              <a:rPr b="0" i="0" lang="en-US" sz="1520" u="none" cap="none" strike="noStrike">
                <a:solidFill>
                  <a:srgbClr val="566579"/>
                </a:solidFill>
                <a:latin typeface="Arial"/>
                <a:ea typeface="Arial"/>
                <a:cs typeface="Arial"/>
                <a:sym typeface="Arial"/>
              </a:rPr>
              <a:t>Provision, move, and remove access with evidence.</a:t>
            </a:r>
            <a:endParaRPr b="0" i="0" sz="15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" name="Google Shape;253;p9"/>
          <p:cNvSpPr/>
          <p:nvPr/>
        </p:nvSpPr>
        <p:spPr>
          <a:xfrm>
            <a:off x="749808" y="4069080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8B61"/>
              </a:buClr>
              <a:buSzPts val="2000"/>
              <a:buFont typeface="Quattrocento Sans"/>
              <a:buNone/>
            </a:pPr>
            <a:r>
              <a:rPr b="0" i="0" lang="en-US" sz="2000" u="none" cap="none" strike="noStrike">
                <a:solidFill>
                  <a:srgbClr val="0D8B6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✅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" name="Google Shape;254;p9"/>
          <p:cNvSpPr/>
          <p:nvPr/>
        </p:nvSpPr>
        <p:spPr>
          <a:xfrm>
            <a:off x="1252728" y="4078224"/>
            <a:ext cx="2286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1350"/>
              <a:buFont typeface="Play"/>
              <a:buNone/>
            </a:pPr>
            <a:r>
              <a:rPr b="1" i="0" lang="en-US" sz="1550" u="none" cap="none" strike="noStrike">
                <a:solidFill>
                  <a:srgbClr val="0B1F3A"/>
                </a:solidFill>
              </a:rPr>
              <a:t>Access requests</a:t>
            </a:r>
            <a:endParaRPr i="0" sz="1550" u="none" cap="none" strike="noStrike">
              <a:solidFill>
                <a:schemeClr val="dk1"/>
              </a:solidFill>
            </a:endParaRPr>
          </a:p>
        </p:txBody>
      </p:sp>
      <p:sp>
        <p:nvSpPr>
          <p:cNvPr id="255" name="Google Shape;255;p9"/>
          <p:cNvSpPr/>
          <p:nvPr/>
        </p:nvSpPr>
        <p:spPr>
          <a:xfrm>
            <a:off x="1252725" y="4490400"/>
            <a:ext cx="22860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66579"/>
              </a:buClr>
              <a:buSzPts val="1120"/>
              <a:buFont typeface="Arial"/>
              <a:buNone/>
            </a:pPr>
            <a:r>
              <a:rPr b="0" i="0" lang="en-US" sz="1520" u="none" cap="none" strike="noStrike">
                <a:solidFill>
                  <a:srgbClr val="566579"/>
                </a:solidFill>
                <a:latin typeface="Arial"/>
                <a:ea typeface="Arial"/>
                <a:cs typeface="Arial"/>
                <a:sym typeface="Arial"/>
              </a:rPr>
              <a:t>Document justification, approval, provisioning, and verification.</a:t>
            </a:r>
            <a:endParaRPr b="0" i="0" sz="15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6" name="Google Shape;256;p9"/>
          <p:cNvSpPr/>
          <p:nvPr/>
        </p:nvSpPr>
        <p:spPr>
          <a:xfrm>
            <a:off x="4315968" y="4069080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F4767"/>
              </a:buClr>
              <a:buSzPts val="2000"/>
              <a:buFont typeface="Quattrocento Sans"/>
              <a:buNone/>
            </a:pPr>
            <a:r>
              <a:rPr b="0" i="0" lang="en-US" sz="2000" u="none" cap="none" strike="noStrike">
                <a:solidFill>
                  <a:srgbClr val="BF476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🔎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" name="Google Shape;257;p9"/>
          <p:cNvSpPr/>
          <p:nvPr/>
        </p:nvSpPr>
        <p:spPr>
          <a:xfrm>
            <a:off x="4818888" y="4078224"/>
            <a:ext cx="2286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1350"/>
              <a:buFont typeface="Play"/>
              <a:buNone/>
            </a:pPr>
            <a:r>
              <a:rPr b="1" i="0" lang="en-US" sz="1550" u="none" cap="none" strike="noStrike">
                <a:solidFill>
                  <a:srgbClr val="0B1F3A"/>
                </a:solidFill>
              </a:rPr>
              <a:t>Access reviews</a:t>
            </a:r>
            <a:endParaRPr i="0" sz="1550" u="none" cap="none" strike="noStrike">
              <a:solidFill>
                <a:schemeClr val="dk1"/>
              </a:solidFill>
            </a:endParaRPr>
          </a:p>
        </p:txBody>
      </p:sp>
      <p:sp>
        <p:nvSpPr>
          <p:cNvPr id="258" name="Google Shape;258;p9"/>
          <p:cNvSpPr/>
          <p:nvPr/>
        </p:nvSpPr>
        <p:spPr>
          <a:xfrm>
            <a:off x="4818900" y="4490400"/>
            <a:ext cx="22860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66579"/>
              </a:buClr>
              <a:buSzPts val="1120"/>
              <a:buFont typeface="Arial"/>
              <a:buNone/>
            </a:pPr>
            <a:r>
              <a:rPr b="0" i="0" lang="en-US" sz="1520" u="none" cap="none" strike="noStrike">
                <a:solidFill>
                  <a:srgbClr val="566579"/>
                </a:solidFill>
                <a:latin typeface="Arial"/>
                <a:ea typeface="Arial"/>
                <a:cs typeface="Arial"/>
                <a:sym typeface="Arial"/>
              </a:rPr>
              <a:t>Identify stale, excessive, mismatched, privileged, or expired access.</a:t>
            </a:r>
            <a:endParaRPr b="0" i="0" sz="15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9" name="Google Shape;259;p9"/>
          <p:cNvSpPr/>
          <p:nvPr/>
        </p:nvSpPr>
        <p:spPr>
          <a:xfrm>
            <a:off x="7882128" y="4069080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B942"/>
              </a:buClr>
              <a:buSzPts val="2000"/>
              <a:buFont typeface="Quattrocento Sans"/>
              <a:buNone/>
            </a:pPr>
            <a:r>
              <a:rPr b="0" i="0" lang="en-US" sz="2000" u="none" cap="none" strike="noStrike">
                <a:solidFill>
                  <a:srgbClr val="F5B94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⚠️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" name="Google Shape;260;p9"/>
          <p:cNvSpPr/>
          <p:nvPr/>
        </p:nvSpPr>
        <p:spPr>
          <a:xfrm>
            <a:off x="8385048" y="4078224"/>
            <a:ext cx="2286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1350"/>
              <a:buFont typeface="Play"/>
              <a:buNone/>
            </a:pPr>
            <a:r>
              <a:rPr b="1" i="0" lang="en-US" sz="1550" u="none" cap="none" strike="noStrike">
                <a:solidFill>
                  <a:srgbClr val="0B1F3A"/>
                </a:solidFill>
              </a:rPr>
              <a:t>Monitoring support</a:t>
            </a:r>
            <a:endParaRPr i="0" sz="1550" u="none" cap="none" strike="noStrike">
              <a:solidFill>
                <a:schemeClr val="dk1"/>
              </a:solidFill>
            </a:endParaRPr>
          </a:p>
        </p:txBody>
      </p:sp>
      <p:sp>
        <p:nvSpPr>
          <p:cNvPr id="261" name="Google Shape;261;p9"/>
          <p:cNvSpPr/>
          <p:nvPr/>
        </p:nvSpPr>
        <p:spPr>
          <a:xfrm>
            <a:off x="8385050" y="4453125"/>
            <a:ext cx="2286000" cy="81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66579"/>
              </a:buClr>
              <a:buSzPts val="1120"/>
              <a:buFont typeface="Arial"/>
              <a:buNone/>
            </a:pPr>
            <a:r>
              <a:rPr b="0" i="0" lang="en-US" sz="1520" u="none" cap="none" strike="noStrike">
                <a:solidFill>
                  <a:srgbClr val="566579"/>
                </a:solidFill>
                <a:latin typeface="Arial"/>
                <a:ea typeface="Arial"/>
                <a:cs typeface="Arial"/>
                <a:sym typeface="Arial"/>
              </a:rPr>
              <a:t>Investigate failed login, disabled-user, privilege, vendor, and ePHI access anomalies.</a:t>
            </a:r>
            <a:endParaRPr b="0" i="0" sz="15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62" name="Google Shape;262;p9"/>
          <p:cNvCxnSpPr/>
          <p:nvPr/>
        </p:nvCxnSpPr>
        <p:spPr>
          <a:xfrm>
            <a:off x="475488" y="6473952"/>
            <a:ext cx="11247120" cy="0"/>
          </a:xfrm>
          <a:prstGeom prst="straightConnector1">
            <a:avLst/>
          </a:prstGeom>
          <a:noFill/>
          <a:ln cap="flat" cmpd="sng" w="9525">
            <a:solidFill>
              <a:srgbClr val="D8E2F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63" name="Google Shape;263;p9"/>
          <p:cNvSpPr/>
          <p:nvPr/>
        </p:nvSpPr>
        <p:spPr>
          <a:xfrm>
            <a:off x="548640" y="6556248"/>
            <a:ext cx="530352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780"/>
              <a:buFont typeface="Arial"/>
              <a:buNone/>
            </a:pPr>
            <a:r>
              <a:rPr b="0" i="0" lang="en-US" sz="780" u="none" cap="none" strike="noStrike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IAM + GRC Healthcare Cybersecurity Portfolio Pitch</a:t>
            </a:r>
            <a:endParaRPr b="0" i="0" sz="7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" name="Google Shape;264;p9"/>
          <p:cNvSpPr/>
          <p:nvPr/>
        </p:nvSpPr>
        <p:spPr>
          <a:xfrm>
            <a:off x="11155680" y="6519672"/>
            <a:ext cx="5486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850"/>
              <a:buFont typeface="Arial"/>
              <a:buNone/>
            </a:pPr>
            <a:r>
              <a:rPr b="1" i="0" lang="en-US" sz="850" u="none" cap="none" strike="noStrike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09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CFF"/>
        </a:solidFill>
      </p:bgPr>
    </p:bg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1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7F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grc_slide10_banner_composited.png" id="271" name="Google Shape;271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695" cy="2148840"/>
          </a:xfrm>
          <a:prstGeom prst="rect">
            <a:avLst/>
          </a:prstGeom>
          <a:noFill/>
          <a:ln>
            <a:noFill/>
          </a:ln>
        </p:spPr>
      </p:pic>
      <p:sp>
        <p:nvSpPr>
          <p:cNvPr id="272" name="Google Shape;272;p10"/>
          <p:cNvSpPr txBox="1"/>
          <p:nvPr/>
        </p:nvSpPr>
        <p:spPr>
          <a:xfrm>
            <a:off x="621792" y="365760"/>
            <a:ext cx="62179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1CABA9"/>
                </a:solidFill>
                <a:latin typeface="Arial"/>
                <a:ea typeface="Arial"/>
                <a:cs typeface="Arial"/>
                <a:sym typeface="Arial"/>
              </a:rPr>
              <a:t>CONTROLS, RISK, EVIDENCE</a:t>
            </a:r>
            <a:endParaRPr/>
          </a:p>
        </p:txBody>
      </p:sp>
      <p:sp>
        <p:nvSpPr>
          <p:cNvPr id="273" name="Google Shape;273;p10"/>
          <p:cNvSpPr txBox="1"/>
          <p:nvPr/>
        </p:nvSpPr>
        <p:spPr>
          <a:xfrm>
            <a:off x="621792" y="713232"/>
            <a:ext cx="67665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00">
                <a:solidFill>
                  <a:srgbClr val="FFFFFF"/>
                </a:solidFill>
              </a:rPr>
              <a:t>GRC Analyst fit</a:t>
            </a:r>
            <a:endParaRPr/>
          </a:p>
        </p:txBody>
      </p:sp>
      <p:sp>
        <p:nvSpPr>
          <p:cNvPr id="274" name="Google Shape;274;p10"/>
          <p:cNvSpPr/>
          <p:nvPr/>
        </p:nvSpPr>
        <p:spPr>
          <a:xfrm>
            <a:off x="621792" y="1243584"/>
            <a:ext cx="1051560" cy="41148"/>
          </a:xfrm>
          <a:prstGeom prst="rect">
            <a:avLst/>
          </a:prstGeom>
          <a:solidFill>
            <a:srgbClr val="CA3F6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" name="Google Shape;275;p10"/>
          <p:cNvSpPr txBox="1"/>
          <p:nvPr/>
        </p:nvSpPr>
        <p:spPr>
          <a:xfrm>
            <a:off x="640080" y="1444752"/>
            <a:ext cx="76809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00">
                <a:solidFill>
                  <a:srgbClr val="D7E6F0"/>
                </a:solidFill>
                <a:latin typeface="Arial"/>
                <a:ea typeface="Arial"/>
                <a:cs typeface="Arial"/>
                <a:sym typeface="Arial"/>
              </a:rPr>
              <a:t>How the capstone maps to beginner GRC responsibilities</a:t>
            </a:r>
            <a:endParaRPr/>
          </a:p>
        </p:txBody>
      </p:sp>
      <p:sp>
        <p:nvSpPr>
          <p:cNvPr id="276" name="Google Shape;276;p10"/>
          <p:cNvSpPr txBox="1"/>
          <p:nvPr/>
        </p:nvSpPr>
        <p:spPr>
          <a:xfrm>
            <a:off x="749808" y="2788920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00">
                <a:solidFill>
                  <a:srgbClr val="CA3F6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📋</a:t>
            </a:r>
            <a:endParaRPr/>
          </a:p>
        </p:txBody>
      </p:sp>
      <p:sp>
        <p:nvSpPr>
          <p:cNvPr id="277" name="Google Shape;277;p10"/>
          <p:cNvSpPr txBox="1"/>
          <p:nvPr/>
        </p:nvSpPr>
        <p:spPr>
          <a:xfrm>
            <a:off x="1252728" y="2798063"/>
            <a:ext cx="24231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50">
                <a:solidFill>
                  <a:srgbClr val="0D253E"/>
                </a:solidFill>
              </a:rPr>
              <a:t>Risk register</a:t>
            </a:r>
            <a:endParaRPr sz="1600"/>
          </a:p>
        </p:txBody>
      </p:sp>
      <p:sp>
        <p:nvSpPr>
          <p:cNvPr id="278" name="Google Shape;278;p10"/>
          <p:cNvSpPr txBox="1"/>
          <p:nvPr/>
        </p:nvSpPr>
        <p:spPr>
          <a:xfrm>
            <a:off x="1252728" y="3090672"/>
            <a:ext cx="24231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00">
                <a:solidFill>
                  <a:srgbClr val="526779"/>
                </a:solidFill>
                <a:latin typeface="Arial"/>
                <a:ea typeface="Arial"/>
                <a:cs typeface="Arial"/>
                <a:sym typeface="Arial"/>
              </a:rPr>
              <a:t>Identify IAM/security risks, score likelihood and impact, assign owners, and track treatment actions.</a:t>
            </a:r>
            <a:endParaRPr sz="1500"/>
          </a:p>
        </p:txBody>
      </p:sp>
      <p:sp>
        <p:nvSpPr>
          <p:cNvPr id="279" name="Google Shape;279;p10"/>
          <p:cNvSpPr txBox="1"/>
          <p:nvPr/>
        </p:nvSpPr>
        <p:spPr>
          <a:xfrm>
            <a:off x="4315968" y="2788920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00">
                <a:solidFill>
                  <a:srgbClr val="1CABA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🧩</a:t>
            </a:r>
            <a:endParaRPr/>
          </a:p>
        </p:txBody>
      </p:sp>
      <p:sp>
        <p:nvSpPr>
          <p:cNvPr id="280" name="Google Shape;280;p10"/>
          <p:cNvSpPr txBox="1"/>
          <p:nvPr/>
        </p:nvSpPr>
        <p:spPr>
          <a:xfrm>
            <a:off x="4818875" y="2812976"/>
            <a:ext cx="24231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50">
                <a:solidFill>
                  <a:srgbClr val="0D253E"/>
                </a:solidFill>
              </a:rPr>
              <a:t>Control mapping</a:t>
            </a:r>
            <a:endParaRPr sz="1600"/>
          </a:p>
        </p:txBody>
      </p:sp>
      <p:sp>
        <p:nvSpPr>
          <p:cNvPr id="281" name="Google Shape;281;p10"/>
          <p:cNvSpPr txBox="1"/>
          <p:nvPr/>
        </p:nvSpPr>
        <p:spPr>
          <a:xfrm>
            <a:off x="4818888" y="3090672"/>
            <a:ext cx="24231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00">
                <a:solidFill>
                  <a:srgbClr val="526779"/>
                </a:solidFill>
                <a:latin typeface="Arial"/>
                <a:ea typeface="Arial"/>
                <a:cs typeface="Arial"/>
                <a:sym typeface="Arial"/>
              </a:rPr>
              <a:t>Connect project controls to HIPAA Security Rule concepts and NIST-style control expectations.</a:t>
            </a:r>
            <a:endParaRPr sz="1500"/>
          </a:p>
        </p:txBody>
      </p:sp>
      <p:sp>
        <p:nvSpPr>
          <p:cNvPr id="282" name="Google Shape;282;p10"/>
          <p:cNvSpPr txBox="1"/>
          <p:nvPr/>
        </p:nvSpPr>
        <p:spPr>
          <a:xfrm>
            <a:off x="7882127" y="2788920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00">
                <a:solidFill>
                  <a:srgbClr val="DCA0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📁</a:t>
            </a:r>
            <a:endParaRPr/>
          </a:p>
        </p:txBody>
      </p:sp>
      <p:sp>
        <p:nvSpPr>
          <p:cNvPr id="283" name="Google Shape;283;p10"/>
          <p:cNvSpPr txBox="1"/>
          <p:nvPr/>
        </p:nvSpPr>
        <p:spPr>
          <a:xfrm>
            <a:off x="8385048" y="2798063"/>
            <a:ext cx="24231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50">
                <a:solidFill>
                  <a:srgbClr val="0D253E"/>
                </a:solidFill>
              </a:rPr>
              <a:t>Evidence index</a:t>
            </a:r>
            <a:endParaRPr sz="1600"/>
          </a:p>
        </p:txBody>
      </p:sp>
      <p:sp>
        <p:nvSpPr>
          <p:cNvPr id="284" name="Google Shape;284;p10"/>
          <p:cNvSpPr txBox="1"/>
          <p:nvPr/>
        </p:nvSpPr>
        <p:spPr>
          <a:xfrm>
            <a:off x="8385048" y="3090672"/>
            <a:ext cx="24231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00">
                <a:solidFill>
                  <a:srgbClr val="526779"/>
                </a:solidFill>
                <a:latin typeface="Arial"/>
                <a:ea typeface="Arial"/>
                <a:cs typeface="Arial"/>
                <a:sym typeface="Arial"/>
              </a:rPr>
              <a:t>Organize screenshots, logs, reviews, approvals, tests, and diagrams as audit-ready evidence.</a:t>
            </a:r>
            <a:endParaRPr sz="1500"/>
          </a:p>
        </p:txBody>
      </p:sp>
      <p:sp>
        <p:nvSpPr>
          <p:cNvPr id="285" name="Google Shape;285;p10"/>
          <p:cNvSpPr txBox="1"/>
          <p:nvPr/>
        </p:nvSpPr>
        <p:spPr>
          <a:xfrm>
            <a:off x="749808" y="4069080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00">
                <a:solidFill>
                  <a:srgbClr val="2374B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🔎</a:t>
            </a:r>
            <a:endParaRPr/>
          </a:p>
        </p:txBody>
      </p:sp>
      <p:sp>
        <p:nvSpPr>
          <p:cNvPr id="286" name="Google Shape;286;p10"/>
          <p:cNvSpPr txBox="1"/>
          <p:nvPr/>
        </p:nvSpPr>
        <p:spPr>
          <a:xfrm>
            <a:off x="1252728" y="4078224"/>
            <a:ext cx="24231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50">
                <a:solidFill>
                  <a:srgbClr val="0D253E"/>
                </a:solidFill>
                <a:latin typeface="Play"/>
                <a:ea typeface="Play"/>
                <a:cs typeface="Play"/>
                <a:sym typeface="Play"/>
              </a:rPr>
              <a:t>G</a:t>
            </a:r>
            <a:r>
              <a:rPr b="1" lang="en-US" sz="1550">
                <a:solidFill>
                  <a:srgbClr val="0D253E"/>
                </a:solidFill>
              </a:rPr>
              <a:t>ap assessment</a:t>
            </a:r>
            <a:endParaRPr sz="1600"/>
          </a:p>
        </p:txBody>
      </p:sp>
      <p:sp>
        <p:nvSpPr>
          <p:cNvPr id="287" name="Google Shape;287;p10"/>
          <p:cNvSpPr txBox="1"/>
          <p:nvPr/>
        </p:nvSpPr>
        <p:spPr>
          <a:xfrm>
            <a:off x="1252728" y="4370832"/>
            <a:ext cx="24231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00">
                <a:solidFill>
                  <a:srgbClr val="526779"/>
                </a:solidFill>
                <a:latin typeface="Arial"/>
                <a:ea typeface="Arial"/>
                <a:cs typeface="Arial"/>
                <a:sym typeface="Arial"/>
              </a:rPr>
              <a:t>Find missing, weak, stale, or mismatched controls and document practical improvement actions.</a:t>
            </a:r>
            <a:endParaRPr sz="1500"/>
          </a:p>
        </p:txBody>
      </p:sp>
      <p:sp>
        <p:nvSpPr>
          <p:cNvPr id="288" name="Google Shape;288;p10"/>
          <p:cNvSpPr txBox="1"/>
          <p:nvPr/>
        </p:nvSpPr>
        <p:spPr>
          <a:xfrm>
            <a:off x="4315968" y="4069080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00">
                <a:solidFill>
                  <a:srgbClr val="E7882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⚠️</a:t>
            </a:r>
            <a:endParaRPr/>
          </a:p>
        </p:txBody>
      </p:sp>
      <p:sp>
        <p:nvSpPr>
          <p:cNvPr id="289" name="Google Shape;289;p10"/>
          <p:cNvSpPr txBox="1"/>
          <p:nvPr/>
        </p:nvSpPr>
        <p:spPr>
          <a:xfrm>
            <a:off x="4818888" y="4078224"/>
            <a:ext cx="24231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50">
                <a:solidFill>
                  <a:srgbClr val="0D253E"/>
                </a:solidFill>
              </a:rPr>
              <a:t>Exception tracking</a:t>
            </a:r>
            <a:endParaRPr sz="1600"/>
          </a:p>
        </p:txBody>
      </p:sp>
      <p:sp>
        <p:nvSpPr>
          <p:cNvPr id="290" name="Google Shape;290;p10"/>
          <p:cNvSpPr txBox="1"/>
          <p:nvPr/>
        </p:nvSpPr>
        <p:spPr>
          <a:xfrm>
            <a:off x="4818888" y="4370832"/>
            <a:ext cx="24231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00">
                <a:solidFill>
                  <a:srgbClr val="526779"/>
                </a:solidFill>
                <a:latin typeface="Arial"/>
                <a:ea typeface="Arial"/>
                <a:cs typeface="Arial"/>
                <a:sym typeface="Arial"/>
              </a:rPr>
              <a:t>Record accepted exceptions, compensating controls, due dates, and remediation ownership.</a:t>
            </a:r>
            <a:endParaRPr sz="1500"/>
          </a:p>
        </p:txBody>
      </p:sp>
      <p:sp>
        <p:nvSpPr>
          <p:cNvPr id="291" name="Google Shape;291;p10"/>
          <p:cNvSpPr txBox="1"/>
          <p:nvPr/>
        </p:nvSpPr>
        <p:spPr>
          <a:xfrm>
            <a:off x="7882127" y="4069080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00">
                <a:solidFill>
                  <a:srgbClr val="8251AD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📊</a:t>
            </a:r>
            <a:endParaRPr/>
          </a:p>
        </p:txBody>
      </p:sp>
      <p:sp>
        <p:nvSpPr>
          <p:cNvPr id="292" name="Google Shape;292;p10"/>
          <p:cNvSpPr txBox="1"/>
          <p:nvPr/>
        </p:nvSpPr>
        <p:spPr>
          <a:xfrm>
            <a:off x="8385048" y="4078224"/>
            <a:ext cx="24231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50">
                <a:solidFill>
                  <a:srgbClr val="0D253E"/>
                </a:solidFill>
              </a:rPr>
              <a:t>Governance reporting</a:t>
            </a:r>
            <a:endParaRPr sz="1600"/>
          </a:p>
        </p:txBody>
      </p:sp>
      <p:sp>
        <p:nvSpPr>
          <p:cNvPr id="293" name="Google Shape;293;p10"/>
          <p:cNvSpPr txBox="1"/>
          <p:nvPr/>
        </p:nvSpPr>
        <p:spPr>
          <a:xfrm>
            <a:off x="8385048" y="4370832"/>
            <a:ext cx="24231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00">
                <a:solidFill>
                  <a:srgbClr val="526779"/>
                </a:solidFill>
                <a:latin typeface="Arial"/>
                <a:ea typeface="Arial"/>
                <a:cs typeface="Arial"/>
                <a:sym typeface="Arial"/>
              </a:rPr>
              <a:t>Translate IAM, risk, control, access-review, and remediation metrics into management reporting.</a:t>
            </a:r>
            <a:endParaRPr sz="1500"/>
          </a:p>
        </p:txBody>
      </p:sp>
      <p:sp>
        <p:nvSpPr>
          <p:cNvPr id="294" name="Google Shape;294;p10"/>
          <p:cNvSpPr txBox="1"/>
          <p:nvPr/>
        </p:nvSpPr>
        <p:spPr>
          <a:xfrm>
            <a:off x="960120" y="5733288"/>
            <a:ext cx="102870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Portfolio evidence: Risk Register • Control Matrix • Evidence Index • Gap Assessment • Remediation Tracker • Management Dashboard</a:t>
            </a:r>
            <a:endParaRPr/>
          </a:p>
        </p:txBody>
      </p:sp>
      <p:sp>
        <p:nvSpPr>
          <p:cNvPr id="295" name="Google Shape;295;p10"/>
          <p:cNvSpPr/>
          <p:nvPr/>
        </p:nvSpPr>
        <p:spPr>
          <a:xfrm>
            <a:off x="475488" y="6473952"/>
            <a:ext cx="11247120" cy="9144"/>
          </a:xfrm>
          <a:prstGeom prst="rect">
            <a:avLst/>
          </a:prstGeom>
          <a:solidFill>
            <a:srgbClr val="D2DEE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6" name="Google Shape;296;p10"/>
          <p:cNvSpPr txBox="1"/>
          <p:nvPr/>
        </p:nvSpPr>
        <p:spPr>
          <a:xfrm>
            <a:off x="548640" y="6556248"/>
            <a:ext cx="5303520" cy="1463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780">
                <a:solidFill>
                  <a:srgbClr val="556675"/>
                </a:solidFill>
                <a:latin typeface="Arial"/>
                <a:ea typeface="Arial"/>
                <a:cs typeface="Arial"/>
                <a:sym typeface="Arial"/>
              </a:rPr>
              <a:t>IAM + GRC Healthcare Cybersecurity Portfolio Pitch</a:t>
            </a:r>
            <a:endParaRPr/>
          </a:p>
        </p:txBody>
      </p:sp>
      <p:sp>
        <p:nvSpPr>
          <p:cNvPr id="297" name="Google Shape;297;p10"/>
          <p:cNvSpPr txBox="1"/>
          <p:nvPr/>
        </p:nvSpPr>
        <p:spPr>
          <a:xfrm>
            <a:off x="11155680" y="6519672"/>
            <a:ext cx="5486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50">
                <a:solidFill>
                  <a:srgbClr val="324150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AFC"/>
        </a:solidFill>
      </p:bgPr>
    </p:bg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1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 cap="flat" cmpd="sng" w="12700">
            <a:solidFill>
              <a:srgbClr val="33333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p11"/>
          <p:cNvSpPr/>
          <p:nvPr/>
        </p:nvSpPr>
        <p:spPr>
          <a:xfrm>
            <a:off x="594360" y="384048"/>
            <a:ext cx="6400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9A7A8"/>
              </a:buClr>
              <a:buSzPts val="1050"/>
              <a:buFont typeface="Arial"/>
              <a:buNone/>
            </a:pPr>
            <a:r>
              <a:rPr b="1" lang="en-US" sz="1050">
                <a:solidFill>
                  <a:srgbClr val="19A7A8"/>
                </a:solidFill>
                <a:latin typeface="Arial"/>
                <a:ea typeface="Arial"/>
                <a:cs typeface="Arial"/>
                <a:sym typeface="Arial"/>
              </a:rPr>
              <a:t>WHAT HIRING MANAGERS CAN REVIEW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5" name="Google Shape;305;p11"/>
          <p:cNvSpPr/>
          <p:nvPr/>
        </p:nvSpPr>
        <p:spPr>
          <a:xfrm>
            <a:off x="594360" y="731520"/>
            <a:ext cx="640080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3100"/>
              <a:buFont typeface="Play"/>
              <a:buNone/>
            </a:pPr>
            <a:r>
              <a:rPr b="1" lang="en-US" sz="3100">
                <a:solidFill>
                  <a:srgbClr val="0B1F3A"/>
                </a:solidFill>
              </a:rPr>
              <a:t>Final portfolio deliverables</a:t>
            </a:r>
            <a:endParaRPr sz="3100">
              <a:solidFill>
                <a:schemeClr val="dk1"/>
              </a:solidFill>
            </a:endParaRPr>
          </a:p>
        </p:txBody>
      </p:sp>
      <p:cxnSp>
        <p:nvCxnSpPr>
          <p:cNvPr id="306" name="Google Shape;306;p11"/>
          <p:cNvCxnSpPr/>
          <p:nvPr/>
        </p:nvCxnSpPr>
        <p:spPr>
          <a:xfrm>
            <a:off x="594360" y="1371600"/>
            <a:ext cx="1051560" cy="0"/>
          </a:xfrm>
          <a:prstGeom prst="straightConnector1">
            <a:avLst/>
          </a:prstGeom>
          <a:noFill/>
          <a:ln cap="flat" cmpd="sng" w="38100">
            <a:solidFill>
              <a:srgbClr val="BF476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07" name="Google Shape;307;p11"/>
          <p:cNvSpPr/>
          <p:nvPr/>
        </p:nvSpPr>
        <p:spPr>
          <a:xfrm>
            <a:off x="594360" y="1581912"/>
            <a:ext cx="6355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3645"/>
              </a:buClr>
              <a:buSzPts val="1420"/>
              <a:buFont typeface="Arial"/>
              <a:buNone/>
            </a:pPr>
            <a:r>
              <a:rPr lang="en-US" sz="1620">
                <a:solidFill>
                  <a:srgbClr val="263645"/>
                </a:solidFill>
                <a:latin typeface="Arial"/>
                <a:ea typeface="Arial"/>
                <a:cs typeface="Arial"/>
                <a:sym typeface="Arial"/>
              </a:rPr>
              <a:t>A sanitized evidence package: architecture, IAM workflows, monitoring records, GRC documents, dashboard and Demo</a:t>
            </a:r>
            <a:endParaRPr sz="16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mnt/data/healthcare_portrait_crop.png" id="308" name="Google Shape;308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43800" y="1298448"/>
            <a:ext cx="4005072" cy="4846320"/>
          </a:xfrm>
          <a:prstGeom prst="rect">
            <a:avLst/>
          </a:prstGeom>
          <a:noFill/>
          <a:ln>
            <a:noFill/>
          </a:ln>
        </p:spPr>
      </p:pic>
      <p:sp>
        <p:nvSpPr>
          <p:cNvPr id="309" name="Google Shape;309;p11"/>
          <p:cNvSpPr/>
          <p:nvPr/>
        </p:nvSpPr>
        <p:spPr>
          <a:xfrm>
            <a:off x="749808" y="2267712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46A0"/>
              </a:buClr>
              <a:buSzPts val="2000"/>
              <a:buFont typeface="Quattrocento Sans"/>
              <a:buNone/>
            </a:pPr>
            <a:r>
              <a:rPr lang="en-US" sz="2000">
                <a:solidFill>
                  <a:srgbClr val="1446A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🗺️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0" name="Google Shape;310;p11"/>
          <p:cNvSpPr/>
          <p:nvPr/>
        </p:nvSpPr>
        <p:spPr>
          <a:xfrm>
            <a:off x="1252728" y="2276856"/>
            <a:ext cx="53949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1350"/>
              <a:buFont typeface="Play"/>
              <a:buNone/>
            </a:pPr>
            <a:r>
              <a:rPr b="1" lang="en-US" sz="1550">
                <a:solidFill>
                  <a:srgbClr val="0B1F3A"/>
                </a:solidFill>
              </a:rPr>
              <a:t>Architecture diagrams</a:t>
            </a:r>
            <a:endParaRPr sz="1550">
              <a:solidFill>
                <a:schemeClr val="dk1"/>
              </a:solidFill>
            </a:endParaRPr>
          </a:p>
        </p:txBody>
      </p:sp>
      <p:sp>
        <p:nvSpPr>
          <p:cNvPr id="311" name="Google Shape;311;p11"/>
          <p:cNvSpPr/>
          <p:nvPr/>
        </p:nvSpPr>
        <p:spPr>
          <a:xfrm>
            <a:off x="1252728" y="2560320"/>
            <a:ext cx="53949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66579"/>
              </a:buClr>
              <a:buSzPts val="1120"/>
              <a:buFont typeface="Arial"/>
              <a:buNone/>
            </a:pPr>
            <a:r>
              <a:rPr lang="en-US" sz="1520">
                <a:solidFill>
                  <a:srgbClr val="566579"/>
                </a:solidFill>
                <a:latin typeface="Arial"/>
                <a:ea typeface="Arial"/>
                <a:cs typeface="Arial"/>
                <a:sym typeface="Arial"/>
              </a:rPr>
              <a:t>Lucidchart IAM/GRC architecture, access lifecycle, incident flow, and data-flow diagrams.</a:t>
            </a:r>
            <a:endParaRPr sz="15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2" name="Google Shape;312;p11"/>
          <p:cNvSpPr/>
          <p:nvPr/>
        </p:nvSpPr>
        <p:spPr>
          <a:xfrm>
            <a:off x="749808" y="3017520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9A7A8"/>
              </a:buClr>
              <a:buSzPts val="2000"/>
              <a:buFont typeface="Quattrocento Sans"/>
              <a:buNone/>
            </a:pPr>
            <a:r>
              <a:rPr lang="en-US" sz="2000">
                <a:solidFill>
                  <a:srgbClr val="19A7A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🔐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3" name="Google Shape;313;p11"/>
          <p:cNvSpPr/>
          <p:nvPr/>
        </p:nvSpPr>
        <p:spPr>
          <a:xfrm>
            <a:off x="1252728" y="3026664"/>
            <a:ext cx="53949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1350"/>
              <a:buFont typeface="Play"/>
              <a:buNone/>
            </a:pPr>
            <a:r>
              <a:rPr b="1" lang="en-US" sz="1550">
                <a:solidFill>
                  <a:srgbClr val="0B1F3A"/>
                </a:solidFill>
              </a:rPr>
              <a:t>IAM evidence</a:t>
            </a:r>
            <a:endParaRPr sz="1550">
              <a:solidFill>
                <a:schemeClr val="dk1"/>
              </a:solidFill>
            </a:endParaRPr>
          </a:p>
        </p:txBody>
      </p:sp>
      <p:sp>
        <p:nvSpPr>
          <p:cNvPr id="314" name="Google Shape;314;p11"/>
          <p:cNvSpPr/>
          <p:nvPr/>
        </p:nvSpPr>
        <p:spPr>
          <a:xfrm>
            <a:off x="1252728" y="3310128"/>
            <a:ext cx="53949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66579"/>
              </a:buClr>
              <a:buSzPts val="1120"/>
              <a:buFont typeface="Arial"/>
              <a:buNone/>
            </a:pPr>
            <a:r>
              <a:rPr lang="en-US" sz="1520">
                <a:solidFill>
                  <a:srgbClr val="566579"/>
                </a:solidFill>
                <a:latin typeface="Arial"/>
                <a:ea typeface="Arial"/>
                <a:cs typeface="Arial"/>
                <a:sym typeface="Arial"/>
              </a:rPr>
              <a:t>RBAC matrix, JML tests, access requests, access reviews, and screenshots</a:t>
            </a:r>
            <a:r>
              <a:rPr lang="en-US" sz="1120">
                <a:solidFill>
                  <a:srgbClr val="566579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1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5" name="Google Shape;315;p11"/>
          <p:cNvSpPr/>
          <p:nvPr/>
        </p:nvSpPr>
        <p:spPr>
          <a:xfrm>
            <a:off x="749808" y="3767328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F4767"/>
              </a:buClr>
              <a:buSzPts val="2000"/>
              <a:buFont typeface="Quattrocento Sans"/>
              <a:buNone/>
            </a:pPr>
            <a:r>
              <a:rPr lang="en-US" sz="2000">
                <a:solidFill>
                  <a:srgbClr val="BF476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📡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6" name="Google Shape;316;p11"/>
          <p:cNvSpPr/>
          <p:nvPr/>
        </p:nvSpPr>
        <p:spPr>
          <a:xfrm>
            <a:off x="1252728" y="3776472"/>
            <a:ext cx="53949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1350"/>
              <a:buFont typeface="Play"/>
              <a:buNone/>
            </a:pPr>
            <a:r>
              <a:rPr b="1" lang="en-US" sz="1550">
                <a:solidFill>
                  <a:srgbClr val="0B1F3A"/>
                </a:solidFill>
              </a:rPr>
              <a:t>Monitoring evidence</a:t>
            </a:r>
            <a:endParaRPr sz="1550">
              <a:solidFill>
                <a:schemeClr val="dk1"/>
              </a:solidFill>
            </a:endParaRPr>
          </a:p>
        </p:txBody>
      </p:sp>
      <p:sp>
        <p:nvSpPr>
          <p:cNvPr id="317" name="Google Shape;317;p11"/>
          <p:cNvSpPr/>
          <p:nvPr/>
        </p:nvSpPr>
        <p:spPr>
          <a:xfrm>
            <a:off x="1252728" y="4059936"/>
            <a:ext cx="53949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66579"/>
              </a:buClr>
              <a:buSzPts val="1120"/>
              <a:buFont typeface="Arial"/>
              <a:buNone/>
            </a:pPr>
            <a:r>
              <a:rPr lang="en-US" sz="1520">
                <a:solidFill>
                  <a:srgbClr val="566579"/>
                </a:solidFill>
                <a:latin typeface="Arial"/>
                <a:ea typeface="Arial"/>
                <a:cs typeface="Arial"/>
                <a:sym typeface="Arial"/>
              </a:rPr>
              <a:t>Synthetic logs, detection use cases, triage notes, and incident investigation record.</a:t>
            </a:r>
            <a:endParaRPr sz="15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8" name="Google Shape;318;p11"/>
          <p:cNvSpPr/>
          <p:nvPr/>
        </p:nvSpPr>
        <p:spPr>
          <a:xfrm>
            <a:off x="749808" y="4517136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056A3"/>
              </a:buClr>
              <a:buSzPts val="2000"/>
              <a:buFont typeface="Quattrocento Sans"/>
              <a:buNone/>
            </a:pPr>
            <a:r>
              <a:rPr lang="en-US" sz="2000">
                <a:solidFill>
                  <a:srgbClr val="8056A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⚖️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9" name="Google Shape;319;p11"/>
          <p:cNvSpPr/>
          <p:nvPr/>
        </p:nvSpPr>
        <p:spPr>
          <a:xfrm>
            <a:off x="1252728" y="4526280"/>
            <a:ext cx="53949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1350"/>
              <a:buFont typeface="Play"/>
              <a:buNone/>
            </a:pPr>
            <a:r>
              <a:rPr b="1" lang="en-US" sz="1550">
                <a:solidFill>
                  <a:srgbClr val="0B1F3A"/>
                </a:solidFill>
              </a:rPr>
              <a:t>GRC package</a:t>
            </a:r>
            <a:endParaRPr sz="1550">
              <a:solidFill>
                <a:schemeClr val="dk1"/>
              </a:solidFill>
            </a:endParaRPr>
          </a:p>
        </p:txBody>
      </p:sp>
      <p:sp>
        <p:nvSpPr>
          <p:cNvPr id="320" name="Google Shape;320;p11"/>
          <p:cNvSpPr/>
          <p:nvPr/>
        </p:nvSpPr>
        <p:spPr>
          <a:xfrm>
            <a:off x="1252728" y="4809744"/>
            <a:ext cx="53949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66579"/>
              </a:buClr>
              <a:buSzPts val="1120"/>
              <a:buFont typeface="Arial"/>
              <a:buNone/>
            </a:pPr>
            <a:r>
              <a:rPr lang="en-US" sz="1520">
                <a:solidFill>
                  <a:srgbClr val="566579"/>
                </a:solidFill>
                <a:latin typeface="Arial"/>
                <a:ea typeface="Arial"/>
                <a:cs typeface="Arial"/>
                <a:sym typeface="Arial"/>
              </a:rPr>
              <a:t>Risk register, control matrix, evidence index, gap assessment, exceptions, remediation tracker.</a:t>
            </a:r>
            <a:endParaRPr sz="15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1" name="Google Shape;321;p11"/>
          <p:cNvSpPr/>
          <p:nvPr/>
        </p:nvSpPr>
        <p:spPr>
          <a:xfrm>
            <a:off x="749808" y="5266944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8B61"/>
              </a:buClr>
              <a:buSzPts val="2000"/>
              <a:buFont typeface="Quattrocento Sans"/>
              <a:buNone/>
            </a:pPr>
            <a:r>
              <a:rPr lang="en-US" sz="2000">
                <a:solidFill>
                  <a:srgbClr val="0D8B6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📊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2" name="Google Shape;322;p11"/>
          <p:cNvSpPr/>
          <p:nvPr/>
        </p:nvSpPr>
        <p:spPr>
          <a:xfrm>
            <a:off x="1252728" y="5276088"/>
            <a:ext cx="53949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1350"/>
              <a:buFont typeface="Play"/>
              <a:buNone/>
            </a:pPr>
            <a:r>
              <a:rPr b="1" lang="en-US" sz="1350">
                <a:solidFill>
                  <a:srgbClr val="0B1F3A"/>
                </a:solidFill>
              </a:rPr>
              <a:t>D</a:t>
            </a:r>
            <a:r>
              <a:rPr b="1" lang="en-US" sz="1550">
                <a:solidFill>
                  <a:srgbClr val="0B1F3A"/>
                </a:solidFill>
              </a:rPr>
              <a:t>ashboard + demo</a:t>
            </a:r>
            <a:endParaRPr sz="1550">
              <a:solidFill>
                <a:schemeClr val="dk1"/>
              </a:solidFill>
            </a:endParaRPr>
          </a:p>
        </p:txBody>
      </p:sp>
      <p:sp>
        <p:nvSpPr>
          <p:cNvPr id="323" name="Google Shape;323;p11"/>
          <p:cNvSpPr/>
          <p:nvPr/>
        </p:nvSpPr>
        <p:spPr>
          <a:xfrm>
            <a:off x="1252728" y="5559552"/>
            <a:ext cx="53949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66579"/>
              </a:buClr>
              <a:buSzPts val="1120"/>
              <a:buFont typeface="Arial"/>
              <a:buNone/>
            </a:pPr>
            <a:r>
              <a:rPr lang="en-US" sz="1520">
                <a:solidFill>
                  <a:srgbClr val="566579"/>
                </a:solidFill>
                <a:latin typeface="Arial"/>
                <a:ea typeface="Arial"/>
                <a:cs typeface="Arial"/>
                <a:sym typeface="Arial"/>
              </a:rPr>
              <a:t>Tableau/Excel dashboard and concise 5-minute walkthrough story.</a:t>
            </a:r>
            <a:endParaRPr sz="15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24" name="Google Shape;324;p11"/>
          <p:cNvCxnSpPr/>
          <p:nvPr/>
        </p:nvCxnSpPr>
        <p:spPr>
          <a:xfrm>
            <a:off x="475488" y="6473952"/>
            <a:ext cx="11247120" cy="0"/>
          </a:xfrm>
          <a:prstGeom prst="straightConnector1">
            <a:avLst/>
          </a:prstGeom>
          <a:noFill/>
          <a:ln cap="flat" cmpd="sng" w="9525">
            <a:solidFill>
              <a:srgbClr val="D8E2F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25" name="Google Shape;325;p11"/>
          <p:cNvSpPr/>
          <p:nvPr/>
        </p:nvSpPr>
        <p:spPr>
          <a:xfrm>
            <a:off x="548640" y="6556248"/>
            <a:ext cx="530352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780"/>
              <a:buFont typeface="Arial"/>
              <a:buNone/>
            </a:pPr>
            <a:r>
              <a:rPr lang="en-US" sz="780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IAM + GRC Healthcare Cybersecurity Portfolio Pitch</a:t>
            </a:r>
            <a:endParaRPr sz="78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6" name="Google Shape;326;p11"/>
          <p:cNvSpPr/>
          <p:nvPr/>
        </p:nvSpPr>
        <p:spPr>
          <a:xfrm>
            <a:off x="11155680" y="6519672"/>
            <a:ext cx="5486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850"/>
              <a:buFont typeface="Arial"/>
              <a:buNone/>
            </a:pPr>
            <a:r>
              <a:rPr b="1" lang="en-US" sz="850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11</a:t>
            </a:r>
            <a:endParaRPr sz="8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mnt/data/wide_cinematic_futuristic_conceptual_illustration_batch_4.png" id="332" name="Google Shape;332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69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33" name="Google Shape;333;p1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72157"/>
            </a:srgbClr>
          </a:solidFill>
          <a:ln cap="flat" cmpd="sng" w="12700">
            <a:solidFill>
              <a:srgbClr val="33333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p12"/>
          <p:cNvSpPr/>
          <p:nvPr/>
        </p:nvSpPr>
        <p:spPr>
          <a:xfrm>
            <a:off x="713945" y="786458"/>
            <a:ext cx="6035100" cy="5285100"/>
          </a:xfrm>
          <a:prstGeom prst="roundRect">
            <a:avLst>
              <a:gd fmla="val 3114" name="adj"/>
            </a:avLst>
          </a:prstGeom>
          <a:solidFill>
            <a:srgbClr val="FFFFFF">
              <a:alpha val="96078"/>
            </a:srgbClr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algn="bl" dir="2700000" dist="508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p12"/>
          <p:cNvSpPr/>
          <p:nvPr/>
        </p:nvSpPr>
        <p:spPr>
          <a:xfrm>
            <a:off x="987552" y="1115568"/>
            <a:ext cx="2377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9A7A8"/>
              </a:buClr>
              <a:buSzPts val="1300"/>
              <a:buFont typeface="Arial"/>
              <a:buNone/>
            </a:pPr>
            <a:r>
              <a:rPr b="1" lang="en-US" sz="1300">
                <a:solidFill>
                  <a:srgbClr val="19A7A8"/>
                </a:solidFill>
                <a:latin typeface="Arial"/>
                <a:ea typeface="Arial"/>
                <a:cs typeface="Arial"/>
                <a:sym typeface="Arial"/>
              </a:rPr>
              <a:t>Closing pitch</a:t>
            </a:r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6" name="Google Shape;336;p12"/>
          <p:cNvSpPr/>
          <p:nvPr/>
        </p:nvSpPr>
        <p:spPr>
          <a:xfrm>
            <a:off x="969264" y="1664208"/>
            <a:ext cx="534924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2900"/>
              <a:buFont typeface="Play"/>
              <a:buNone/>
            </a:pPr>
            <a:r>
              <a:rPr b="1" lang="en-US" sz="2900">
                <a:solidFill>
                  <a:srgbClr val="0B1F3A"/>
                </a:solidFill>
              </a:rPr>
              <a:t>I am building proof that I can think like an IAM + GRC Analyst</a:t>
            </a:r>
            <a:endParaRPr sz="2900">
              <a:solidFill>
                <a:schemeClr val="dk1"/>
              </a:solidFill>
            </a:endParaRPr>
          </a:p>
        </p:txBody>
      </p:sp>
      <p:cxnSp>
        <p:nvCxnSpPr>
          <p:cNvPr id="337" name="Google Shape;337;p12"/>
          <p:cNvCxnSpPr/>
          <p:nvPr/>
        </p:nvCxnSpPr>
        <p:spPr>
          <a:xfrm>
            <a:off x="1005840" y="2816352"/>
            <a:ext cx="1051560" cy="0"/>
          </a:xfrm>
          <a:prstGeom prst="straightConnector1">
            <a:avLst/>
          </a:prstGeom>
          <a:noFill/>
          <a:ln cap="flat" cmpd="sng" w="38100">
            <a:solidFill>
              <a:srgbClr val="BF476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38" name="Google Shape;338;p12"/>
          <p:cNvSpPr/>
          <p:nvPr/>
        </p:nvSpPr>
        <p:spPr>
          <a:xfrm>
            <a:off x="1125402" y="3392198"/>
            <a:ext cx="52122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3645"/>
              </a:buClr>
              <a:buSzPts val="1420"/>
              <a:buFont typeface="Arial"/>
              <a:buNone/>
            </a:pPr>
            <a:r>
              <a:rPr lang="en-US" sz="1820">
                <a:solidFill>
                  <a:srgbClr val="263645"/>
                </a:solidFill>
                <a:latin typeface="Arial"/>
                <a:ea typeface="Arial"/>
                <a:cs typeface="Arial"/>
                <a:sym typeface="Arial"/>
              </a:rPr>
              <a:t>MoodBuddy shows my completed programming foundation. Care Access Navigator is my healthcare-focused capstone where I am converting IAM/GRC concepts into practical workflows, evidence, and reporting.</a:t>
            </a:r>
            <a:endParaRPr sz="18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9" name="Google Shape;339;p12"/>
          <p:cNvSpPr/>
          <p:nvPr/>
        </p:nvSpPr>
        <p:spPr>
          <a:xfrm>
            <a:off x="987552" y="4389120"/>
            <a:ext cx="51206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66579"/>
              </a:buClr>
              <a:buSzPts val="1220"/>
              <a:buFont typeface="Arial"/>
              <a:buNone/>
            </a:pPr>
            <a:r>
              <a:t/>
            </a:r>
            <a:endParaRPr sz="12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0" name="Google Shape;340;p12"/>
          <p:cNvSpPr/>
          <p:nvPr/>
        </p:nvSpPr>
        <p:spPr>
          <a:xfrm>
            <a:off x="2954515" y="5239532"/>
            <a:ext cx="20118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1700"/>
              <a:buFont typeface="Play"/>
              <a:buNone/>
            </a:pPr>
            <a:r>
              <a:rPr b="1" lang="en-US" sz="2000">
                <a:solidFill>
                  <a:srgbClr val="0B1F3A"/>
                </a:solidFill>
              </a:rPr>
              <a:t>                            </a:t>
            </a:r>
            <a:r>
              <a:rPr b="1" lang="en-US" sz="2000">
                <a:solidFill>
                  <a:srgbClr val="0B1F3A"/>
                </a:solidFill>
              </a:rPr>
              <a:t>Thank you</a:t>
            </a:r>
            <a:endParaRPr sz="2000">
              <a:solidFill>
                <a:schemeClr val="dk1"/>
              </a:solidFill>
            </a:endParaRPr>
          </a:p>
        </p:txBody>
      </p:sp>
      <p:cxnSp>
        <p:nvCxnSpPr>
          <p:cNvPr id="341" name="Google Shape;341;p12"/>
          <p:cNvCxnSpPr/>
          <p:nvPr/>
        </p:nvCxnSpPr>
        <p:spPr>
          <a:xfrm>
            <a:off x="475488" y="6473952"/>
            <a:ext cx="11247120" cy="0"/>
          </a:xfrm>
          <a:prstGeom prst="straightConnector1">
            <a:avLst/>
          </a:prstGeom>
          <a:noFill/>
          <a:ln cap="flat" cmpd="sng" w="9525">
            <a:solidFill>
              <a:srgbClr val="D8E2F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42" name="Google Shape;342;p12"/>
          <p:cNvSpPr/>
          <p:nvPr/>
        </p:nvSpPr>
        <p:spPr>
          <a:xfrm>
            <a:off x="548640" y="6556248"/>
            <a:ext cx="530352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780"/>
              <a:buFont typeface="Arial"/>
              <a:buNone/>
            </a:pPr>
            <a:r>
              <a:rPr lang="en-US" sz="780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IAM + GRC Healthcare Cybersecurity Portfolio Pitch</a:t>
            </a:r>
            <a:endParaRPr sz="78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3" name="Google Shape;343;p12"/>
          <p:cNvSpPr/>
          <p:nvPr/>
        </p:nvSpPr>
        <p:spPr>
          <a:xfrm>
            <a:off x="11155680" y="6519672"/>
            <a:ext cx="5486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850"/>
              <a:buFont typeface="Arial"/>
              <a:buNone/>
            </a:pPr>
            <a:r>
              <a:rPr b="1" lang="en-US" sz="850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12</a:t>
            </a:r>
            <a:endParaRPr sz="8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AFC"/>
        </a:solidFill>
      </p:bgPr>
    </p:bg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1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 cap="flat" cmpd="sng" w="12700">
            <a:solidFill>
              <a:srgbClr val="33333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" name="Google Shape;350;p13"/>
          <p:cNvSpPr/>
          <p:nvPr/>
        </p:nvSpPr>
        <p:spPr>
          <a:xfrm>
            <a:off x="594360" y="384048"/>
            <a:ext cx="67665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9A7A8"/>
              </a:buClr>
              <a:buSzPts val="1050"/>
              <a:buFont typeface="Arial"/>
              <a:buNone/>
            </a:pPr>
            <a:r>
              <a:rPr b="1" lang="en-US" sz="1050">
                <a:solidFill>
                  <a:srgbClr val="19A7A8"/>
                </a:solidFill>
                <a:latin typeface="Arial"/>
                <a:ea typeface="Arial"/>
                <a:cs typeface="Arial"/>
                <a:sym typeface="Arial"/>
              </a:rPr>
              <a:t>NETWORKING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1" name="Google Shape;351;p13"/>
          <p:cNvSpPr/>
          <p:nvPr/>
        </p:nvSpPr>
        <p:spPr>
          <a:xfrm>
            <a:off x="594360" y="731520"/>
            <a:ext cx="676656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3100"/>
              <a:buFont typeface="Play"/>
              <a:buNone/>
            </a:pPr>
            <a:r>
              <a:rPr b="1" lang="en-US" sz="3100">
                <a:solidFill>
                  <a:srgbClr val="0B1F3A"/>
                </a:solidFill>
              </a:rPr>
              <a:t>Connect &amp; portfolio</a:t>
            </a:r>
            <a:endParaRPr sz="3100">
              <a:solidFill>
                <a:schemeClr val="dk1"/>
              </a:solidFill>
            </a:endParaRPr>
          </a:p>
        </p:txBody>
      </p:sp>
      <p:cxnSp>
        <p:nvCxnSpPr>
          <p:cNvPr id="352" name="Google Shape;352;p13"/>
          <p:cNvCxnSpPr/>
          <p:nvPr/>
        </p:nvCxnSpPr>
        <p:spPr>
          <a:xfrm>
            <a:off x="594360" y="1371600"/>
            <a:ext cx="1051560" cy="0"/>
          </a:xfrm>
          <a:prstGeom prst="straightConnector1">
            <a:avLst/>
          </a:prstGeom>
          <a:noFill/>
          <a:ln cap="flat" cmpd="sng" w="38100">
            <a:solidFill>
              <a:srgbClr val="BF476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53" name="Google Shape;353;p13"/>
          <p:cNvSpPr/>
          <p:nvPr/>
        </p:nvSpPr>
        <p:spPr>
          <a:xfrm>
            <a:off x="594360" y="1581912"/>
            <a:ext cx="9144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3645"/>
              </a:buClr>
              <a:buSzPts val="1420"/>
              <a:buFont typeface="Arial"/>
              <a:buNone/>
            </a:pPr>
            <a:r>
              <a:rPr lang="en-US" sz="1820">
                <a:solidFill>
                  <a:srgbClr val="263645"/>
                </a:solidFill>
                <a:latin typeface="Arial"/>
                <a:ea typeface="Arial"/>
                <a:cs typeface="Arial"/>
                <a:sym typeface="Arial"/>
              </a:rPr>
              <a:t>Scan to review project work and continue the conversation after the presentation.</a:t>
            </a:r>
            <a:endParaRPr sz="18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4" name="Google Shape;354;p13"/>
          <p:cNvSpPr/>
          <p:nvPr/>
        </p:nvSpPr>
        <p:spPr>
          <a:xfrm>
            <a:off x="1234440" y="2231136"/>
            <a:ext cx="4315968" cy="3584448"/>
          </a:xfrm>
          <a:prstGeom prst="roundRect">
            <a:avLst>
              <a:gd fmla="val 3316" name="adj"/>
            </a:avLst>
          </a:prstGeom>
          <a:solidFill>
            <a:srgbClr val="FFFFFF"/>
          </a:solidFill>
          <a:ln cap="flat" cmpd="sng" w="12700">
            <a:solidFill>
              <a:srgbClr val="D9E2EF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50800">
              <a:srgbClr val="91A4B7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5" name="Google Shape;355;p13"/>
          <p:cNvSpPr/>
          <p:nvPr/>
        </p:nvSpPr>
        <p:spPr>
          <a:xfrm>
            <a:off x="1554480" y="2542032"/>
            <a:ext cx="3657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1700"/>
              <a:buFont typeface="Play"/>
              <a:buNone/>
            </a:pPr>
            <a:r>
              <a:rPr b="1" lang="en-US" sz="1800">
                <a:solidFill>
                  <a:srgbClr val="0B1F3A"/>
                </a:solidFill>
              </a:rPr>
              <a:t>GitHub Portfolio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356" name="Google Shape;356;p13"/>
          <p:cNvSpPr/>
          <p:nvPr/>
        </p:nvSpPr>
        <p:spPr>
          <a:xfrm>
            <a:off x="1600200" y="2907792"/>
            <a:ext cx="35661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66579"/>
              </a:buClr>
              <a:buSzPts val="1140"/>
              <a:buFont typeface="Arial"/>
              <a:buNone/>
            </a:pPr>
            <a:r>
              <a:rPr lang="en-US" sz="1240">
                <a:solidFill>
                  <a:srgbClr val="566579"/>
                </a:solidFill>
                <a:latin typeface="Arial"/>
                <a:ea typeface="Arial"/>
                <a:cs typeface="Arial"/>
                <a:sym typeface="Arial"/>
              </a:rPr>
              <a:t>Scan to view project code and portfolio evidence.</a:t>
            </a:r>
            <a:endParaRPr sz="124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mnt/data/github_akchrao_qr.png" id="357" name="Google Shape;357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04288" y="3310128"/>
            <a:ext cx="2148840" cy="2148840"/>
          </a:xfrm>
          <a:prstGeom prst="rect">
            <a:avLst/>
          </a:prstGeom>
          <a:noFill/>
          <a:ln>
            <a:noFill/>
          </a:ln>
        </p:spPr>
      </p:pic>
      <p:sp>
        <p:nvSpPr>
          <p:cNvPr id="358" name="Google Shape;358;p13"/>
          <p:cNvSpPr/>
          <p:nvPr/>
        </p:nvSpPr>
        <p:spPr>
          <a:xfrm>
            <a:off x="6629400" y="2231136"/>
            <a:ext cx="4315968" cy="3584448"/>
          </a:xfrm>
          <a:prstGeom prst="roundRect">
            <a:avLst>
              <a:gd fmla="val 3316" name="adj"/>
            </a:avLst>
          </a:prstGeom>
          <a:solidFill>
            <a:srgbClr val="FFFFFF"/>
          </a:solidFill>
          <a:ln cap="flat" cmpd="sng" w="12700">
            <a:solidFill>
              <a:srgbClr val="D9E2EF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50800">
              <a:srgbClr val="91A4B7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" name="Google Shape;359;p13"/>
          <p:cNvSpPr/>
          <p:nvPr/>
        </p:nvSpPr>
        <p:spPr>
          <a:xfrm>
            <a:off x="6949440" y="2542032"/>
            <a:ext cx="3657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1700"/>
              <a:buFont typeface="Play"/>
              <a:buNone/>
            </a:pPr>
            <a:r>
              <a:rPr b="1" lang="en-US" sz="1800">
                <a:solidFill>
                  <a:srgbClr val="0B1F3A"/>
                </a:solidFill>
              </a:rPr>
              <a:t>LinkedIn Profile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360" name="Google Shape;360;p13"/>
          <p:cNvSpPr/>
          <p:nvPr/>
        </p:nvSpPr>
        <p:spPr>
          <a:xfrm>
            <a:off x="6995160" y="2907792"/>
            <a:ext cx="35661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66579"/>
              </a:buClr>
              <a:buSzPts val="1140"/>
              <a:buFont typeface="Arial"/>
              <a:buNone/>
            </a:pPr>
            <a:r>
              <a:rPr lang="en-US" sz="1240">
                <a:solidFill>
                  <a:srgbClr val="566579"/>
                </a:solidFill>
                <a:latin typeface="Arial"/>
                <a:ea typeface="Arial"/>
                <a:cs typeface="Arial"/>
                <a:sym typeface="Arial"/>
              </a:rPr>
              <a:t>Scan to connect professionally.</a:t>
            </a:r>
            <a:endParaRPr sz="124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mnt/data/linkedin_profile_qr.png" id="361" name="Google Shape;361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9248" y="3310128"/>
            <a:ext cx="2148840" cy="2148840"/>
          </a:xfrm>
          <a:prstGeom prst="rect">
            <a:avLst/>
          </a:prstGeom>
          <a:noFill/>
          <a:ln>
            <a:noFill/>
          </a:ln>
        </p:spPr>
      </p:pic>
      <p:sp>
        <p:nvSpPr>
          <p:cNvPr id="362" name="Google Shape;362;p13"/>
          <p:cNvSpPr/>
          <p:nvPr/>
        </p:nvSpPr>
        <p:spPr>
          <a:xfrm>
            <a:off x="6931152" y="5550408"/>
            <a:ext cx="37490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66579"/>
              </a:buClr>
              <a:buSzPts val="960"/>
              <a:buFont typeface="Arial"/>
              <a:buNone/>
            </a:pPr>
            <a:r>
              <a:rPr lang="en-US" sz="960">
                <a:solidFill>
                  <a:srgbClr val="566579"/>
                </a:solidFill>
                <a:latin typeface="Arial"/>
                <a:ea typeface="Arial"/>
                <a:cs typeface="Arial"/>
                <a:sym typeface="Arial"/>
              </a:rPr>
              <a:t>l</a:t>
            </a:r>
            <a:r>
              <a:rPr lang="en-US" sz="1200">
                <a:solidFill>
                  <a:srgbClr val="566579"/>
                </a:solidFill>
                <a:latin typeface="Arial"/>
                <a:ea typeface="Arial"/>
                <a:cs typeface="Arial"/>
                <a:sym typeface="Arial"/>
              </a:rPr>
              <a:t>inkedin.com/in/akhila-chennamaneni-228651236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63" name="Google Shape;363;p13"/>
          <p:cNvCxnSpPr/>
          <p:nvPr/>
        </p:nvCxnSpPr>
        <p:spPr>
          <a:xfrm>
            <a:off x="475488" y="6473952"/>
            <a:ext cx="11247120" cy="0"/>
          </a:xfrm>
          <a:prstGeom prst="straightConnector1">
            <a:avLst/>
          </a:prstGeom>
          <a:noFill/>
          <a:ln cap="flat" cmpd="sng" w="9525">
            <a:solidFill>
              <a:srgbClr val="D8E2F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64" name="Google Shape;364;p13"/>
          <p:cNvSpPr/>
          <p:nvPr/>
        </p:nvSpPr>
        <p:spPr>
          <a:xfrm>
            <a:off x="548640" y="6556248"/>
            <a:ext cx="530352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780"/>
              <a:buFont typeface="Arial"/>
              <a:buNone/>
            </a:pPr>
            <a:r>
              <a:rPr lang="en-US" sz="780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IAM + GRC Healthcare Cybersecurity Portfolio Pitch</a:t>
            </a:r>
            <a:endParaRPr sz="78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5" name="Google Shape;365;p13"/>
          <p:cNvSpPr/>
          <p:nvPr/>
        </p:nvSpPr>
        <p:spPr>
          <a:xfrm>
            <a:off x="11155680" y="6519672"/>
            <a:ext cx="5486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850"/>
              <a:buFont typeface="Arial"/>
              <a:buNone/>
            </a:pPr>
            <a:r>
              <a:rPr b="1" lang="en-US" sz="850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13</a:t>
            </a:r>
            <a:endParaRPr sz="8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2026-09-09T03:58:30Z</dcterms:created>
  <dc:creator>OpenAI</dc:creator>
</cp:coreProperties>
</file>