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1675"/>
  <p:notesSz cx="6858000" cy="121916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io+tIfKsquCTzgJULxvL2zwzyd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5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wide_cinematic_scene_of_a_modern_high_tech_healthc_batch_1.png" id="16" name="Google Shape;16;p1"/>
          <p:cNvPicPr preferRelativeResize="0"/>
          <p:nvPr/>
        </p:nvPicPr>
        <p:blipFill rotWithShape="1">
          <a:blip r:embed="rId3">
            <a:alphaModFix/>
          </a:blip>
          <a:srcRect b="25" l="0" r="0" t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0" y="0"/>
            <a:ext cx="5715000" cy="6858000"/>
          </a:xfrm>
          <a:prstGeom prst="rect">
            <a:avLst/>
          </a:prstGeom>
          <a:solidFill>
            <a:srgbClr val="D8ECFB">
              <a:alpha val="9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40075" y="568425"/>
            <a:ext cx="4663500" cy="11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A5A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123A5A"/>
                </a:solidFill>
                <a:latin typeface="Arial"/>
                <a:ea typeface="Arial"/>
                <a:cs typeface="Arial"/>
                <a:sym typeface="Arial"/>
              </a:rPr>
              <a:t>Care Access Navigator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58368" y="1810512"/>
            <a:ext cx="46177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6784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Health Line Medical Center (HRMC)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6784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Capstone Project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" name="Google Shape;20;p1"/>
          <p:cNvCxnSpPr/>
          <p:nvPr/>
        </p:nvCxnSpPr>
        <p:spPr>
          <a:xfrm>
            <a:off x="658368" y="2788920"/>
            <a:ext cx="4114800" cy="0"/>
          </a:xfrm>
          <a:prstGeom prst="straightConnector1">
            <a:avLst/>
          </a:prstGeom>
          <a:noFill/>
          <a:ln cap="flat" cmpd="sng" w="25400">
            <a:solidFill>
              <a:srgbClr val="35C6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p1"/>
          <p:cNvSpPr/>
          <p:nvPr/>
        </p:nvSpPr>
        <p:spPr>
          <a:xfrm>
            <a:off x="658368" y="3090672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A5A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23A5A"/>
                </a:solidFill>
                <a:latin typeface="Arial"/>
                <a:ea typeface="Arial"/>
                <a:cs typeface="Arial"/>
                <a:sym typeface="Arial"/>
              </a:rPr>
              <a:t>IAM and GRC Analyst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658368" y="3438144"/>
            <a:ext cx="4206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6784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by Akhila Ch.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658368" y="4005072"/>
            <a:ext cx="1737360" cy="411480"/>
          </a:xfrm>
          <a:prstGeom prst="roundRect">
            <a:avLst>
              <a:gd fmla="val 17778" name="adj"/>
            </a:avLst>
          </a:prstGeom>
          <a:solidFill>
            <a:srgbClr val="24B8CF"/>
          </a:solidFill>
          <a:ln cap="flat" cmpd="sng" w="12700">
            <a:solidFill>
              <a:srgbClr val="08AF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731520" y="4101084"/>
            <a:ext cx="159105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Semester 4 · Week 3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2578608" y="4005072"/>
            <a:ext cx="1554480" cy="411480"/>
          </a:xfrm>
          <a:prstGeom prst="roundRect">
            <a:avLst>
              <a:gd fmla="val 17778" name="adj"/>
            </a:avLst>
          </a:prstGeom>
          <a:solidFill>
            <a:srgbClr val="4F9FE1"/>
          </a:solidFill>
          <a:ln cap="flat" cmpd="sng" w="12700">
            <a:solidFill>
              <a:srgbClr val="0A6E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2651760" y="4101084"/>
            <a:ext cx="140817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Sep 28 – Oct 1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1938535" y="5296735"/>
            <a:ext cx="2834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678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C6784"/>
                </a:solidFill>
                <a:latin typeface="Arial"/>
                <a:ea typeface="Arial"/>
                <a:cs typeface="Arial"/>
                <a:sym typeface="Arial"/>
              </a:rPr>
              <a:t>Weekly Status Update 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ae_official_transparent.png" id="28" name="Google Shape;2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9496" y="5173165"/>
            <a:ext cx="987552" cy="35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BF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"/>
          <p:cNvSpPr/>
          <p:nvPr/>
        </p:nvSpPr>
        <p:spPr>
          <a:xfrm>
            <a:off x="548640" y="411480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Weekly Snapshot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566928" y="896112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250"/>
              <a:buFont typeface="Arial"/>
              <a:buNone/>
            </a:pP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Progress summary for Cloud Security 1 and the Care Access Navigator capstone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594360" y="1417320"/>
            <a:ext cx="3429000" cy="11430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DDEE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D0D9DD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758952" y="1581912"/>
            <a:ext cx="457200" cy="457200"/>
          </a:xfrm>
          <a:prstGeom prst="roundRect">
            <a:avLst>
              <a:gd fmla="val 16000" name="adj"/>
            </a:avLst>
          </a:prstGeom>
          <a:solidFill>
            <a:srgbClr val="0A6EBD"/>
          </a:solidFill>
          <a:ln cap="flat" cmpd="sng" w="12700">
            <a:solidFill>
              <a:srgbClr val="0A6E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813816" y="1645920"/>
            <a:ext cx="34747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344168" y="1581912"/>
            <a:ext cx="2514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Monday–Tuesday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344168" y="1938528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130"/>
              <a:buFont typeface="Arial"/>
              <a:buNone/>
            </a:pPr>
            <a:r>
              <a:rPr b="0" i="0" lang="en-US" sz="123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Worked on Cloud Security 1 Task 2 and Task 3, using the capstone project as the reference scenario.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389120" y="1417320"/>
            <a:ext cx="3429000" cy="11430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DDEE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D0D9DD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4553712" y="1581912"/>
            <a:ext cx="457200" cy="457200"/>
          </a:xfrm>
          <a:prstGeom prst="roundRect">
            <a:avLst>
              <a:gd fmla="val 16000" name="adj"/>
            </a:avLst>
          </a:prstGeom>
          <a:solidFill>
            <a:srgbClr val="0FB28A"/>
          </a:solidFill>
          <a:ln cap="flat" cmpd="sng" w="12700">
            <a:solidFill>
              <a:srgbClr val="0FB2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4608576" y="1645920"/>
            <a:ext cx="34747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5138928" y="1581912"/>
            <a:ext cx="2514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Assessment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5138928" y="1938528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130"/>
              <a:buFont typeface="Arial"/>
              <a:buNone/>
            </a:pPr>
            <a:r>
              <a:rPr b="0" i="0" lang="en-US" sz="123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Completed the 360 Power Assessment for Workforce Competencies.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8183880" y="1417320"/>
            <a:ext cx="3429000" cy="11430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DDEE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D0D9DD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8348472" y="1581912"/>
            <a:ext cx="457200" cy="457200"/>
          </a:xfrm>
          <a:prstGeom prst="roundRect">
            <a:avLst>
              <a:gd fmla="val 16000" name="adj"/>
            </a:avLst>
          </a:prstGeom>
          <a:solidFill>
            <a:srgbClr val="08AFC5"/>
          </a:solidFill>
          <a:ln cap="flat" cmpd="sng" w="12700">
            <a:solidFill>
              <a:srgbClr val="08AF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8403336" y="1645920"/>
            <a:ext cx="34747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8933688" y="1581912"/>
            <a:ext cx="2514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Wednesday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8933688" y="1938528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130"/>
              <a:buFont typeface="Arial"/>
              <a:buNone/>
            </a:pPr>
            <a:r>
              <a:rPr b="0" i="0" lang="en-US" sz="123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Finished Task 4: IAM implementation and federation between Keycloak and Entra ID.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wide_clean_vector_illustration_infographic_style_batch_2.png" id="51" name="Google Shape;51;p2"/>
          <p:cNvPicPr preferRelativeResize="0"/>
          <p:nvPr/>
        </p:nvPicPr>
        <p:blipFill rotWithShape="1">
          <a:blip r:embed="rId3">
            <a:alphaModFix/>
          </a:blip>
          <a:srcRect b="8696" l="0" r="0" t="8696"/>
          <a:stretch/>
        </p:blipFill>
        <p:spPr>
          <a:xfrm>
            <a:off x="548640" y="2907792"/>
            <a:ext cx="5212080" cy="242316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2"/>
          <p:cNvSpPr/>
          <p:nvPr/>
        </p:nvSpPr>
        <p:spPr>
          <a:xfrm>
            <a:off x="6080760" y="2926080"/>
            <a:ext cx="5440680" cy="2331720"/>
          </a:xfrm>
          <a:prstGeom prst="roundRect">
            <a:avLst>
              <a:gd fmla="val 3922" name="adj"/>
            </a:avLst>
          </a:prstGeom>
          <a:solidFill>
            <a:srgbClr val="FFFFFF"/>
          </a:solidFill>
          <a:ln cap="flat" cmpd="sng" w="12700">
            <a:solidFill>
              <a:srgbClr val="DCEE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6400800" y="3154695"/>
            <a:ext cx="4480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Main theme this week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6400800" y="3657600"/>
            <a:ext cx="44805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330"/>
              <a:buFont typeface="Arial"/>
              <a:buNone/>
            </a:pPr>
            <a:r>
              <a:rPr b="0" i="0" lang="en-US" sz="1330" u="none" cap="none" strike="noStrike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0" i="0" lang="en-US" sz="133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Connected coursework to the HRMC care-access use case</a:t>
            </a:r>
            <a:br>
              <a:rPr b="0" i="0" lang="en-US" sz="133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3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330"/>
              <a:buFont typeface="Arial"/>
              <a:buNone/>
            </a:pPr>
            <a:r>
              <a:rPr b="0" i="0" lang="en-US" sz="1330" u="none" cap="none" strike="noStrike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0" i="0" lang="en-US" sz="133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Built confidence with Azure, Entra ID, resource groups, and cloud networking</a:t>
            </a:r>
            <a:br>
              <a:rPr b="0" i="0" lang="en-US" sz="133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3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330"/>
              <a:buFont typeface="Arial"/>
              <a:buNone/>
            </a:pPr>
            <a:r>
              <a:rPr b="0" i="0" lang="en-US" sz="1330" u="none" cap="none" strike="noStrike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• I</a:t>
            </a:r>
            <a:r>
              <a:rPr b="0" i="0" lang="en-US" sz="133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dentified deployment blockers and continued troubleshooting container placement in Azure VNet</a:t>
            </a:r>
            <a:endParaRPr b="0" i="0" sz="13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502920" y="6510528"/>
            <a:ext cx="5943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B6B7A"/>
                </a:solidFill>
                <a:latin typeface="Arial"/>
                <a:ea typeface="Arial"/>
                <a:cs typeface="Arial"/>
                <a:sym typeface="Arial"/>
              </a:rPr>
              <a:t>Semester 4 · Week 3 · Sep 28 – Oct 1, 2026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11228832" y="647395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B6B7A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ae_official_transparent.png" id="57" name="Google Shape;5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5558" y="286388"/>
            <a:ext cx="829818" cy="2959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"/>
          <p:cNvSpPr/>
          <p:nvPr/>
        </p:nvSpPr>
        <p:spPr>
          <a:xfrm>
            <a:off x="548640" y="411480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Cloud Security 1 Progress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566928" y="896112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250"/>
              <a:buFont typeface="Arial"/>
              <a:buNone/>
            </a:pP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of 6 course tasks completed so far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777240" y="1554480"/>
            <a:ext cx="960120" cy="960120"/>
          </a:xfrm>
          <a:prstGeom prst="ellipse">
            <a:avLst/>
          </a:prstGeom>
          <a:solidFill>
            <a:srgbClr val="0FB28A"/>
          </a:solidFill>
          <a:ln cap="flat" cmpd="sng" w="12700">
            <a:solidFill>
              <a:srgbClr val="0FB2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1060704" y="1792224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" name="Google Shape;67;p3"/>
          <p:cNvCxnSpPr/>
          <p:nvPr/>
        </p:nvCxnSpPr>
        <p:spPr>
          <a:xfrm>
            <a:off x="1746504" y="2039112"/>
            <a:ext cx="841248" cy="0"/>
          </a:xfrm>
          <a:prstGeom prst="straightConnector1">
            <a:avLst/>
          </a:prstGeom>
          <a:noFill/>
          <a:ln cap="flat" cmpd="sng" w="25400">
            <a:solidFill>
              <a:srgbClr val="C6DC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" name="Google Shape;68;p3"/>
          <p:cNvSpPr/>
          <p:nvPr/>
        </p:nvSpPr>
        <p:spPr>
          <a:xfrm>
            <a:off x="667512" y="263347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860"/>
              <a:buFont typeface="Arial"/>
              <a:buNone/>
            </a:pPr>
            <a:r>
              <a:rPr b="0" i="0" lang="en-US" sz="8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Done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2606040" y="1554480"/>
            <a:ext cx="960120" cy="960120"/>
          </a:xfrm>
          <a:prstGeom prst="ellipse">
            <a:avLst/>
          </a:prstGeom>
          <a:solidFill>
            <a:srgbClr val="0FB28A"/>
          </a:solidFill>
          <a:ln cap="flat" cmpd="sng" w="12700">
            <a:solidFill>
              <a:srgbClr val="0FB2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2889504" y="1792224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" name="Google Shape;71;p3"/>
          <p:cNvCxnSpPr/>
          <p:nvPr/>
        </p:nvCxnSpPr>
        <p:spPr>
          <a:xfrm>
            <a:off x="3575304" y="2039112"/>
            <a:ext cx="841248" cy="0"/>
          </a:xfrm>
          <a:prstGeom prst="straightConnector1">
            <a:avLst/>
          </a:prstGeom>
          <a:noFill/>
          <a:ln cap="flat" cmpd="sng" w="25400">
            <a:solidFill>
              <a:srgbClr val="C6DC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3"/>
          <p:cNvSpPr/>
          <p:nvPr/>
        </p:nvSpPr>
        <p:spPr>
          <a:xfrm>
            <a:off x="2447112" y="2615197"/>
            <a:ext cx="1188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860"/>
              <a:buFont typeface="Arial"/>
              <a:buNone/>
            </a:pPr>
            <a:r>
              <a:rPr b="0" i="0" lang="en-US" sz="8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Done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4434840" y="1554480"/>
            <a:ext cx="960120" cy="960120"/>
          </a:xfrm>
          <a:prstGeom prst="ellipse">
            <a:avLst/>
          </a:prstGeom>
          <a:solidFill>
            <a:srgbClr val="F6A400"/>
          </a:solidFill>
          <a:ln cap="flat" cmpd="sng" w="12700">
            <a:solidFill>
              <a:srgbClr val="F6A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4718304" y="1792224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" name="Google Shape;75;p3"/>
          <p:cNvCxnSpPr/>
          <p:nvPr/>
        </p:nvCxnSpPr>
        <p:spPr>
          <a:xfrm>
            <a:off x="5404104" y="2039112"/>
            <a:ext cx="841248" cy="0"/>
          </a:xfrm>
          <a:prstGeom prst="straightConnector1">
            <a:avLst/>
          </a:prstGeom>
          <a:noFill/>
          <a:ln cap="flat" cmpd="sng" w="25400">
            <a:solidFill>
              <a:srgbClr val="C6DC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" name="Google Shape;76;p3"/>
          <p:cNvSpPr/>
          <p:nvPr/>
        </p:nvSpPr>
        <p:spPr>
          <a:xfrm>
            <a:off x="4434862" y="2615197"/>
            <a:ext cx="1188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860"/>
              <a:buFont typeface="Arial"/>
              <a:buNone/>
            </a:pPr>
            <a:r>
              <a:rPr b="0" i="0" lang="en-US" sz="8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progress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6263640" y="1554480"/>
            <a:ext cx="960120" cy="960120"/>
          </a:xfrm>
          <a:prstGeom prst="ellipse">
            <a:avLst/>
          </a:prstGeom>
          <a:solidFill>
            <a:srgbClr val="0FB28A"/>
          </a:solidFill>
          <a:ln cap="flat" cmpd="sng" w="12700">
            <a:solidFill>
              <a:srgbClr val="0FB2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6547104" y="1792224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" name="Google Shape;79;p3"/>
          <p:cNvCxnSpPr/>
          <p:nvPr/>
        </p:nvCxnSpPr>
        <p:spPr>
          <a:xfrm>
            <a:off x="7232904" y="2039112"/>
            <a:ext cx="841248" cy="0"/>
          </a:xfrm>
          <a:prstGeom prst="straightConnector1">
            <a:avLst/>
          </a:prstGeom>
          <a:noFill/>
          <a:ln cap="flat" cmpd="sng" w="25400">
            <a:solidFill>
              <a:srgbClr val="C6DC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" name="Google Shape;80;p3"/>
          <p:cNvSpPr/>
          <p:nvPr/>
        </p:nvSpPr>
        <p:spPr>
          <a:xfrm>
            <a:off x="6153912" y="263347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860"/>
              <a:buFont typeface="Arial"/>
              <a:buNone/>
            </a:pPr>
            <a:r>
              <a:rPr b="0" i="0" lang="en-US" sz="8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Done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8092440" y="1554480"/>
            <a:ext cx="960120" cy="960120"/>
          </a:xfrm>
          <a:prstGeom prst="ellipse">
            <a:avLst/>
          </a:prstGeom>
          <a:solidFill>
            <a:srgbClr val="D9E9EF"/>
          </a:solidFill>
          <a:ln cap="flat" cmpd="sng" w="12700">
            <a:solidFill>
              <a:srgbClr val="D9E9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8375904" y="1792224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B6B7A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" name="Google Shape;83;p3"/>
          <p:cNvCxnSpPr/>
          <p:nvPr/>
        </p:nvCxnSpPr>
        <p:spPr>
          <a:xfrm>
            <a:off x="9061704" y="2039112"/>
            <a:ext cx="841248" cy="0"/>
          </a:xfrm>
          <a:prstGeom prst="straightConnector1">
            <a:avLst/>
          </a:prstGeom>
          <a:noFill/>
          <a:ln cap="flat" cmpd="sng" w="25400">
            <a:solidFill>
              <a:srgbClr val="C6DC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" name="Google Shape;84;p3"/>
          <p:cNvSpPr/>
          <p:nvPr/>
        </p:nvSpPr>
        <p:spPr>
          <a:xfrm>
            <a:off x="7982712" y="263347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860"/>
              <a:buFont typeface="Arial"/>
              <a:buNone/>
            </a:pPr>
            <a:r>
              <a:rPr b="0" i="0" lang="en-US" sz="8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Next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9921240" y="1554480"/>
            <a:ext cx="960120" cy="960120"/>
          </a:xfrm>
          <a:prstGeom prst="ellipse">
            <a:avLst/>
          </a:prstGeom>
          <a:solidFill>
            <a:srgbClr val="D9E9EF"/>
          </a:solidFill>
          <a:ln cap="flat" cmpd="sng" w="12700">
            <a:solidFill>
              <a:srgbClr val="D9E9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10204704" y="1792224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B6B7A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9811512" y="263347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860"/>
              <a:buFont typeface="Arial"/>
              <a:buNone/>
            </a:pPr>
            <a:r>
              <a:rPr b="0" i="0" lang="en-US" sz="8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Next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685800" y="3035808"/>
            <a:ext cx="3566160" cy="164592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2700">
            <a:solidFill>
              <a:srgbClr val="DDEE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D0D9DD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850392" y="3200400"/>
            <a:ext cx="457200" cy="457200"/>
          </a:xfrm>
          <a:prstGeom prst="roundRect">
            <a:avLst>
              <a:gd fmla="val 16000" name="adj"/>
            </a:avLst>
          </a:prstGeom>
          <a:solidFill>
            <a:srgbClr val="0FB28A"/>
          </a:solidFill>
          <a:ln cap="flat" cmpd="sng" w="12700">
            <a:solidFill>
              <a:srgbClr val="0FB2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905256" y="3264408"/>
            <a:ext cx="34747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1435608" y="3200400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Completed focus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1435608" y="3557016"/>
            <a:ext cx="26517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130"/>
              <a:buFont typeface="Arial"/>
              <a:buNone/>
            </a:pPr>
            <a:r>
              <a:rPr b="0" i="0" lang="en-US" sz="1130" u="none" cap="none" strike="noStrike">
                <a:solidFill>
                  <a:srgbClr val="5B6B7A"/>
                </a:solidFill>
                <a:latin typeface="Arial"/>
                <a:ea typeface="Arial"/>
                <a:cs typeface="Arial"/>
                <a:sym typeface="Arial"/>
              </a:rPr>
              <a:t>Task 2: Cloud Architecture Design &amp; Security Patterns. Task 4: IAM implementation with Keycloak and Entra ID federation.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4434840" y="3035808"/>
            <a:ext cx="3566160" cy="164592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2700">
            <a:solidFill>
              <a:srgbClr val="DDEE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D0D9DD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4599432" y="3200400"/>
            <a:ext cx="457200" cy="457200"/>
          </a:xfrm>
          <a:prstGeom prst="roundRect">
            <a:avLst>
              <a:gd fmla="val 16000" name="adj"/>
            </a:avLst>
          </a:prstGeom>
          <a:solidFill>
            <a:srgbClr val="F6A400"/>
          </a:solidFill>
          <a:ln cap="flat" cmpd="sng" w="12700">
            <a:solidFill>
              <a:srgbClr val="F6A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4654296" y="3264408"/>
            <a:ext cx="34747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5184648" y="3200400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Current blocker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5184648" y="3557016"/>
            <a:ext cx="26517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130"/>
              <a:buFont typeface="Arial"/>
              <a:buNone/>
            </a:pPr>
            <a:r>
              <a:rPr b="0" i="0" lang="en-US" sz="1130" u="none" cap="none" strike="noStrike">
                <a:solidFill>
                  <a:srgbClr val="5B6B7A"/>
                </a:solidFill>
                <a:latin typeface="Arial"/>
                <a:ea typeface="Arial"/>
                <a:cs typeface="Arial"/>
                <a:sym typeface="Arial"/>
              </a:rPr>
              <a:t>Task 3 deployment ran into Azure container-in-VNet failures. Working through configuration alternatives.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8183880" y="3035808"/>
            <a:ext cx="3337560" cy="164592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2700">
            <a:solidFill>
              <a:srgbClr val="DDEE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D0D9DD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8348472" y="3200400"/>
            <a:ext cx="457200" cy="457200"/>
          </a:xfrm>
          <a:prstGeom prst="roundRect">
            <a:avLst>
              <a:gd fmla="val 16000" name="adj"/>
            </a:avLst>
          </a:prstGeom>
          <a:solidFill>
            <a:srgbClr val="08AFC5"/>
          </a:solidFill>
          <a:ln cap="flat" cmpd="sng" w="12700">
            <a:solidFill>
              <a:srgbClr val="08AF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8403336" y="3264408"/>
            <a:ext cx="34747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8933688" y="3200400"/>
            <a:ext cx="2423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Remaining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8933688" y="3557016"/>
            <a:ext cx="24231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130"/>
              <a:buFont typeface="Arial"/>
              <a:buNone/>
            </a:pPr>
            <a:r>
              <a:rPr b="0" i="0" lang="en-US" sz="1130" u="none" cap="none" strike="noStrike">
                <a:solidFill>
                  <a:srgbClr val="5B6B7A"/>
                </a:solidFill>
                <a:latin typeface="Arial"/>
                <a:ea typeface="Arial"/>
                <a:cs typeface="Arial"/>
                <a:sym typeface="Arial"/>
              </a:rPr>
              <a:t>Tasks 3, 5, and 6 remain: infrastructure protection, compliance/governance, and security operations/incident response.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502920" y="6510528"/>
            <a:ext cx="5943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B6B7A"/>
                </a:solidFill>
                <a:latin typeface="Arial"/>
                <a:ea typeface="Arial"/>
                <a:cs typeface="Arial"/>
                <a:sym typeface="Arial"/>
              </a:rPr>
              <a:t>Semester 4 · Week 3 · Sep 28 – Oct 1, 2026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11228832" y="647395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B6B7A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ae_official_transparent.png" id="105" name="Google Shape;10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5558" y="286388"/>
            <a:ext cx="829818" cy="2959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CFD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/>
          <p:nvPr/>
        </p:nvSpPr>
        <p:spPr>
          <a:xfrm>
            <a:off x="548640" y="411480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Monday &amp; Tuesday: Architecture + Infrastructure Security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594415" y="1065337"/>
            <a:ext cx="8046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250"/>
              <a:buFont typeface="Arial"/>
              <a:buNone/>
            </a:pPr>
            <a:r>
              <a:rPr b="0" i="0" lang="en-US" sz="1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Course tasks were framed around Care Access Navigator for HRMC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wide_clean_vector_illustration_infographic_style_batch_2.png" id="113" name="Google Shape;113;p4"/>
          <p:cNvPicPr preferRelativeResize="0"/>
          <p:nvPr/>
        </p:nvPicPr>
        <p:blipFill rotWithShape="1">
          <a:blip r:embed="rId3">
            <a:alphaModFix/>
          </a:blip>
          <a:srcRect b="0" l="14376" r="14376" t="0"/>
          <a:stretch/>
        </p:blipFill>
        <p:spPr>
          <a:xfrm>
            <a:off x="594360" y="1325880"/>
            <a:ext cx="5440680" cy="429768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4"/>
          <p:cNvSpPr/>
          <p:nvPr/>
        </p:nvSpPr>
        <p:spPr>
          <a:xfrm>
            <a:off x="6355080" y="1417320"/>
            <a:ext cx="5074920" cy="11430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DDEE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D0D9DD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6519672" y="1581912"/>
            <a:ext cx="457200" cy="457200"/>
          </a:xfrm>
          <a:prstGeom prst="roundRect">
            <a:avLst>
              <a:gd fmla="val 16000" name="adj"/>
            </a:avLst>
          </a:prstGeom>
          <a:solidFill>
            <a:srgbClr val="0FB28A"/>
          </a:solidFill>
          <a:ln cap="flat" cmpd="sng" w="12700">
            <a:solidFill>
              <a:srgbClr val="0FB2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6574536" y="1645920"/>
            <a:ext cx="34747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7104888" y="1581912"/>
            <a:ext cx="4160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Task 2 completed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7104888" y="1938528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130"/>
              <a:buFont typeface="Arial"/>
              <a:buNone/>
            </a:pPr>
            <a:r>
              <a:rPr b="0" i="0" lang="en-US" sz="133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Designed secure cloud architecture patterns around Azure networking, segmentation, and identity-aware access.</a:t>
            </a:r>
            <a:endParaRPr b="0" i="0" sz="13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6355080" y="2788920"/>
            <a:ext cx="5074920" cy="1325880"/>
          </a:xfrm>
          <a:prstGeom prst="roundRect">
            <a:avLst>
              <a:gd fmla="val 6897" name="adj"/>
            </a:avLst>
          </a:prstGeom>
          <a:solidFill>
            <a:srgbClr val="FFFFFF"/>
          </a:solidFill>
          <a:ln cap="flat" cmpd="sng" w="12700">
            <a:solidFill>
              <a:srgbClr val="DDEE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D0D9DD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6519672" y="2953512"/>
            <a:ext cx="457200" cy="457200"/>
          </a:xfrm>
          <a:prstGeom prst="roundRect">
            <a:avLst>
              <a:gd fmla="val 16000" name="adj"/>
            </a:avLst>
          </a:prstGeom>
          <a:solidFill>
            <a:srgbClr val="F6A400"/>
          </a:solidFill>
          <a:ln cap="flat" cmpd="sng" w="12700">
            <a:solidFill>
              <a:srgbClr val="F6A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6574536" y="3017520"/>
            <a:ext cx="34747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7104888" y="2953512"/>
            <a:ext cx="4160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Task 3 in progress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7104888" y="3310128"/>
            <a:ext cx="4160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130"/>
              <a:buFont typeface="Arial"/>
              <a:buNone/>
            </a:pPr>
            <a:r>
              <a:rPr b="0" i="0" lang="en-US" sz="133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Worked on cloud infrastructure security and container protection; encountered Azure container deployment failures inside the virtual network.</a:t>
            </a:r>
            <a:endParaRPr b="0" i="0" sz="13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6355080" y="4389120"/>
            <a:ext cx="5074920" cy="1051560"/>
          </a:xfrm>
          <a:prstGeom prst="roundRect">
            <a:avLst>
              <a:gd fmla="val 8696" name="adj"/>
            </a:avLst>
          </a:prstGeom>
          <a:solidFill>
            <a:srgbClr val="FFFFFF"/>
          </a:solidFill>
          <a:ln cap="flat" cmpd="sng" w="12700">
            <a:solidFill>
              <a:srgbClr val="DDEE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D0D9DD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6519672" y="4553712"/>
            <a:ext cx="457200" cy="457200"/>
          </a:xfrm>
          <a:prstGeom prst="roundRect">
            <a:avLst>
              <a:gd fmla="val 16000" name="adj"/>
            </a:avLst>
          </a:prstGeom>
          <a:solidFill>
            <a:srgbClr val="08AFC5"/>
          </a:solidFill>
          <a:ln cap="flat" cmpd="sng" w="12700">
            <a:solidFill>
              <a:srgbClr val="08AF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6574536" y="4617720"/>
            <a:ext cx="34747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↻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7104888" y="4553712"/>
            <a:ext cx="4160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Workaround path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7104888" y="4910328"/>
            <a:ext cx="4160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130"/>
              <a:buFont typeface="Arial"/>
              <a:buNone/>
            </a:pPr>
            <a:r>
              <a:rPr b="0" i="0" lang="en-US" sz="133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Reviewing resource group, virtual network, subnet, permissions, and deployment configuration options to complete the task.</a:t>
            </a:r>
            <a:endParaRPr b="0" i="0" sz="13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502920" y="6510528"/>
            <a:ext cx="5943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B6B7A"/>
                </a:solidFill>
                <a:latin typeface="Arial"/>
                <a:ea typeface="Arial"/>
                <a:cs typeface="Arial"/>
                <a:sym typeface="Arial"/>
              </a:rPr>
              <a:t>Semester 4 · Week 3 · Sep 28 – Oct 1, 2026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11228832" y="647395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B6B7A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ae_official_transparent.png" id="131" name="Google Shape;1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5558" y="286388"/>
            <a:ext cx="829818" cy="2959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"/>
          <p:cNvSpPr/>
          <p:nvPr/>
        </p:nvSpPr>
        <p:spPr>
          <a:xfrm>
            <a:off x="548640" y="411480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Wednesday: IAM Implementation Completed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566928" y="896112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250"/>
              <a:buFont typeface="Arial"/>
              <a:buNone/>
            </a:pPr>
            <a:r>
              <a:rPr b="0" i="0" lang="en-US" sz="1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Federation between Keycloak and Microsoft Entra ID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wide_infographic_style_vector_illustration_on_a_wh_batch_3.png" id="139" name="Google Shape;139;p5"/>
          <p:cNvPicPr preferRelativeResize="0"/>
          <p:nvPr/>
        </p:nvPicPr>
        <p:blipFill rotWithShape="1">
          <a:blip r:embed="rId3">
            <a:alphaModFix/>
          </a:blip>
          <a:srcRect b="0" l="14754" r="14754" t="0"/>
          <a:stretch/>
        </p:blipFill>
        <p:spPr>
          <a:xfrm>
            <a:off x="502920" y="1234440"/>
            <a:ext cx="5669280" cy="452628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5"/>
          <p:cNvSpPr/>
          <p:nvPr/>
        </p:nvSpPr>
        <p:spPr>
          <a:xfrm>
            <a:off x="6446520" y="1234433"/>
            <a:ext cx="4480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Why it matters for the capstone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6492240" y="1920240"/>
            <a:ext cx="45262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• Supports secure identity federation for healthcare users</a:t>
            </a:r>
            <a:br>
              <a:rPr b="0" i="0" lang="en-US" sz="1400" u="none" cap="none" strike="noStrike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• Strengthens authorization design for Care Access Navigator</a:t>
            </a:r>
            <a:br>
              <a:rPr b="0" i="0" lang="en-US" sz="1400" u="none" cap="none" strike="noStrike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• Connects IAM coursework with real capstone requirements</a:t>
            </a:r>
            <a:br>
              <a:rPr b="0" i="0" lang="en-US" sz="1400" u="none" cap="none" strike="noStrike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• Builds the foundation for identity lifecycle and governance work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6446520" y="3977640"/>
            <a:ext cx="4480560" cy="749808"/>
          </a:xfrm>
          <a:prstGeom prst="roundRect">
            <a:avLst>
              <a:gd fmla="val 12195" name="adj"/>
            </a:avLst>
          </a:prstGeom>
          <a:solidFill>
            <a:srgbClr val="EAF7FB"/>
          </a:solidFill>
          <a:ln cap="flat" cmpd="sng" w="12700">
            <a:solidFill>
              <a:srgbClr val="CFE9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6720840" y="4215384"/>
            <a:ext cx="3931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3B5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73B5E"/>
                </a:solidFill>
                <a:latin typeface="Arial"/>
                <a:ea typeface="Arial"/>
                <a:cs typeface="Arial"/>
                <a:sym typeface="Arial"/>
              </a:rPr>
              <a:t>Cloud Security 1: 3 / 6 tasks completed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502920" y="6510528"/>
            <a:ext cx="5943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B6B7A"/>
                </a:solidFill>
                <a:latin typeface="Arial"/>
                <a:ea typeface="Arial"/>
                <a:cs typeface="Arial"/>
                <a:sym typeface="Arial"/>
              </a:rPr>
              <a:t>Semester 4 · Week 3 · Sep 28 – Oct 1, 2026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11228832" y="647395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B6B7A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ae_official_transparent.png" id="146" name="Google Shape;14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5558" y="286388"/>
            <a:ext cx="829818" cy="2959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BFD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"/>
          <p:cNvSpPr/>
          <p:nvPr/>
        </p:nvSpPr>
        <p:spPr>
          <a:xfrm>
            <a:off x="548640" y="411480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Next Work: Fo</a:t>
            </a:r>
            <a:r>
              <a:rPr b="1" lang="en-US" sz="2800">
                <a:solidFill>
                  <a:srgbClr val="0A2540"/>
                </a:solidFill>
              </a:rPr>
              <a:t>r Thursday </a:t>
            </a:r>
            <a:r>
              <a:rPr b="1" i="0" lang="en-US" sz="2800" u="none" cap="none" strike="noStrike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Tasks 3, 5, and 6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566928" y="896112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250"/>
              <a:buFont typeface="Arial"/>
              <a:buNone/>
            </a:pPr>
            <a:r>
              <a:rPr b="0" i="0" lang="en-US" sz="1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Planned focus for the remaining Cloud Security 1 requirements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731520" y="1417320"/>
            <a:ext cx="3337560" cy="3611880"/>
          </a:xfrm>
          <a:prstGeom prst="roundRect">
            <a:avLst>
              <a:gd fmla="val 2740" name="adj"/>
            </a:avLst>
          </a:prstGeom>
          <a:solidFill>
            <a:srgbClr val="FFFFFF"/>
          </a:solidFill>
          <a:ln cap="flat" cmpd="sng" w="12700">
            <a:solidFill>
              <a:srgbClr val="DDEE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D0D9DD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896112" y="1581912"/>
            <a:ext cx="457200" cy="457200"/>
          </a:xfrm>
          <a:prstGeom prst="roundRect">
            <a:avLst>
              <a:gd fmla="val 16000" name="adj"/>
            </a:avLst>
          </a:prstGeom>
          <a:solidFill>
            <a:srgbClr val="F6A400"/>
          </a:solidFill>
          <a:ln cap="flat" cmpd="sng" w="12700">
            <a:solidFill>
              <a:srgbClr val="F6A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950976" y="1645920"/>
            <a:ext cx="34747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1481328" y="1581912"/>
            <a:ext cx="2423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400"/>
              <a:buFont typeface="Arial"/>
              <a:buNone/>
            </a:pPr>
            <a:r>
              <a:rPr b="1" i="0" lang="en-US" sz="1500" u="none" cap="none" strike="noStrike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Task 3</a:t>
            </a:r>
            <a:r>
              <a:rPr b="1" i="0" lang="en-US" sz="1400" u="none" cap="none" strike="noStrike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: I</a:t>
            </a:r>
            <a:r>
              <a:rPr b="1" i="0" lang="en-US" sz="1500" u="none" cap="none" strike="noStrike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nfrastructure &amp; Containers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1353303" y="1938528"/>
            <a:ext cx="2423100" cy="29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130"/>
              <a:buFont typeface="Arial"/>
              <a:buNone/>
            </a:pPr>
            <a:r>
              <a:rPr b="0" i="0" lang="en-US" sz="153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Finish Azure container deployment; harden cloud infrastructure; document secure Dockerfile, Docker settings, scanning results, and serverless IAM/network isolation.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4434840" y="1417320"/>
            <a:ext cx="3337560" cy="3611880"/>
          </a:xfrm>
          <a:prstGeom prst="roundRect">
            <a:avLst>
              <a:gd fmla="val 2740" name="adj"/>
            </a:avLst>
          </a:prstGeom>
          <a:solidFill>
            <a:srgbClr val="FFFFFF"/>
          </a:solidFill>
          <a:ln cap="flat" cmpd="sng" w="12700">
            <a:solidFill>
              <a:srgbClr val="DDEE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D0D9DD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4599432" y="1581912"/>
            <a:ext cx="457200" cy="457200"/>
          </a:xfrm>
          <a:prstGeom prst="roundRect">
            <a:avLst>
              <a:gd fmla="val 16000" name="adj"/>
            </a:avLst>
          </a:prstGeom>
          <a:solidFill>
            <a:srgbClr val="0A6EBD"/>
          </a:solidFill>
          <a:ln cap="flat" cmpd="sng" w="12700">
            <a:solidFill>
              <a:srgbClr val="0A6E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4654296" y="1645920"/>
            <a:ext cx="34747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5184648" y="1581912"/>
            <a:ext cx="2423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400"/>
              <a:buFont typeface="Arial"/>
              <a:buNone/>
            </a:pPr>
            <a:r>
              <a:rPr b="1" i="0" lang="en-US" sz="1500" u="none" cap="none" strike="noStrike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Task 5</a:t>
            </a:r>
            <a:r>
              <a:rPr b="1" i="0" lang="en-US" sz="1400" u="none" cap="none" strike="noStrike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i="0" lang="en-US" sz="1500" u="none" cap="none" strike="noStrike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Compliance &amp; Governance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5120611" y="1938528"/>
            <a:ext cx="2423100" cy="29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130"/>
              <a:buFont typeface="Arial"/>
              <a:buNone/>
            </a:pPr>
            <a:r>
              <a:rPr b="0" i="0" lang="en-US" sz="153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Map configurations to a framework such as CIS, NIST, HIPAA, or PCI DSS; build gap analysis and policy enforcement evidence.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8138160" y="1417320"/>
            <a:ext cx="3337560" cy="3611880"/>
          </a:xfrm>
          <a:prstGeom prst="roundRect">
            <a:avLst>
              <a:gd fmla="val 2740" name="adj"/>
            </a:avLst>
          </a:prstGeom>
          <a:solidFill>
            <a:srgbClr val="FFFFFF"/>
          </a:solidFill>
          <a:ln cap="flat" cmpd="sng" w="12700">
            <a:solidFill>
              <a:srgbClr val="DDEE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D0D9DD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8302752" y="1581912"/>
            <a:ext cx="457200" cy="457200"/>
          </a:xfrm>
          <a:prstGeom prst="roundRect">
            <a:avLst>
              <a:gd fmla="val 16000" name="adj"/>
            </a:avLst>
          </a:prstGeom>
          <a:solidFill>
            <a:srgbClr val="08AFC5"/>
          </a:solidFill>
          <a:ln cap="flat" cmpd="sng" w="12700">
            <a:solidFill>
              <a:srgbClr val="08AF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8357616" y="1645920"/>
            <a:ext cx="34747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8887968" y="1581912"/>
            <a:ext cx="2423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400"/>
              <a:buFont typeface="Arial"/>
              <a:buNone/>
            </a:pPr>
            <a:r>
              <a:rPr b="1" i="0" lang="en-US" sz="1500" u="none" cap="none" strike="noStrike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Task 6: SecOps &amp; IR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8686793" y="1965966"/>
            <a:ext cx="2423100" cy="29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130"/>
              <a:buFont typeface="Arial"/>
              <a:buNone/>
            </a:pPr>
            <a:r>
              <a:rPr b="0" i="0" lang="en-US" sz="153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Configure centralized logging, alerting, monitoring dashboards, and test an incident response playbook.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502920" y="6510528"/>
            <a:ext cx="5943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B6B7A"/>
                </a:solidFill>
                <a:latin typeface="Arial"/>
                <a:ea typeface="Arial"/>
                <a:cs typeface="Arial"/>
                <a:sym typeface="Arial"/>
              </a:rPr>
              <a:t>Semester 4 · Week 3 · Sep 28 – Oct 1, 2026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11228832" y="647395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B6B7A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ae_official_transparent.png" id="171" name="Google Shape;17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5558" y="286388"/>
            <a:ext cx="829818" cy="2959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"/>
          <p:cNvSpPr/>
          <p:nvPr/>
        </p:nvSpPr>
        <p:spPr>
          <a:xfrm>
            <a:off x="548640" y="411480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Capstone Direction + Lessons Learned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566928" y="896112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685800" y="1325880"/>
            <a:ext cx="3429000" cy="1417320"/>
          </a:xfrm>
          <a:prstGeom prst="roundRect">
            <a:avLst>
              <a:gd fmla="val 6452" name="adj"/>
            </a:avLst>
          </a:prstGeom>
          <a:solidFill>
            <a:srgbClr val="FFFFFF"/>
          </a:solidFill>
          <a:ln cap="flat" cmpd="sng" w="12700">
            <a:solidFill>
              <a:srgbClr val="DDEE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D0D9DD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850392" y="1490472"/>
            <a:ext cx="457200" cy="457200"/>
          </a:xfrm>
          <a:prstGeom prst="roundRect">
            <a:avLst>
              <a:gd fmla="val 16000" name="adj"/>
            </a:avLst>
          </a:prstGeom>
          <a:solidFill>
            <a:srgbClr val="0A6EBD"/>
          </a:solidFill>
          <a:ln cap="flat" cmpd="sng" w="12700">
            <a:solidFill>
              <a:srgbClr val="0A6E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905256" y="1554480"/>
            <a:ext cx="34747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1435608" y="1490472"/>
            <a:ext cx="2514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Authorization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1435608" y="1847088"/>
            <a:ext cx="2514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130"/>
              <a:buFont typeface="Arial"/>
              <a:buNone/>
            </a:pPr>
            <a:r>
              <a:rPr b="0" i="0" lang="en-US" sz="143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Continue defining access decisions for healthcare users, roles, and protected application resources.</a:t>
            </a:r>
            <a:endParaRPr b="0" i="0" sz="14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4389120" y="1325880"/>
            <a:ext cx="3429000" cy="1417320"/>
          </a:xfrm>
          <a:prstGeom prst="roundRect">
            <a:avLst>
              <a:gd fmla="val 6452" name="adj"/>
            </a:avLst>
          </a:prstGeom>
          <a:solidFill>
            <a:srgbClr val="FFFFFF"/>
          </a:solidFill>
          <a:ln cap="flat" cmpd="sng" w="12700">
            <a:solidFill>
              <a:srgbClr val="DDEE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D0D9DD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4553712" y="1490472"/>
            <a:ext cx="457200" cy="457200"/>
          </a:xfrm>
          <a:prstGeom prst="roundRect">
            <a:avLst>
              <a:gd fmla="val 16000" name="adj"/>
            </a:avLst>
          </a:prstGeom>
          <a:solidFill>
            <a:srgbClr val="08AFC5"/>
          </a:solidFill>
          <a:ln cap="flat" cmpd="sng" w="12700">
            <a:solidFill>
              <a:srgbClr val="08AF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4608576" y="1554480"/>
            <a:ext cx="34747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5138928" y="1490472"/>
            <a:ext cx="2514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Identity Lifecycle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5138928" y="1847088"/>
            <a:ext cx="2514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130"/>
              <a:buFont typeface="Arial"/>
              <a:buNone/>
            </a:pPr>
            <a:r>
              <a:rPr b="0" i="0" lang="en-US" sz="143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 on joiner, mover, and leaver concepts for safe user provisioning and deprovisioning.</a:t>
            </a:r>
            <a:endParaRPr b="0" i="0" sz="14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8092440" y="1325880"/>
            <a:ext cx="3429000" cy="1417320"/>
          </a:xfrm>
          <a:prstGeom prst="roundRect">
            <a:avLst>
              <a:gd fmla="val 6452" name="adj"/>
            </a:avLst>
          </a:prstGeom>
          <a:solidFill>
            <a:srgbClr val="FFFFFF"/>
          </a:solidFill>
          <a:ln cap="flat" cmpd="sng" w="12700">
            <a:solidFill>
              <a:srgbClr val="DDEE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D0D9DD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8257032" y="1490472"/>
            <a:ext cx="457200" cy="457200"/>
          </a:xfrm>
          <a:prstGeom prst="roundRect">
            <a:avLst>
              <a:gd fmla="val 16000" name="adj"/>
            </a:avLst>
          </a:prstGeom>
          <a:solidFill>
            <a:srgbClr val="0FB28A"/>
          </a:solidFill>
          <a:ln cap="flat" cmpd="sng" w="12700">
            <a:solidFill>
              <a:srgbClr val="0FB2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"/>
          <p:cNvSpPr/>
          <p:nvPr/>
        </p:nvSpPr>
        <p:spPr>
          <a:xfrm>
            <a:off x="8311896" y="1554480"/>
            <a:ext cx="34747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8842248" y="1490472"/>
            <a:ext cx="2514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Incident Response + GRC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8842250" y="1710025"/>
            <a:ext cx="25146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130"/>
              <a:buFont typeface="Arial"/>
              <a:buNone/>
            </a:pPr>
            <a:r>
              <a:rPr b="0" i="0" lang="en-US" sz="143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Simulate incident response, then extend into governance, risk, and compliance concepts.</a:t>
            </a:r>
            <a:endParaRPr b="0" i="0" sz="14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777250" y="3136501"/>
            <a:ext cx="10744200" cy="1709700"/>
          </a:xfrm>
          <a:prstGeom prst="roundRect">
            <a:avLst>
              <a:gd fmla="val 6061" name="adj"/>
            </a:avLst>
          </a:prstGeom>
          <a:solidFill>
            <a:srgbClr val="F2FAFC"/>
          </a:solidFill>
          <a:ln cap="flat" cmpd="sng" w="12700">
            <a:solidFill>
              <a:srgbClr val="D3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1051560" y="3611880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What I learned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3429000" y="3547872"/>
            <a:ext cx="75438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280"/>
              <a:buFont typeface="Arial"/>
              <a:buNone/>
            </a:pPr>
            <a:r>
              <a:rPr b="0" i="0" lang="en-US" sz="1280" u="none" cap="none" strike="noStrike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0" i="0" lang="en-US" sz="14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Azure resource groups and cloud networking are the foundation for secure deployments</a:t>
            </a:r>
            <a:br>
              <a:rPr b="0" i="0" lang="en-US" sz="14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280"/>
              <a:buFont typeface="Arial"/>
              <a:buNone/>
            </a:pPr>
            <a:r>
              <a:rPr b="0" i="0" lang="en-US" sz="14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Entra ID and federation concepts are central to IAM in healthcare applications</a:t>
            </a:r>
            <a:br>
              <a:rPr b="0" i="0" lang="en-US" sz="14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280"/>
              <a:buFont typeface="Arial"/>
              <a:buNone/>
            </a:pPr>
            <a:r>
              <a:rPr b="0" i="0" lang="en-US" sz="14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Deployment failures are part of learning cloud configuration and troubleshooting</a:t>
            </a:r>
            <a:br>
              <a:rPr b="0" i="0" lang="en-US" sz="14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280"/>
              <a:buFont typeface="Arial"/>
              <a:buNone/>
            </a:pPr>
            <a:r>
              <a:rPr b="0" i="0" lang="en-US" sz="14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IAM and GRC controls must be documented clearly with evidence</a:t>
            </a:r>
            <a:endParaRPr b="0" i="0" sz="1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502920" y="6510528"/>
            <a:ext cx="5943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B6B7A"/>
                </a:solidFill>
                <a:latin typeface="Arial"/>
                <a:ea typeface="Arial"/>
                <a:cs typeface="Arial"/>
                <a:sym typeface="Arial"/>
              </a:rPr>
              <a:t>Semester 4 · Week 3 · Sep 28 – Oct 1, 2026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11228832" y="647395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B6B7A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ae_official_transparent.png" id="199" name="Google Shape;19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5558" y="286388"/>
            <a:ext cx="829818" cy="2959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5FF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wide_cinematic_scene_of_a_modern_high_tech_healthc_batch_1.png" id="205" name="Google Shape;20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3640" y="1859398"/>
            <a:ext cx="5577840" cy="3139203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8"/>
          <p:cNvSpPr/>
          <p:nvPr/>
        </p:nvSpPr>
        <p:spPr>
          <a:xfrm>
            <a:off x="685800" y="1874520"/>
            <a:ext cx="5166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A5A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23A5A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713232" y="2816352"/>
            <a:ext cx="53035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6784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Thanking my peers, educators, and the DAE Team for their relentless support and encouragement.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713232" y="3703320"/>
            <a:ext cx="5257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678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Looking forward to learning deeper concepts and building wider reach in IAM and GRC.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713232" y="4617720"/>
            <a:ext cx="4251960" cy="411480"/>
          </a:xfrm>
          <a:prstGeom prst="roundRect">
            <a:avLst>
              <a:gd fmla="val 17778" name="adj"/>
            </a:avLst>
          </a:prstGeom>
          <a:solidFill>
            <a:srgbClr val="24B8CF"/>
          </a:solidFill>
          <a:ln cap="flat" cmpd="sng" w="12700">
            <a:solidFill>
              <a:srgbClr val="08AF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786384" y="4713732"/>
            <a:ext cx="410565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Care Access Navigator · HRMC Capstone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ae_official_transparent.png" id="211" name="Google Shape;21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0304" y="805161"/>
            <a:ext cx="1176832" cy="4196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2026-10-01T13:41:01Z</dcterms:created>
  <dc:creator>OpenAI</dc:creator>
</cp:coreProperties>
</file>