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iUq1my0j6yy2eSu41sBE1kkSeS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refx/ppt/media/image-1-2.jpg" id="12" name="Google Shape;1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411480"/>
            <a:ext cx="1051560" cy="612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">
  <p:cSld name="BODY">
    <p:bg>
      <p:bgPr>
        <a:solidFill>
          <a:srgbClr val="FFFFFF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refx/ppt/media/image-1-2.jpg" id="14" name="Google Shape;14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44200" y="228600"/>
            <a:ext cx="1051560" cy="61264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8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F8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rPr>
              <a:t>Care Access Navigator  |  Semester 5  |  Week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"/>
          <p:cNvSpPr txBox="1"/>
          <p:nvPr/>
        </p:nvSpPr>
        <p:spPr>
          <a:xfrm>
            <a:off x="548640" y="1554480"/>
            <a:ext cx="5669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F59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163F59"/>
                </a:solidFill>
                <a:latin typeface="Cambria"/>
                <a:ea typeface="Cambria"/>
                <a:cs typeface="Cambria"/>
                <a:sym typeface="Cambria"/>
              </a:rPr>
              <a:t>Care Access Navigator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548640" y="29260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for Healthline Regional Medical Center (HRMC)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 txBox="1"/>
          <p:nvPr/>
        </p:nvSpPr>
        <p:spPr>
          <a:xfrm>
            <a:off x="548640" y="35661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6B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FA6B5"/>
                </a:solidFill>
                <a:latin typeface="Calibri"/>
                <a:ea typeface="Calibri"/>
                <a:cs typeface="Calibri"/>
                <a:sym typeface="Calibri"/>
              </a:rPr>
              <a:t>Semester 5  |  Week 1 Status Update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548640" y="4114800"/>
            <a:ext cx="5486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Overall Capstone: Week 9 of 12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14B5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Compliance 1  |  Incident Response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14B5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IAM and GRC Analyst: Akhila Ch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14B5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October 12-15, 2026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 txBox="1"/>
          <p:nvPr/>
        </p:nvSpPr>
        <p:spPr>
          <a:xfrm>
            <a:off x="548640" y="36576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F59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3F59"/>
                </a:solidFill>
                <a:latin typeface="Cambria"/>
                <a:ea typeface="Cambria"/>
                <a:cs typeface="Cambria"/>
                <a:sym typeface="Cambria"/>
              </a:rPr>
              <a:t>Day by Day: Monday and Tuesday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48640" y="1325880"/>
            <a:ext cx="5440680" cy="4846320"/>
          </a:xfrm>
          <a:prstGeom prst="roundRect">
            <a:avLst>
              <a:gd fmla="val 1887" name="adj"/>
            </a:avLst>
          </a:prstGeom>
          <a:solidFill>
            <a:srgbClr val="EEF6F9"/>
          </a:solidFill>
          <a:ln cap="flat" cmpd="sng" w="12700">
            <a:solidFill>
              <a:srgbClr val="CF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rgbClr val="0FA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 txBox="1"/>
          <p:nvPr/>
        </p:nvSpPr>
        <p:spPr>
          <a:xfrm>
            <a:off x="731520" y="14630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 txBox="1"/>
          <p:nvPr/>
        </p:nvSpPr>
        <p:spPr>
          <a:xfrm>
            <a:off x="1417320" y="1463040"/>
            <a:ext cx="4389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F59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63F59"/>
                </a:solidFill>
                <a:latin typeface="Calibri"/>
                <a:ea typeface="Calibri"/>
                <a:cs typeface="Calibri"/>
                <a:sym typeface="Calibri"/>
              </a:rPr>
              <a:t>Semester kickoff + JML start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777240" y="2148840"/>
            <a:ext cx="49834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6B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A6B5"/>
                </a:solidFill>
                <a:latin typeface="Calibri"/>
                <a:ea typeface="Calibri"/>
                <a:cs typeface="Calibri"/>
                <a:sym typeface="Calibri"/>
              </a:rPr>
              <a:t>DONE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Mapped Compliance 1 (Fundamentals, Program Dev., Auditing, Documentation, Legal &amp; Ethical) and IR 1 (Setup, Detection, Containment, Evidence, IR Docs, Post-Incident) into the project; updated Monday.com; set 360 goals; started JML.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0FA6B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A6B5"/>
                </a:solidFill>
                <a:latin typeface="Calibri"/>
                <a:ea typeface="Calibri"/>
                <a:cs typeface="Calibri"/>
                <a:sym typeface="Calibri"/>
              </a:rPr>
              <a:t>LEARNT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Compliance needs ownership, evidence and repeatable procedures.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0FA6B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A6B5"/>
                </a:solidFill>
                <a:latin typeface="Calibri"/>
                <a:ea typeface="Calibri"/>
                <a:cs typeface="Calibri"/>
                <a:sym typeface="Calibri"/>
              </a:rPr>
              <a:t>CHALLENGE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Turning 11 rubric criteria into tasks without duplicates.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0FA6B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A6B5"/>
                </a:solidFill>
                <a:latin typeface="Calibri"/>
                <a:ea typeface="Calibri"/>
                <a:cs typeface="Calibri"/>
                <a:sym typeface="Calibri"/>
              </a:rPr>
              <a:t>HOW SOLVED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Crosswalk: criterion, activity, evidence, Monday.com task.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731520" y="5440680"/>
            <a:ext cx="5074920" cy="59436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2700">
            <a:solidFill>
              <a:srgbClr val="CF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 txBox="1"/>
          <p:nvPr/>
        </p:nvSpPr>
        <p:spPr>
          <a:xfrm>
            <a:off x="868680" y="5440680"/>
            <a:ext cx="4800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F5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63F59"/>
                </a:solidFill>
                <a:latin typeface="Calibri"/>
                <a:ea typeface="Calibri"/>
                <a:cs typeface="Calibri"/>
                <a:sym typeface="Calibri"/>
              </a:rPr>
              <a:t>NEXT  </a:t>
            </a:r>
            <a:r>
              <a:rPr b="0" i="0" lang="en-US" sz="14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Continue JML and Compliance Fundamentals documentation.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199632" y="1325880"/>
            <a:ext cx="5440680" cy="4846320"/>
          </a:xfrm>
          <a:prstGeom prst="roundRect">
            <a:avLst>
              <a:gd fmla="val 1887" name="adj"/>
            </a:avLst>
          </a:prstGeom>
          <a:solidFill>
            <a:srgbClr val="EEF6F9"/>
          </a:solidFill>
          <a:ln cap="flat" cmpd="sng" w="12700">
            <a:solidFill>
              <a:srgbClr val="CF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6382512" y="1463040"/>
            <a:ext cx="548640" cy="548640"/>
          </a:xfrm>
          <a:prstGeom prst="ellipse">
            <a:avLst/>
          </a:prstGeom>
          <a:solidFill>
            <a:srgbClr val="22A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 txBox="1"/>
          <p:nvPr/>
        </p:nvSpPr>
        <p:spPr>
          <a:xfrm>
            <a:off x="6382512" y="14630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7068312" y="1463040"/>
            <a:ext cx="4389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F59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63F59"/>
                </a:solidFill>
                <a:latin typeface="Calibri"/>
                <a:ea typeface="Calibri"/>
                <a:cs typeface="Calibri"/>
                <a:sym typeface="Calibri"/>
              </a:rPr>
              <a:t>Compliance tasks + JML / privilege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6428232" y="2148840"/>
            <a:ext cx="49834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A87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A87A"/>
                </a:solidFill>
                <a:latin typeface="Calibri"/>
                <a:ea typeface="Calibri"/>
                <a:cs typeface="Calibri"/>
                <a:sym typeface="Calibri"/>
              </a:rPr>
              <a:t>DONE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Compliance Fundamentals tasks (frameworks, controls); Read</a:t>
            </a:r>
            <a:r>
              <a:rPr lang="en-US" sz="1500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ing and trying to understand</a:t>
            </a:r>
            <a:r>
              <a:rPr b="0" i="0" lang="en-US" sz="15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 JML scenarios and privileged-access settings with evidence captured.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22A87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A87A"/>
                </a:solidFill>
                <a:latin typeface="Calibri"/>
                <a:ea typeface="Calibri"/>
                <a:cs typeface="Calibri"/>
                <a:sym typeface="Calibri"/>
              </a:rPr>
              <a:t>LEARNT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Access controls become compliance evidence when documented and tied to a requirement.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22A87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A87A"/>
                </a:solidFill>
                <a:latin typeface="Calibri"/>
                <a:ea typeface="Calibri"/>
                <a:cs typeface="Calibri"/>
                <a:sym typeface="Calibri"/>
              </a:rPr>
              <a:t>CHALLENGE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Hands-on IAM work plus enough documentation.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22A87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A87A"/>
                </a:solidFill>
                <a:latin typeface="Calibri"/>
                <a:ea typeface="Calibri"/>
                <a:cs typeface="Calibri"/>
                <a:sym typeface="Calibri"/>
              </a:rPr>
              <a:t>HOW SOLVED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Captured screenshots, checklists and notes while working.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382512" y="5440680"/>
            <a:ext cx="5074920" cy="59436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2700">
            <a:solidFill>
              <a:srgbClr val="CF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 txBox="1"/>
          <p:nvPr/>
        </p:nvSpPr>
        <p:spPr>
          <a:xfrm>
            <a:off x="6519672" y="5440680"/>
            <a:ext cx="4800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F5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63F59"/>
                </a:solidFill>
                <a:latin typeface="Calibri"/>
                <a:ea typeface="Calibri"/>
                <a:cs typeface="Calibri"/>
                <a:sym typeface="Calibri"/>
              </a:rPr>
              <a:t>NEXT  </a:t>
            </a:r>
            <a:r>
              <a:rPr b="0" i="0" lang="en-US" sz="14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Finish lifecycle scenarios; start evidence matrix (Compliance Auditing Basics).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 txBox="1"/>
          <p:nvPr>
            <p:ph idx="4294967295" type="sldNum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67F8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 txBox="1"/>
          <p:nvPr/>
        </p:nvSpPr>
        <p:spPr>
          <a:xfrm>
            <a:off x="548640" y="36576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F59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3F59"/>
                </a:solidFill>
                <a:latin typeface="Cambria"/>
                <a:ea typeface="Cambria"/>
                <a:cs typeface="Cambria"/>
                <a:sym typeface="Cambria"/>
              </a:rPr>
              <a:t>Day by Day: Wednesday and Thursday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548640" y="1325880"/>
            <a:ext cx="5440680" cy="4846320"/>
          </a:xfrm>
          <a:prstGeom prst="roundRect">
            <a:avLst>
              <a:gd fmla="val 1887" name="adj"/>
            </a:avLst>
          </a:prstGeom>
          <a:solidFill>
            <a:srgbClr val="EEF6F9"/>
          </a:solidFill>
          <a:ln cap="flat" cmpd="sng" w="12700">
            <a:solidFill>
              <a:srgbClr val="CF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rgbClr val="D645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 txBox="1"/>
          <p:nvPr/>
        </p:nvSpPr>
        <p:spPr>
          <a:xfrm>
            <a:off x="731520" y="14630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 txBox="1"/>
          <p:nvPr/>
        </p:nvSpPr>
        <p:spPr>
          <a:xfrm>
            <a:off x="1417320" y="1463040"/>
            <a:ext cx="4389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F59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63F59"/>
                </a:solidFill>
                <a:latin typeface="Calibri"/>
                <a:ea typeface="Calibri"/>
                <a:cs typeface="Calibri"/>
                <a:sym typeface="Calibri"/>
              </a:rPr>
              <a:t>First Incident Response activity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 txBox="1"/>
          <p:nvPr/>
        </p:nvSpPr>
        <p:spPr>
          <a:xfrm>
            <a:off x="777240" y="2148840"/>
            <a:ext cx="49834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5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64550"/>
                </a:solidFill>
                <a:latin typeface="Calibri"/>
                <a:ea typeface="Calibri"/>
                <a:cs typeface="Calibri"/>
                <a:sym typeface="Calibri"/>
              </a:rPr>
              <a:t>DONE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Took part in the first IR 1 activity; reviewed the IR flow; listed capstone scenarios for Incident Detection &amp; Analysis (suspicious/failed logins, privilege escalation).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D645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64550"/>
                </a:solidFill>
                <a:latin typeface="Calibri"/>
                <a:ea typeface="Calibri"/>
                <a:cs typeface="Calibri"/>
                <a:sym typeface="Calibri"/>
              </a:rPr>
              <a:t>LEARNT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IR is structured: timeline, evidence integrity, containment, recovery.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D645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64550"/>
                </a:solidFill>
                <a:latin typeface="Calibri"/>
                <a:ea typeface="Calibri"/>
                <a:cs typeface="Calibri"/>
                <a:sym typeface="Calibri"/>
              </a:rPr>
              <a:t>CHALLENGE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New IR tools while keeping capstone scope realistic.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D645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64550"/>
                </a:solidFill>
                <a:latin typeface="Calibri"/>
                <a:ea typeface="Calibri"/>
                <a:cs typeface="Calibri"/>
                <a:sym typeface="Calibri"/>
              </a:rPr>
              <a:t>HOW SOLVED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Kept lab learning separate; link it via simulated identity events.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731520" y="5440680"/>
            <a:ext cx="5074920" cy="59436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2700">
            <a:solidFill>
              <a:srgbClr val="CF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 txBox="1"/>
          <p:nvPr/>
        </p:nvSpPr>
        <p:spPr>
          <a:xfrm>
            <a:off x="868680" y="5440680"/>
            <a:ext cx="4800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F5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63F59"/>
                </a:solidFill>
                <a:latin typeface="Calibri"/>
                <a:ea typeface="Calibri"/>
                <a:cs typeface="Calibri"/>
                <a:sym typeface="Calibri"/>
              </a:rPr>
              <a:t>NEXT  </a:t>
            </a:r>
            <a:r>
              <a:rPr b="0" i="0" lang="en-US" sz="14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Design the first identity incident response (Incident Response &amp; Containment).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6199632" y="1325880"/>
            <a:ext cx="5440680" cy="4846320"/>
          </a:xfrm>
          <a:prstGeom prst="roundRect">
            <a:avLst>
              <a:gd fmla="val 1887" name="adj"/>
            </a:avLst>
          </a:prstGeom>
          <a:solidFill>
            <a:srgbClr val="EEF6F9"/>
          </a:solidFill>
          <a:ln cap="flat" cmpd="sng" w="12700">
            <a:solidFill>
              <a:srgbClr val="CF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6382512" y="1463040"/>
            <a:ext cx="548640" cy="548640"/>
          </a:xfrm>
          <a:prstGeom prst="ellipse">
            <a:avLst/>
          </a:prstGeom>
          <a:solidFill>
            <a:srgbClr val="7B4F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 txBox="1"/>
          <p:nvPr/>
        </p:nvSpPr>
        <p:spPr>
          <a:xfrm>
            <a:off x="6382512" y="14630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 txBox="1"/>
          <p:nvPr/>
        </p:nvSpPr>
        <p:spPr>
          <a:xfrm>
            <a:off x="7068312" y="1463040"/>
            <a:ext cx="4389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F59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63F59"/>
                </a:solidFill>
                <a:latin typeface="Calibri"/>
                <a:ea typeface="Calibri"/>
                <a:cs typeface="Calibri"/>
                <a:sym typeface="Calibri"/>
              </a:rPr>
              <a:t>What I learnt this week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6428232" y="2148840"/>
            <a:ext cx="49834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4FA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B4FA3"/>
                </a:solidFill>
                <a:latin typeface="Calibri"/>
                <a:ea typeface="Calibri"/>
                <a:cs typeface="Calibri"/>
                <a:sym typeface="Calibri"/>
              </a:rPr>
              <a:t>COMPLIANCE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Compliance needs owners, evidence and repeatable steps; controls count only when tied to HIPAA or NIST.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7B4FA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B4FA3"/>
                </a:solidFill>
                <a:latin typeface="Calibri"/>
                <a:ea typeface="Calibri"/>
                <a:cs typeface="Calibri"/>
                <a:sym typeface="Calibri"/>
              </a:rPr>
              <a:t>INCIDENT RESPONSE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IR follows a set flow: detect, analyze, contain, preserve evidence, recover, with a clear timeline.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7B4FA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B4FA3"/>
                </a:solidFill>
                <a:latin typeface="Calibri"/>
                <a:ea typeface="Calibri"/>
                <a:cs typeface="Calibri"/>
                <a:sym typeface="Calibri"/>
              </a:rPr>
              <a:t>IAM (JML + PRIVILEGED ACCESS)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Every joiner, mover, leaver or privilege change needs approval and proof.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7B4FA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B4FA3"/>
                </a:solidFill>
                <a:latin typeface="Calibri"/>
                <a:ea typeface="Calibri"/>
                <a:cs typeface="Calibri"/>
                <a:sym typeface="Calibri"/>
              </a:rPr>
              <a:t>CAPSTONE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A rubric crosswalk (criterion, activity, evidence, task) prevents duplicate work.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382512" y="5440680"/>
            <a:ext cx="5074920" cy="59436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2700">
            <a:solidFill>
              <a:srgbClr val="CF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 txBox="1"/>
          <p:nvPr/>
        </p:nvSpPr>
        <p:spPr>
          <a:xfrm>
            <a:off x="6519672" y="5440680"/>
            <a:ext cx="4800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F5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63F59"/>
                </a:solidFill>
                <a:latin typeface="Calibri"/>
                <a:ea typeface="Calibri"/>
                <a:cs typeface="Calibri"/>
                <a:sym typeface="Calibri"/>
              </a:rPr>
              <a:t>NEXT  </a:t>
            </a:r>
            <a:r>
              <a:rPr b="0" i="0" lang="en-US" sz="14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Turn these into JML evidence and the first identity IR playbook.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 txBox="1"/>
          <p:nvPr>
            <p:ph idx="4294967295" type="sldNum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67F8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F59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3F59"/>
                </a:solidFill>
                <a:latin typeface="Cambria"/>
                <a:ea typeface="Cambria"/>
                <a:cs typeface="Cambria"/>
                <a:sym typeface="Cambria"/>
              </a:rPr>
              <a:t>What Next?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548640" y="1325880"/>
            <a:ext cx="3566160" cy="3657600"/>
          </a:xfrm>
          <a:prstGeom prst="roundRect">
            <a:avLst>
              <a:gd fmla="val 2564" name="adj"/>
            </a:avLst>
          </a:prstGeom>
          <a:solidFill>
            <a:srgbClr val="EEF6F9"/>
          </a:solidFill>
          <a:ln cap="flat" cmpd="sng" w="12700">
            <a:solidFill>
              <a:srgbClr val="CF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 txBox="1"/>
          <p:nvPr/>
        </p:nvSpPr>
        <p:spPr>
          <a:xfrm>
            <a:off x="777240" y="150876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6B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FA6B5"/>
                </a:solidFill>
                <a:latin typeface="Calibri"/>
                <a:ea typeface="Calibri"/>
                <a:cs typeface="Calibri"/>
                <a:sym typeface="Calibri"/>
              </a:rPr>
              <a:t>Compliance 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 txBox="1"/>
          <p:nvPr/>
        </p:nvSpPr>
        <p:spPr>
          <a:xfrm>
            <a:off x="777240" y="2103120"/>
            <a:ext cx="31089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600"/>
              <a:buFont typeface="Calibri"/>
              <a:buChar char="•"/>
            </a:pPr>
            <a:r>
              <a:rPr b="1" i="0" lang="en-US" sz="16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Compliance Fundamentals: </a:t>
            </a:r>
            <a:r>
              <a:rPr b="0" i="0" lang="en-US" sz="16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requirements analysis using HIPAA + NIST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314B5A"/>
              </a:buClr>
              <a:buSzPts val="1600"/>
              <a:buFont typeface="Calibri"/>
              <a:buChar char="•"/>
            </a:pPr>
            <a:r>
              <a:rPr b="1" i="0" lang="en-US" sz="16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Program Development: </a:t>
            </a:r>
            <a:r>
              <a:rPr b="0" i="0" lang="en-US" sz="16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governance model, roles and timeline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314B5A"/>
              </a:buClr>
              <a:buSzPts val="1600"/>
              <a:buFont typeface="Calibri"/>
              <a:buChar char="•"/>
            </a:pPr>
            <a:r>
              <a:rPr b="1" i="0" lang="en-US" sz="16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Auditing Basics: </a:t>
            </a:r>
            <a:r>
              <a:rPr b="0" i="0" lang="en-US" sz="16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audit plan and evidence for three controls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325112" y="1325880"/>
            <a:ext cx="3566160" cy="3657600"/>
          </a:xfrm>
          <a:prstGeom prst="roundRect">
            <a:avLst>
              <a:gd fmla="val 2564" name="adj"/>
            </a:avLst>
          </a:prstGeom>
          <a:solidFill>
            <a:srgbClr val="EEF6F9"/>
          </a:solidFill>
          <a:ln cap="flat" cmpd="sng" w="12700">
            <a:solidFill>
              <a:srgbClr val="CF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 txBox="1"/>
          <p:nvPr/>
        </p:nvSpPr>
        <p:spPr>
          <a:xfrm>
            <a:off x="4553712" y="150876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55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D64550"/>
                </a:solidFill>
                <a:latin typeface="Calibri"/>
                <a:ea typeface="Calibri"/>
                <a:cs typeface="Calibri"/>
                <a:sym typeface="Calibri"/>
              </a:rPr>
              <a:t>Incident Response 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 txBox="1"/>
          <p:nvPr/>
        </p:nvSpPr>
        <p:spPr>
          <a:xfrm>
            <a:off x="4553712" y="2103120"/>
            <a:ext cx="31089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600"/>
              <a:buFont typeface="Calibri"/>
              <a:buChar char="•"/>
            </a:pPr>
            <a:r>
              <a:rPr b="1" i="0" lang="en-US" sz="16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IR Environment Setup: </a:t>
            </a:r>
            <a:r>
              <a:rPr b="0" i="0" lang="en-US" sz="16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Wazuh, Wireshark and Volatility labs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314B5A"/>
              </a:buClr>
              <a:buSzPts val="1600"/>
              <a:buFont typeface="Calibri"/>
              <a:buChar char="•"/>
            </a:pPr>
            <a:r>
              <a:rPr b="1" i="0" lang="en-US" sz="16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Detection &amp; Containment: </a:t>
            </a:r>
            <a:r>
              <a:rPr b="0" i="0" lang="en-US" sz="16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practice detection, containment and recovery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314B5A"/>
              </a:buClr>
              <a:buSzPts val="1600"/>
              <a:buFont typeface="Calibri"/>
              <a:buChar char="•"/>
            </a:pPr>
            <a:r>
              <a:rPr b="1" i="0" lang="en-US" sz="16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IR Documentation &amp; Reporting: </a:t>
            </a:r>
            <a:r>
              <a:rPr b="0" i="0" lang="en-US" sz="16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playbook for a simulated access event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8101584" y="1325880"/>
            <a:ext cx="3566160" cy="3657600"/>
          </a:xfrm>
          <a:prstGeom prst="roundRect">
            <a:avLst>
              <a:gd fmla="val 2564" name="adj"/>
            </a:avLst>
          </a:prstGeom>
          <a:solidFill>
            <a:srgbClr val="EEF6F9"/>
          </a:solidFill>
          <a:ln cap="flat" cmpd="sng" w="12700">
            <a:solidFill>
              <a:srgbClr val="CF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 txBox="1"/>
          <p:nvPr/>
        </p:nvSpPr>
        <p:spPr>
          <a:xfrm>
            <a:off x="8330184" y="150876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A87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2A87A"/>
                </a:solidFill>
                <a:latin typeface="Calibri"/>
                <a:ea typeface="Calibri"/>
                <a:cs typeface="Calibri"/>
                <a:sym typeface="Calibri"/>
              </a:rPr>
              <a:t>Care Access Navigator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 txBox="1"/>
          <p:nvPr/>
        </p:nvSpPr>
        <p:spPr>
          <a:xfrm>
            <a:off x="8330184" y="2103120"/>
            <a:ext cx="31089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Complete JML flow and privileged-access testing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314B5A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Continue access reviews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314B5A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Keep evidence and Monday.com deliverables organized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fmla="val 11765" name="adj"/>
            </a:avLst>
          </a:prstGeom>
          <a:solidFill>
            <a:srgbClr val="163F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 txBox="1"/>
          <p:nvPr/>
        </p:nvSpPr>
        <p:spPr>
          <a:xfrm>
            <a:off x="777240" y="5257800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 update target: JML flow + privileged-access test + first Auditing Basics and IR Environment Setup evidence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 txBox="1"/>
          <p:nvPr>
            <p:ph idx="4294967295" type="sldNum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67F8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 txBox="1"/>
          <p:nvPr/>
        </p:nvSpPr>
        <p:spPr>
          <a:xfrm>
            <a:off x="548640" y="173736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F59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163F59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 txBox="1"/>
          <p:nvPr/>
        </p:nvSpPr>
        <p:spPr>
          <a:xfrm>
            <a:off x="548640" y="2834640"/>
            <a:ext cx="5303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Thank you to my peers, educators, and the DAE team for the continued guidance and support.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 txBox="1"/>
          <p:nvPr/>
        </p:nvSpPr>
        <p:spPr>
          <a:xfrm>
            <a:off x="548640" y="3840480"/>
            <a:ext cx="5303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6B5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FA6B5"/>
                </a:solidFill>
                <a:latin typeface="Calibri"/>
                <a:ea typeface="Calibri"/>
                <a:cs typeface="Calibri"/>
                <a:sym typeface="Calibri"/>
              </a:rPr>
              <a:t>Next: turn coursework into documented, testable capstone evidence.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2026-10-15T12:37:25Z</dcterms:created>
  <dc:creator>PptxGenJS</dc:creator>
</cp:coreProperties>
</file>