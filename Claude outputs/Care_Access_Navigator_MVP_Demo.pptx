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95c8670-8cc8-5a71-ba8e-39933b18f35c}">
          <p14:sldIdLst>
            <p14:sldId id="256"/>
          </p14:sldIdLst>
        </p14:section>
        <p14:section name="Introduction" id="{94eceb5d-3036-63af-3e7e-846461572297}">
          <p14:sldIdLst>
            <p14:sldId id="257"/>
          </p14:sldIdLst>
        </p14:section>
        <p14:section name="Problem &amp; MVP" id="{942eafe1-2bf1-e876-3804-73c5b8ac7e55}">
          <p14:sldIdLst>
            <p14:sldId id="258"/>
          </p14:sldIdLst>
        </p14:section>
        <p14:section name="Architecture" id="{a8eb93b7-1e47-d3b7-988c-e7331d9774f8}">
          <p14:sldIdLst>
            <p14:sldId id="259"/>
          </p14:sldIdLst>
        </p14:section>
        <p14:section name="Cloud foundation" id="{52bfab89-4771-7a3e-1dfc-ac8ea8ea1477}">
          <p14:sldIdLst>
            <p14:sldId id="260"/>
          </p14:sldIdLst>
        </p14:section>
        <p14:section name="Federation &amp; RBAC" id="{6827b886-f904-667e-ec70-05ba0a3aafe2}">
          <p14:sldIdLst>
            <p14:sldId id="261"/>
          </p14:sldIdLst>
        </p14:section>
        <p14:section name="JML Lifecycle" id="{3d58ff4c-dca0-9ffd-3f4a-902e66cb1620}">
          <p14:sldIdLst>
            <p14:sldId id="262"/>
          </p14:sldIdLst>
        </p14:section>
        <p14:section name="Detect &amp; Respond" id="{c4723c73-5fc6-da86-adb8-ea669ca5c19f}">
          <p14:sldIdLst>
            <p14:sldId id="263"/>
            <p14:sldId id="264"/>
          </p14:sldIdLst>
        </p14:section>
        <p14:section name="Govern &amp; Report" id="{886c26e2-ce2d-ac16-3ed5-396fadc61054}">
          <p14:sldIdLst>
            <p14:sldId id="265"/>
            <p14:sldId id="266"/>
          </p14:sldIdLst>
        </p14:section>
        <p14:section name="Close" id="{2ce30237-04bc-7662-742f-1f2372fc8ad5}">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A6B85"/>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R01 Excess privileges</c:v>
                  </c:pt>
                  <c:pt idx="1">
                    <c:v>R02 Leaver active</c:v>
                  </c:pt>
                  <c:pt idx="2">
                    <c:v>R03 Credentials</c:v>
                  </c:pt>
                  <c:pt idx="3">
                    <c:v>R04 Privileged misuse</c:v>
                  </c:pt>
                  <c:pt idx="4">
                    <c:v>R05 Expired vendor</c:v>
                  </c:pt>
                </c:lvl>
              </c:multiLvlStrCache>
            </c:multiLvlStrRef>
          </c:cat>
          <c:val>
            <c:numRef>
              <c:f>Sheet1!$B$2:$B$6</c:f>
              <c:numCache>
                <c:formatCode>General</c:formatCode>
                <c:ptCount val="5"/>
                <c:pt idx="0">
                  <c:v>20</c:v>
                </c:pt>
                <c:pt idx="1">
                  <c:v>15</c:v>
                </c:pt>
                <c:pt idx="2">
                  <c:v>20</c:v>
                </c:pt>
                <c:pt idx="3">
                  <c:v>15</c:v>
                </c:pt>
                <c:pt idx="4">
                  <c:v>12</c:v>
                </c:pt>
              </c:numCache>
            </c:numRef>
          </c:val>
        </c:ser>
        <c:ser>
          <c:idx val="1"/>
          <c:order val="1"/>
          <c:tx>
            <c:strRef>
              <c:f>Sheet1!$C$1</c:f>
              <c:strCache>
                <c:ptCount val="1"/>
                <c:pt idx="0">
                  <c:v>After controls</c:v>
                </c:pt>
              </c:strCache>
            </c:strRef>
          </c:tx>
          <c:spPr>
            <a:solidFill>
              <a:srgbClr val="2E6FB7"/>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R01 Excess privileges</c:v>
                  </c:pt>
                  <c:pt idx="1">
                    <c:v>R02 Leaver active</c:v>
                  </c:pt>
                  <c:pt idx="2">
                    <c:v>R03 Credentials</c:v>
                  </c:pt>
                  <c:pt idx="3">
                    <c:v>R04 Privileged misuse</c:v>
                  </c:pt>
                  <c:pt idx="4">
                    <c:v>R05 Expired vendor</c:v>
                  </c:pt>
                </c:lvl>
              </c:multiLvlStrCache>
            </c:multiLvlStrRef>
          </c:cat>
          <c:val>
            <c:numRef>
              <c:f>Sheet1!$C$2:$C$6</c:f>
              <c:numCache>
                <c:formatCode>General</c:formatCode>
                <c:ptCount val="5"/>
                <c:pt idx="0">
                  <c:v>10</c:v>
                </c:pt>
                <c:pt idx="1">
                  <c:v>5</c:v>
                </c:pt>
                <c:pt idx="2">
                  <c:v>10</c:v>
                </c:pt>
                <c:pt idx="3">
                  <c:v>10</c:v>
                </c:pt>
                <c:pt idx="4">
                  <c:v>4</c:v>
                </c:pt>
              </c:numCache>
            </c:numRef>
          </c:val>
        </c:ser>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A"/>
                </a:solidFill>
                <a:latin typeface="Arial"/>
              </a:defRPr>
            </a:pPr>
            <a:r>
              <a:rPr sz="1200" b="0" i="0" u="none" strike="noStrike">
                <a:solidFill>
                  <a:srgbClr val="1B2A4A"/>
                </a:solidFill>
                <a:latin typeface="Arial"/>
              </a:rPr>
              <a:t>14 control tests</a:t>
            </a:r>
          </a:p>
        </c:rich>
      </c:tx>
      <c:layout/>
      <c:overlay val="0"/>
    </c:title>
    <c:autoTitleDeleted val="0"/>
    <c:plotArea>
      <c:layout/>
      <c:doughnutChart>
        <c:varyColors val="1"/>
        <c:ser>
          <c:idx val="0"/>
          <c:order val="0"/>
          <c:tx>
            <c:strRef>
              <c:f>Sheet1!$B$1</c:f>
              <c:strCache>
                <c:ptCount val="1"/>
                <c:pt idx="0">
                  <c:v>Tests</c:v>
                </c:pt>
              </c:strCache>
            </c:strRef>
          </c:tx>
          <c:spPr>
            <a:solidFill>
              <a:schemeClr val="accent1"/>
            </a:solidFill>
            <a:ln w="9525" cap="flat">
              <a:solidFill>
                <a:srgbClr val="F9F9F9"/>
              </a:solidFill>
              <a:prstDash val="solid"/>
              <a:round/>
            </a:ln>
            <a:effectLst/>
          </c:spPr>
          <c:dPt>
            <c:idx val="0"/>
            <c:bubble3D val="0"/>
            <c:spPr>
              <a:solidFill>
                <a:srgbClr val="2E8B57"/>
              </a:solidFill>
              <a:effectLst/>
            </c:spPr>
          </c:dPt>
          <c:dPt>
            <c:idx val="1"/>
            <c:bubble3D val="0"/>
            <c:spPr>
              <a:solidFill>
                <a:srgbClr val="C0392B"/>
              </a:solidFill>
              <a:effectLst/>
            </c:spPr>
          </c:dPt>
          <c:dPt>
            <c:idx val="2"/>
            <c:bubble3D val="0"/>
            <c:spPr>
              <a:solidFill>
                <a:srgbClr val="F2A900"/>
              </a:solidFill>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c:v>
                </c:pt>
                <c:pt idx="1">
                  <c:v>Fail</c:v>
                </c:pt>
                <c:pt idx="2">
                  <c:v>Exception</c:v>
                </c:pt>
              </c:strCache>
            </c:strRef>
          </c:cat>
          <c:val>
            <c:numRef>
              <c:f>Sheet1!$B$2:$B$4</c:f>
              <c:numCache>
                <c:ptCount val="3"/>
                <c:pt idx="0">
                  <c:v>8</c:v>
                </c:pt>
                <c:pt idx="1">
                  <c:v>5</c:v>
                </c:pt>
                <c:pt idx="2">
                  <c:v>1</c:v>
                </c:pt>
              </c:numCache>
            </c:numRef>
          </c:val>
        </c:ser>
        <c:firstSliceAng val="0"/>
        <c:holeSize val="60"/>
      </c:doughnutChart>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sec.
SAY: "Good afternoon. I'm Akhila Chennamaneni, and this is Care Access Navigator, my capstone for the dae six-month cybersecurity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SAY: "The dae program is a six-month, cohort-based adult program. Instead of separate assignments, every course added a layer to one project: Care Access Navigator, for a fictional hospital called HealthLine Regional Medical Center. I came from Salesforce administration and business analysis, where I managed user access and security models, so identity and access management was a natural next step."
CHECK: confirm cohort/program wording with your instructor if you want to name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"Healthcare organizations hire, transfer and terminate staff constantly. If access doesn't follow those changes, people end up seeing patient data they shouldn't. Three failures cause most of the trouble: too much access, access that never ends, and no proof. My design document set five MVP criteria, and today I'll show evidence for each one."
HONESTY NOTE: Reporting is 'dataset ready'. The Tableau dataset is built from real evidence; say the Tableau workbook is the final step if it isn't published yet.
DIAGRAM IF ASKED: semester_3/Care_Access_Navigator/02_Diagrams/01_Architecture/CAN_DGM_Network_Topology_Care_Access_HRMC_v0.1.png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"This is the architecture from my design document. Workforce data feeds the identity layer, identities reach the healthcare apps through role-based access and the JML workflow, every sign-in and change is logged, the SIEM watches those logs, and three activities, access review, GRC tracking and incident investigation, feed one management dashboard. On the right is what I actually built for each layer. Where the design said 'Sentinel or a lightweight equivalent', I ran a real Wazuh manager and kept Azure alerts for the cloud side."
SOURCE: Care_Access_Navigator_Project_Design_Documentation_IAM_GRC.docx, section 7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SAY: "Everything runs in Azure. The virtual network is split into subnets with three network security groups, so the app tier only accepts traffic from the public subnet. Admins connect through Azure Bastion, so workloads have no public IP. Alerts from Defender for Cloud and the activity log go to the SecOps team. 50 alerts fired in 30 days, including a real incident on October 8th that I contained and recovered."
NOTE: The alert email shown is a Defender SAMPLE alert. The real incident is INC-20261008-01 (rogue NSG rule + storage key listing + SSH brute force, closed 20:28).
SOURCE: cloud_security_1/ screenshots; tableau_dataset/azure_alerts_30d.csv, incidents.csv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"Here's the federation: Keycloak trusts Microsoft Entra ID over OpenID Connect, so staff sign in once with their hospital identity. In Entra, each user gets exactly one app role, which is my RBAC model. Keycloak maps that role into one of seven realm roles. The key least-privilege control is on the app side: every Keycloak client has full-scope turned off, so the Billing App can never receive a clinician role. RBAC is the method; least privilege is the goal."
LIVE OPTION: Keycloak &gt; Identity providers &gt; entra-id; Entra &gt; Enterprise apps &gt; care-access-navigator-keycloak-broker &gt; Users and groups.
SOURCE: cloud_security_1/Keycloak-CAN Authorization Page.png, jml-evidence/JML-07, compliance_1/audit-evidence/E-AC-01_keycloak_users_roles.txt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90 sec (LIVE if possible: Entra &gt; Enterprise apps &gt; care-access-navigator-keycloak-broker &gt; Users and groups, then Incognito sign-ins).
SAY:
- REQUEST FLOW: "Every change starts as a ticket with a business reason. The manager approves, I check the role against the approved role catalogue, provision exactly one Entra app role, and verify with a sign-in and the audit log."
- JOINER: "Sathya's account existed at 16:23 but had no app role, so she could open nothing. At 16:46 the approved ticket assigned Clinician. At her first sign-in, Keycloak created her account automatically with exactly one role. No account was created by hand."
- MOVER: "For Tara's transfer, order matters. I removed Nurse first, added Billing, then revoked her sessions. At her next sign-in, Keycloak's FORCE sync replaced nurse with billing, so access is replaced, not added on. That stops privilege creep."
- LEAVER: "Jeevan was fully cut off in about 15 minutes. Entra blocked him immediately. Keycloak isn't notified automatically, so disabling the Keycloak copy is a documented manual step. I disabled rather than deleted the account to preserve the audit trail HIPAA expects."
- EVIDENCE: "Every step is evidenced three ways, and all 19 files are SHA-256 hashed."
IF ASKED: JML-14 (18:25) still shows the Keycloak copy enabled; JML-12 shows it disabled at ~18:28.
POLICY: CAN-POL-AC-001 §4.3: new access needs manager approval; removal by end of day on termination, within 5 business days of a role change (Compliance 1 Task 2).
SOURCE: capstone_next_steps/jml-evidence/JML-LOG.csv, JML-05, JML-09, JML-14, JML-15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"Next, I asked: what if the JML process isn't complete everywhere? I ran a real Wazuh 4.9.2 manager and replayed activity for the same three people on a Linux host. Wazuh caught three incidents, all within a second of the log line. The key design choice: Wazuh's built-in rules treated these as normal noise. My custom rules use lists that mirror the JML register, so Wazuh knows Tara is now Billing and Jeevan has left."
SCOPE NOTE (say confidently): Real Wazuh manager in Docker; Parrot OS replaced by a Debian container because I have no admin rights. Documented in ADR-SIEM-choice.
SOURCE: incident_response_1/task2_log_analysis/evidence/analysis/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"Let me walk through one incident end to end. A day after Jeevan left, someone tried to SSH in as him twice. Both attempts were blocked, but his SSH key was still authorized. Because of NAT, the server only saw 10.77.0.1, so I correlated the Mac's own log and a packet capture to find the real source. I followed NIST SP 800-61: contain, eradicate, recover, then verify. The alert was rated High, so it was triaged right away. After investigation the incident is SEV-3 Medium, because no access was gained."
HIPAA NOTE: With real ePHI, Tara's incident (005) would trigger the HIPAA four-factor breach risk assessment (45 CFR 164.402).
SOURCE: Care_Access_Navigator_IR1_Task2_Log_Analysis.pdf §6-8, timeline_inc_a.csv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"I scored each risk as likelihood times impact on a 5 by 5 scale. On the left is my risk register from Risk Management. On the right, you can see how the controls I just demonstrated lowered every score. The leaver control brought R02 from 15 to 5, and that's Jeevan. Three risks stay High until MFA is enforced. Below is my access review: nine accounts checked, six flagged, including four privileged accounts without MFA and a vendor whose access had already expired."
HONESTY NOTE: Access review rows come from the replica test run of can_iam.py. Rerun on the live lab before the demo if you can.
TREATMENT: "Every top risk is treated by mitigation. The one thing I accepted is the lab identity provider running over HTTP: it is a logged exception with a compensating control and a 12-month maximum, per the exception procedure in my compliance program."
FRAMEWORKS: NIST CSF 2.0 PR.AA / DE.CM; ISO 27001 A.5.15-5.20.
SOURCE: risk_management_1/..._Criterion_2_Risk_Assessment_Techniques.pdf p6; tableau_dataset/risks.csv, access_review_AR-2026-Q4.csv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"Governance starts with a written policy: CAN-POL-AC-001, owned by the Security Officer and approved by the Compliance and Privacy Committee. Each control traces to that policy, to HIPAA and NIST, and to an evidence file. I tested 14 controls: 8 passed, 5 failed, and 1 is a documented exception. The access controls passed. Users hold only their job role, and Entra assignment is required. The failures are MFA, lockout, log retention and review sign-off. Each finding maps to a HIPAA Security Rule or PCI DSS requirement and has an owner and a date. These KPI tiles are the management summary: the leaver KPI is green, and pass rate and MFA are what I'm fixing next. The same data is prepared as a Tableau dataset, and my Azure workbook shows the live cloud metrics."
IF ASKED 'Is this HIPAA compliant?': "It's mapped to HIPAA Security Rule safeguards. I don't claim certification."
OPTIONAL: Show cloud_security_1/Cloud_Security_1:SecOps_Dashboard.png (Azure workbook: 14 failed SSH auth events, 6 denied requests, 44 Defender alerts).
SOURCE: tableau_dataset/control_tests.csv, audit_findings.csv, kpi_definitions.csv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Pick two rows to talk through. Not on the slide: the Apple Silicon (arm64) image rebuilt for amd64, and the leaver SSH key left on the Linux host (covered on the incident slide). Also next: CISO Assistant as the GRC platform, publish the Tableau dashboard, 12-month log retention (F-03).
SAY: "Not everything went to plan. Azure's vCPU quota blocked virtual machines, so I used container instances with Bastion and network security groups, and rebuilt my image for the right CPU architecture. I don't have admin rights, so I ran a real Wazuh manager in Docker. The biggest lesson came from my own incident: Keycloak and Linux hosts don't hear about a leaver automatically, so the identity lifecycle has to reach every system. Next, I'll enforce MFA and lockout, automate deprovisioning, build the break-glass account, and bring in CISO Assistant."
Q&amp;A PREP:
- How do you know the leaver's access is gone? Entra disabled, sessions revoked, role removed, Keycloak disabled (JML-12), sign-in refused (JML-13).
- Why simulate the Linux host instead of Parrot OS? No admin rights. It's a real Wazuh 4.9.2 manager with the same rules and alerts (ADR-SIEM-choice).
- RBAC vs least privilege? RBAC is the method (roles); least privilege is the goal (minimum access).
- Is this HIPAA compliant? Mapped to HIPAA Security Rule safeguards; no certification claimed.
- What about emergencies? Break-glass is defined in policy §4.9 (logged, alerted, reviewed within 1 business day); building it is a next step.
BEFORE YOU PRESENT: Record a backup video of the JML slide live; keep Entra, Keycloak admin and an Incognito window open; use test accounts only and never show passwords; stop Azure ACI after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to the dignitaries and industry experts for your valuable presence and insights, and to the dae team and my peers for your continued support, guidance and encouragement. The QR codes link to my GitHub, where the project and evidence live, and to my LinkedIn. I'm happy to take questions."
LINKS: https://github.com/Akchrao  |  https://www.linkedin.com/in/akhila-chennamaneni-228651236/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7132320" cy="548640"/>
          </a:xfrm>
          <a:prstGeom prst="rect">
            <a:avLst/>
          </a:prstGeom>
          <a:noFill/>
          <a:ln/>
        </p:spPr>
        <p:txBody>
          <a:bodyPr wrap="square" rtlCol="0"/>
          <a:lstStyle>
            <a:lvl1pPr algn="l" indent="0" marL="0">
              <a:buNone/>
              <a:defRPr lang="en-US" sz="2400" b="1" dirty="0">
                <a:solidFill>
                  <a:srgbClr val="1B2A4A"/>
                </a:solidFill>
              </a:defRPr>
            </a:lvl1pPr>
          </a:lstStyle>
          <a:p>
            <a:pPr algn="l" indent="0" marL="0">
              <a:buNone/>
            </a:pPr>
            <a:endParaRPr lang="en-US" sz="2400" dirty="0"/>
          </a:p>
        </p:txBody>
      </p:sp>
      <p:sp>
        <p:nvSpPr>
          <p:cNvPr id="3"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900" dirty="0">
                <a:solidFill>
                  <a:srgbClr val="5A6B85"/>
                </a:solidFill>
              </a:rPr>
              <a:t>Care Access Navigator  |  dae 6-Month Cybersecurity Program  |  Synthetic data only</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image" Target="../media/image-7-6.png"/><Relationship Id="rId7" Type="http://schemas.openxmlformats.org/officeDocument/2006/relationships/image" Target="../media/image-7-7.jp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jp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60920" y="320040"/>
            <a:ext cx="1325880" cy="566928"/>
          </a:xfrm>
          <a:prstGeom prst="roundRect">
            <a:avLst>
              <a:gd name="adj" fmla="val 16129"/>
            </a:avLst>
          </a:prstGeom>
          <a:solidFill>
            <a:srgbClr val="FFFFFF"/>
          </a:solidFill>
          <a:ln w="12700">
            <a:solidFill>
              <a:srgbClr val="FFFFFF"/>
            </a:solidFill>
            <a:prstDash val="solid"/>
          </a:ln>
        </p:spPr>
      </p:sp>
      <p:pic>
        <p:nvPicPr>
          <p:cNvPr id="3" name="Image 0" descr="dae logo">    </p:cNvPr>
          <p:cNvPicPr>
            <a:picLocks noChangeAspect="1"/>
          </p:cNvPicPr>
          <p:nvPr/>
        </p:nvPicPr>
        <p:blipFill>
          <a:blip r:embed="rId2"/>
          <a:stretch>
            <a:fillRect/>
          </a:stretch>
        </p:blipFill>
        <p:spPr>
          <a:xfrm>
            <a:off x="7470648" y="384048"/>
            <a:ext cx="1106424" cy="448056"/>
          </a:xfrm>
          <a:prstGeom prst="rect">
            <a:avLst/>
          </a:prstGeom>
        </p:spPr>
      </p:pic>
      <p:sp>
        <p:nvSpPr>
          <p:cNvPr id="4" name="Shape 1"/>
          <p:cNvSpPr/>
          <p:nvPr/>
        </p:nvSpPr>
        <p:spPr>
          <a:xfrm>
            <a:off x="548640" y="777240"/>
            <a:ext cx="1005840" cy="292608"/>
          </a:xfrm>
          <a:prstGeom prst="roundRect">
            <a:avLst>
              <a:gd name="adj" fmla="val 18750"/>
            </a:avLst>
          </a:prstGeom>
          <a:solidFill>
            <a:srgbClr val="F2A900"/>
          </a:solidFill>
          <a:ln w="12700">
            <a:solidFill>
              <a:srgbClr val="F2A900"/>
            </a:solidFill>
            <a:prstDash val="solid"/>
          </a:ln>
        </p:spPr>
      </p:sp>
      <p:sp>
        <p:nvSpPr>
          <p:cNvPr id="5" name="Text 2"/>
          <p:cNvSpPr txBox="1"/>
          <p:nvPr/>
        </p:nvSpPr>
        <p:spPr>
          <a:xfrm>
            <a:off x="548640" y="777240"/>
            <a:ext cx="1005840" cy="292608"/>
          </a:xfrm>
          <a:prstGeom prst="rect">
            <a:avLst/>
          </a:prstGeom>
          <a:noFill/>
          <a:ln/>
        </p:spPr>
        <p:txBody>
          <a:bodyPr wrap="square" lIns="0" tIns="0" rIns="0" bIns="0" rtlCol="0" anchor="ctr"/>
          <a:lstStyle/>
          <a:p>
            <a:pPr algn="ctr" indent="0" marL="0">
              <a:buNone/>
            </a:pPr>
            <a:r>
              <a:rPr lang="en-US" sz="1100" b="1" dirty="0">
                <a:solidFill>
                  <a:srgbClr val="1B2A4A"/>
                </a:solidFill>
              </a:rPr>
              <a:t>IAM</a:t>
            </a:r>
            <a:endParaRPr lang="en-US" sz="1100" dirty="0"/>
          </a:p>
        </p:txBody>
      </p:sp>
      <p:sp>
        <p:nvSpPr>
          <p:cNvPr id="6" name="Shape 3"/>
          <p:cNvSpPr/>
          <p:nvPr/>
        </p:nvSpPr>
        <p:spPr>
          <a:xfrm>
            <a:off x="1691640" y="777240"/>
            <a:ext cx="1005840" cy="292608"/>
          </a:xfrm>
          <a:prstGeom prst="roundRect">
            <a:avLst>
              <a:gd name="adj" fmla="val 18750"/>
            </a:avLst>
          </a:prstGeom>
          <a:solidFill>
            <a:srgbClr val="F2A900"/>
          </a:solidFill>
          <a:ln w="12700">
            <a:solidFill>
              <a:srgbClr val="F2A900"/>
            </a:solidFill>
            <a:prstDash val="solid"/>
          </a:ln>
        </p:spPr>
      </p:sp>
      <p:sp>
        <p:nvSpPr>
          <p:cNvPr id="7" name="Text 4"/>
          <p:cNvSpPr txBox="1"/>
          <p:nvPr/>
        </p:nvSpPr>
        <p:spPr>
          <a:xfrm>
            <a:off x="1691640" y="777240"/>
            <a:ext cx="1005840" cy="292608"/>
          </a:xfrm>
          <a:prstGeom prst="rect">
            <a:avLst/>
          </a:prstGeom>
          <a:noFill/>
          <a:ln/>
        </p:spPr>
        <p:txBody>
          <a:bodyPr wrap="square" lIns="0" tIns="0" rIns="0" bIns="0" rtlCol="0" anchor="ctr"/>
          <a:lstStyle/>
          <a:p>
            <a:pPr algn="ctr" indent="0" marL="0">
              <a:buNone/>
            </a:pPr>
            <a:r>
              <a:rPr lang="en-US" sz="1100" b="1" dirty="0">
                <a:solidFill>
                  <a:srgbClr val="1B2A4A"/>
                </a:solidFill>
              </a:rPr>
              <a:t>GRC</a:t>
            </a:r>
            <a:endParaRPr lang="en-US" sz="1100" dirty="0"/>
          </a:p>
        </p:txBody>
      </p:sp>
      <p:sp>
        <p:nvSpPr>
          <p:cNvPr id="8" name="Shape 5"/>
          <p:cNvSpPr/>
          <p:nvPr/>
        </p:nvSpPr>
        <p:spPr>
          <a:xfrm>
            <a:off x="2834640" y="777240"/>
            <a:ext cx="1005840" cy="292608"/>
          </a:xfrm>
          <a:prstGeom prst="roundRect">
            <a:avLst>
              <a:gd name="adj" fmla="val 18750"/>
            </a:avLst>
          </a:prstGeom>
          <a:solidFill>
            <a:srgbClr val="F2A900"/>
          </a:solidFill>
          <a:ln w="12700">
            <a:solidFill>
              <a:srgbClr val="F2A900"/>
            </a:solidFill>
            <a:prstDash val="solid"/>
          </a:ln>
        </p:spPr>
      </p:sp>
      <p:sp>
        <p:nvSpPr>
          <p:cNvPr id="9" name="Text 6"/>
          <p:cNvSpPr txBox="1"/>
          <p:nvPr/>
        </p:nvSpPr>
        <p:spPr>
          <a:xfrm>
            <a:off x="2834640" y="777240"/>
            <a:ext cx="1005840" cy="292608"/>
          </a:xfrm>
          <a:prstGeom prst="rect">
            <a:avLst/>
          </a:prstGeom>
          <a:noFill/>
          <a:ln/>
        </p:spPr>
        <p:txBody>
          <a:bodyPr wrap="square" lIns="0" tIns="0" rIns="0" bIns="0" rtlCol="0" anchor="ctr"/>
          <a:lstStyle/>
          <a:p>
            <a:pPr algn="ctr" indent="0" marL="0">
              <a:buNone/>
            </a:pPr>
            <a:r>
              <a:rPr lang="en-US" sz="1100" b="1" dirty="0">
                <a:solidFill>
                  <a:srgbClr val="1B2A4A"/>
                </a:solidFill>
              </a:rPr>
              <a:t>Healthcare</a:t>
            </a:r>
            <a:endParaRPr lang="en-US" sz="1100" dirty="0"/>
          </a:p>
        </p:txBody>
      </p:sp>
      <p:sp>
        <p:nvSpPr>
          <p:cNvPr id="10" name="Text 7"/>
          <p:cNvSpPr txBox="1"/>
          <p:nvPr/>
        </p:nvSpPr>
        <p:spPr>
          <a:xfrm>
            <a:off x="548640" y="1188720"/>
            <a:ext cx="4572000" cy="1280160"/>
          </a:xfrm>
          <a:prstGeom prst="rect">
            <a:avLst/>
          </a:prstGeom>
          <a:noFill/>
          <a:ln/>
        </p:spPr>
        <p:txBody>
          <a:bodyPr wrap="square" lIns="0" tIns="0" rIns="0" bIns="0" rtlCol="0" anchor="ctr"/>
          <a:lstStyle/>
          <a:p>
            <a:pPr indent="0" marL="0">
              <a:buNone/>
            </a:pPr>
            <a:r>
              <a:rPr lang="en-US" sz="4000" b="1" dirty="0">
                <a:solidFill>
                  <a:srgbClr val="FFFFFF"/>
                </a:solidFill>
              </a:rPr>
              <a:t>Care Access</a:t>
            </a:r>
            <a:endParaRPr lang="en-US" sz="4000" dirty="0"/>
          </a:p>
          <a:p>
            <a:pPr indent="0" marL="0">
              <a:buNone/>
            </a:pPr>
            <a:r>
              <a:rPr lang="en-US" sz="4000" b="1" dirty="0">
                <a:solidFill>
                  <a:srgbClr val="FFFFFF"/>
                </a:solidFill>
              </a:rPr>
              <a:t>Navigator</a:t>
            </a:r>
            <a:endParaRPr lang="en-US" sz="4000" dirty="0"/>
          </a:p>
        </p:txBody>
      </p:sp>
      <p:sp>
        <p:nvSpPr>
          <p:cNvPr id="11" name="Text 8"/>
          <p:cNvSpPr txBox="1"/>
          <p:nvPr/>
        </p:nvSpPr>
        <p:spPr>
          <a:xfrm>
            <a:off x="548640" y="2560320"/>
            <a:ext cx="4023360" cy="548640"/>
          </a:xfrm>
          <a:prstGeom prst="rect">
            <a:avLst/>
          </a:prstGeom>
          <a:noFill/>
          <a:ln/>
        </p:spPr>
        <p:txBody>
          <a:bodyPr wrap="square" lIns="0" tIns="0" rIns="0" bIns="0" rtlCol="0" anchor="ctr"/>
          <a:lstStyle/>
          <a:p>
            <a:pPr indent="0" marL="0">
              <a:buNone/>
            </a:pPr>
            <a:r>
              <a:rPr lang="en-US" sz="1600" dirty="0">
                <a:solidFill>
                  <a:srgbClr val="DCE8F5"/>
                </a:solidFill>
              </a:rPr>
              <a:t>Identity &amp; Access Management + GRC for a simulated hospital</a:t>
            </a:r>
            <a:endParaRPr lang="en-US" sz="1600" dirty="0"/>
          </a:p>
        </p:txBody>
      </p:sp>
      <p:sp>
        <p:nvSpPr>
          <p:cNvPr id="12" name="Text 9"/>
          <p:cNvSpPr txBox="1"/>
          <p:nvPr/>
        </p:nvSpPr>
        <p:spPr>
          <a:xfrm>
            <a:off x="548640" y="3127248"/>
            <a:ext cx="4023360" cy="274320"/>
          </a:xfrm>
          <a:prstGeom prst="rect">
            <a:avLst/>
          </a:prstGeom>
          <a:noFill/>
          <a:ln/>
        </p:spPr>
        <p:txBody>
          <a:bodyPr wrap="square" lIns="0" tIns="0" rIns="0" bIns="0" rtlCol="0" anchor="ctr"/>
          <a:lstStyle/>
          <a:p>
            <a:pPr indent="0" marL="0">
              <a:buNone/>
            </a:pPr>
            <a:r>
              <a:rPr lang="en-US" sz="1400" i="1" dirty="0">
                <a:solidFill>
                  <a:srgbClr val="F2A900"/>
                </a:solidFill>
              </a:rPr>
              <a:t>MVP demonstration</a:t>
            </a:r>
            <a:endParaRPr lang="en-US" sz="1400" dirty="0"/>
          </a:p>
        </p:txBody>
      </p:sp>
      <p:sp>
        <p:nvSpPr>
          <p:cNvPr id="13" name="Text 10"/>
          <p:cNvSpPr txBox="1"/>
          <p:nvPr/>
        </p:nvSpPr>
        <p:spPr>
          <a:xfrm>
            <a:off x="548640" y="3611880"/>
            <a:ext cx="4389120" cy="868680"/>
          </a:xfrm>
          <a:prstGeom prst="rect">
            <a:avLst/>
          </a:prstGeom>
          <a:noFill/>
          <a:ln/>
        </p:spPr>
        <p:txBody>
          <a:bodyPr wrap="square" lIns="0" tIns="0" rIns="0" bIns="0" rtlCol="0" anchor="t"/>
          <a:lstStyle/>
          <a:p>
            <a:pPr indent="0" marL="0">
              <a:spcAft>
                <a:spcPts val="200"/>
              </a:spcAft>
              <a:buNone/>
            </a:pPr>
            <a:r>
              <a:rPr lang="en-US" sz="1400" b="1" dirty="0">
                <a:solidFill>
                  <a:srgbClr val="FFFFFF"/>
                </a:solidFill>
              </a:rPr>
              <a:t>Akhila Chennamaneni</a:t>
            </a:r>
            <a:endParaRPr lang="en-US" sz="1400" dirty="0"/>
          </a:p>
          <a:p>
            <a:pPr indent="0" marL="0">
              <a:spcAft>
                <a:spcPts val="200"/>
              </a:spcAft>
              <a:buNone/>
            </a:pPr>
            <a:r>
              <a:rPr lang="en-US" sz="1200" dirty="0">
                <a:solidFill>
                  <a:srgbClr val="AFC3DD"/>
                </a:solidFill>
              </a:rPr>
              <a:t>Aspiring IAM &amp; GRC Analyst</a:t>
            </a:r>
            <a:endParaRPr lang="en-US" sz="1400" dirty="0"/>
          </a:p>
          <a:p>
            <a:pPr indent="0" marL="0">
              <a:spcAft>
                <a:spcPts val="200"/>
              </a:spcAft>
              <a:buNone/>
            </a:pPr>
            <a:r>
              <a:rPr lang="en-US" sz="1200" dirty="0">
                <a:solidFill>
                  <a:srgbClr val="AFC3DD"/>
                </a:solidFill>
              </a:rPr>
              <a:t>dae 6-Month Cybersecurity Program  |  October 2026</a:t>
            </a:r>
            <a:endParaRPr lang="en-US" sz="1400" dirty="0"/>
          </a:p>
        </p:txBody>
      </p:sp>
      <p:sp>
        <p:nvSpPr>
          <p:cNvPr id="15"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The program and the project</a:t>
            </a:r>
            <a:endParaRPr lang="en-US" sz="2400" dirty="0"/>
          </a:p>
        </p:txBody>
      </p:sp>
      <p:sp>
        <p:nvSpPr>
          <p:cNvPr id="4" name="Shape 1"/>
          <p:cNvSpPr/>
          <p:nvPr/>
        </p:nvSpPr>
        <p:spPr>
          <a:xfrm>
            <a:off x="457200" y="914400"/>
            <a:ext cx="3977640" cy="3611880"/>
          </a:xfrm>
          <a:prstGeom prst="roundRect">
            <a:avLst>
              <a:gd name="adj" fmla="val 2025"/>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 name="Shape 2"/>
          <p:cNvSpPr/>
          <p:nvPr/>
        </p:nvSpPr>
        <p:spPr>
          <a:xfrm>
            <a:off x="640080" y="1051560"/>
            <a:ext cx="457200" cy="457200"/>
          </a:xfrm>
          <a:prstGeom prst="ellipse">
            <a:avLst/>
          </a:prstGeom>
          <a:solidFill>
            <a:srgbClr val="2E6FB7"/>
          </a:solidFill>
          <a:ln w="12700">
            <a:solidFill>
              <a:srgbClr val="2E6FB7"/>
            </a:solidFill>
            <a:prstDash val="solid"/>
          </a:ln>
        </p:spPr>
      </p:sp>
      <p:pic>
        <p:nvPicPr>
          <p:cNvPr id="6" name="Image 1" descr="preencoded.png">    </p:cNvPr>
          <p:cNvPicPr>
            <a:picLocks noChangeAspect="1"/>
          </p:cNvPicPr>
          <p:nvPr/>
        </p:nvPicPr>
        <p:blipFill>
          <a:blip r:embed="rId2"/>
          <a:stretch>
            <a:fillRect/>
          </a:stretch>
        </p:blipFill>
        <p:spPr>
          <a:xfrm>
            <a:off x="740664" y="1152144"/>
            <a:ext cx="256032" cy="256032"/>
          </a:xfrm>
          <a:prstGeom prst="rect">
            <a:avLst/>
          </a:prstGeom>
        </p:spPr>
      </p:pic>
      <p:sp>
        <p:nvSpPr>
          <p:cNvPr id="7" name="Text 3"/>
          <p:cNvSpPr txBox="1"/>
          <p:nvPr/>
        </p:nvSpPr>
        <p:spPr>
          <a:xfrm>
            <a:off x="1234440" y="1005840"/>
            <a:ext cx="3108960" cy="548640"/>
          </a:xfrm>
          <a:prstGeom prst="rect">
            <a:avLst/>
          </a:prstGeom>
          <a:noFill/>
          <a:ln/>
        </p:spPr>
        <p:txBody>
          <a:bodyPr wrap="square" lIns="0" tIns="0" rIns="0" bIns="0" rtlCol="0" anchor="ctr"/>
          <a:lstStyle/>
          <a:p>
            <a:pPr indent="0" marL="0">
              <a:buNone/>
            </a:pPr>
            <a:r>
              <a:rPr lang="en-US" sz="1300" b="1" dirty="0">
                <a:solidFill>
                  <a:srgbClr val="1B2A4A"/>
                </a:solidFill>
              </a:rPr>
              <a:t>dae 6-Month Adult Cybersecurity Program</a:t>
            </a:r>
            <a:endParaRPr lang="en-US" sz="1300" dirty="0"/>
          </a:p>
          <a:p>
            <a:pPr indent="0" marL="0">
              <a:buNone/>
            </a:pPr>
            <a:r>
              <a:rPr lang="en-US" sz="1050" dirty="0">
                <a:solidFill>
                  <a:srgbClr val="5A6B85"/>
                </a:solidFill>
              </a:rPr>
              <a:t>7 courses, 1 capstone</a:t>
            </a:r>
            <a:endParaRPr lang="en-US" sz="1300" dirty="0"/>
          </a:p>
        </p:txBody>
      </p:sp>
      <p:sp>
        <p:nvSpPr>
          <p:cNvPr id="8" name="Shape 4"/>
          <p:cNvSpPr/>
          <p:nvPr/>
        </p:nvSpPr>
        <p:spPr>
          <a:xfrm>
            <a:off x="640080" y="1828800"/>
            <a:ext cx="1737360" cy="475488"/>
          </a:xfrm>
          <a:prstGeom prst="roundRect">
            <a:avLst>
              <a:gd name="adj" fmla="val 11538"/>
            </a:avLst>
          </a:prstGeom>
          <a:solidFill>
            <a:srgbClr val="DCE8F5"/>
          </a:solidFill>
          <a:ln w="12700">
            <a:solidFill>
              <a:srgbClr val="DCE8F5"/>
            </a:solidFill>
            <a:prstDash val="solid"/>
          </a:ln>
        </p:spPr>
      </p:sp>
      <p:pic>
        <p:nvPicPr>
          <p:cNvPr id="9" name="Image 2" descr="preencoded.png">    </p:cNvPr>
          <p:cNvPicPr>
            <a:picLocks noChangeAspect="1"/>
          </p:cNvPicPr>
          <p:nvPr/>
        </p:nvPicPr>
        <p:blipFill>
          <a:blip r:embed="rId3"/>
          <a:stretch>
            <a:fillRect/>
          </a:stretch>
        </p:blipFill>
        <p:spPr>
          <a:xfrm>
            <a:off x="731520" y="1975104"/>
            <a:ext cx="182880" cy="182880"/>
          </a:xfrm>
          <a:prstGeom prst="rect">
            <a:avLst/>
          </a:prstGeom>
        </p:spPr>
      </p:pic>
      <p:sp>
        <p:nvSpPr>
          <p:cNvPr id="10" name="Text 5"/>
          <p:cNvSpPr txBox="1"/>
          <p:nvPr/>
        </p:nvSpPr>
        <p:spPr>
          <a:xfrm>
            <a:off x="987552" y="1828800"/>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Cybersecurity Basics</a:t>
            </a:r>
            <a:endParaRPr lang="en-US" sz="950" dirty="0"/>
          </a:p>
        </p:txBody>
      </p:sp>
      <p:sp>
        <p:nvSpPr>
          <p:cNvPr id="11" name="Shape 6"/>
          <p:cNvSpPr/>
          <p:nvPr/>
        </p:nvSpPr>
        <p:spPr>
          <a:xfrm>
            <a:off x="2468880" y="1828800"/>
            <a:ext cx="1737360" cy="475488"/>
          </a:xfrm>
          <a:prstGeom prst="roundRect">
            <a:avLst>
              <a:gd name="adj" fmla="val 11538"/>
            </a:avLst>
          </a:prstGeom>
          <a:solidFill>
            <a:srgbClr val="DCE8F5"/>
          </a:solidFill>
          <a:ln w="12700">
            <a:solidFill>
              <a:srgbClr val="DCE8F5"/>
            </a:solidFill>
            <a:prstDash val="solid"/>
          </a:ln>
        </p:spPr>
      </p:sp>
      <p:pic>
        <p:nvPicPr>
          <p:cNvPr id="12" name="Image 3" descr="preencoded.png">    </p:cNvPr>
          <p:cNvPicPr>
            <a:picLocks noChangeAspect="1"/>
          </p:cNvPicPr>
          <p:nvPr/>
        </p:nvPicPr>
        <p:blipFill>
          <a:blip r:embed="rId4"/>
          <a:stretch>
            <a:fillRect/>
          </a:stretch>
        </p:blipFill>
        <p:spPr>
          <a:xfrm>
            <a:off x="2560320" y="1975104"/>
            <a:ext cx="182880" cy="182880"/>
          </a:xfrm>
          <a:prstGeom prst="rect">
            <a:avLst/>
          </a:prstGeom>
        </p:spPr>
      </p:pic>
      <p:sp>
        <p:nvSpPr>
          <p:cNvPr id="13" name="Text 7"/>
          <p:cNvSpPr txBox="1"/>
          <p:nvPr/>
        </p:nvSpPr>
        <p:spPr>
          <a:xfrm>
            <a:off x="2816352" y="1828800"/>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Network Security</a:t>
            </a:r>
            <a:endParaRPr lang="en-US" sz="950" dirty="0"/>
          </a:p>
        </p:txBody>
      </p:sp>
      <p:sp>
        <p:nvSpPr>
          <p:cNvPr id="14" name="Shape 8"/>
          <p:cNvSpPr/>
          <p:nvPr/>
        </p:nvSpPr>
        <p:spPr>
          <a:xfrm>
            <a:off x="640080" y="2450592"/>
            <a:ext cx="1737360" cy="475488"/>
          </a:xfrm>
          <a:prstGeom prst="roundRect">
            <a:avLst>
              <a:gd name="adj" fmla="val 11538"/>
            </a:avLst>
          </a:prstGeom>
          <a:solidFill>
            <a:srgbClr val="DCE8F5"/>
          </a:solidFill>
          <a:ln w="12700">
            <a:solidFill>
              <a:srgbClr val="DCE8F5"/>
            </a:solidFill>
            <a:prstDash val="solid"/>
          </a:ln>
        </p:spPr>
      </p:sp>
      <p:pic>
        <p:nvPicPr>
          <p:cNvPr id="15" name="Image 4" descr="preencoded.png">    </p:cNvPr>
          <p:cNvPicPr>
            <a:picLocks noChangeAspect="1"/>
          </p:cNvPicPr>
          <p:nvPr/>
        </p:nvPicPr>
        <p:blipFill>
          <a:blip r:embed="rId5"/>
          <a:stretch>
            <a:fillRect/>
          </a:stretch>
        </p:blipFill>
        <p:spPr>
          <a:xfrm>
            <a:off x="731520" y="2596896"/>
            <a:ext cx="182880" cy="182880"/>
          </a:xfrm>
          <a:prstGeom prst="rect">
            <a:avLst/>
          </a:prstGeom>
        </p:spPr>
      </p:pic>
      <p:sp>
        <p:nvSpPr>
          <p:cNvPr id="16" name="Text 9"/>
          <p:cNvSpPr txBox="1"/>
          <p:nvPr/>
        </p:nvSpPr>
        <p:spPr>
          <a:xfrm>
            <a:off x="987552" y="2450592"/>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Cyber Threats &amp; Vulnerabilities</a:t>
            </a:r>
            <a:endParaRPr lang="en-US" sz="950" dirty="0"/>
          </a:p>
        </p:txBody>
      </p:sp>
      <p:sp>
        <p:nvSpPr>
          <p:cNvPr id="17" name="Shape 10"/>
          <p:cNvSpPr/>
          <p:nvPr/>
        </p:nvSpPr>
        <p:spPr>
          <a:xfrm>
            <a:off x="2468880" y="2450592"/>
            <a:ext cx="1737360" cy="475488"/>
          </a:xfrm>
          <a:prstGeom prst="roundRect">
            <a:avLst>
              <a:gd name="adj" fmla="val 11538"/>
            </a:avLst>
          </a:prstGeom>
          <a:solidFill>
            <a:srgbClr val="DCE8F5"/>
          </a:solidFill>
          <a:ln w="12700">
            <a:solidFill>
              <a:srgbClr val="DCE8F5"/>
            </a:solidFill>
            <a:prstDash val="solid"/>
          </a:ln>
        </p:spPr>
      </p:sp>
      <p:pic>
        <p:nvPicPr>
          <p:cNvPr id="18" name="Image 5" descr="preencoded.png">    </p:cNvPr>
          <p:cNvPicPr>
            <a:picLocks noChangeAspect="1"/>
          </p:cNvPicPr>
          <p:nvPr/>
        </p:nvPicPr>
        <p:blipFill>
          <a:blip r:embed="rId6"/>
          <a:stretch>
            <a:fillRect/>
          </a:stretch>
        </p:blipFill>
        <p:spPr>
          <a:xfrm>
            <a:off x="2560320" y="2596896"/>
            <a:ext cx="182880" cy="182880"/>
          </a:xfrm>
          <a:prstGeom prst="rect">
            <a:avLst/>
          </a:prstGeom>
        </p:spPr>
      </p:pic>
      <p:sp>
        <p:nvSpPr>
          <p:cNvPr id="19" name="Text 11"/>
          <p:cNvSpPr txBox="1"/>
          <p:nvPr/>
        </p:nvSpPr>
        <p:spPr>
          <a:xfrm>
            <a:off x="2816352" y="2450592"/>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Cloud Security</a:t>
            </a:r>
            <a:endParaRPr lang="en-US" sz="950" dirty="0"/>
          </a:p>
        </p:txBody>
      </p:sp>
      <p:sp>
        <p:nvSpPr>
          <p:cNvPr id="20" name="Shape 12"/>
          <p:cNvSpPr/>
          <p:nvPr/>
        </p:nvSpPr>
        <p:spPr>
          <a:xfrm>
            <a:off x="640080" y="3072384"/>
            <a:ext cx="1737360" cy="475488"/>
          </a:xfrm>
          <a:prstGeom prst="roundRect">
            <a:avLst>
              <a:gd name="adj" fmla="val 11538"/>
            </a:avLst>
          </a:prstGeom>
          <a:solidFill>
            <a:srgbClr val="DCE8F5"/>
          </a:solidFill>
          <a:ln w="12700">
            <a:solidFill>
              <a:srgbClr val="DCE8F5"/>
            </a:solidFill>
            <a:prstDash val="solid"/>
          </a:ln>
        </p:spPr>
      </p:sp>
      <p:pic>
        <p:nvPicPr>
          <p:cNvPr id="21" name="Image 6" descr="preencoded.png">    </p:cNvPr>
          <p:cNvPicPr>
            <a:picLocks noChangeAspect="1"/>
          </p:cNvPicPr>
          <p:nvPr/>
        </p:nvPicPr>
        <p:blipFill>
          <a:blip r:embed="rId7"/>
          <a:stretch>
            <a:fillRect/>
          </a:stretch>
        </p:blipFill>
        <p:spPr>
          <a:xfrm>
            <a:off x="731520" y="3218688"/>
            <a:ext cx="182880" cy="182880"/>
          </a:xfrm>
          <a:prstGeom prst="rect">
            <a:avLst/>
          </a:prstGeom>
        </p:spPr>
      </p:pic>
      <p:sp>
        <p:nvSpPr>
          <p:cNvPr id="22" name="Text 13"/>
          <p:cNvSpPr txBox="1"/>
          <p:nvPr/>
        </p:nvSpPr>
        <p:spPr>
          <a:xfrm>
            <a:off x="987552" y="3072384"/>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Risk Management</a:t>
            </a:r>
            <a:endParaRPr lang="en-US" sz="950" dirty="0"/>
          </a:p>
        </p:txBody>
      </p:sp>
      <p:sp>
        <p:nvSpPr>
          <p:cNvPr id="23" name="Shape 14"/>
          <p:cNvSpPr/>
          <p:nvPr/>
        </p:nvSpPr>
        <p:spPr>
          <a:xfrm>
            <a:off x="2468880" y="3072384"/>
            <a:ext cx="1737360" cy="475488"/>
          </a:xfrm>
          <a:prstGeom prst="roundRect">
            <a:avLst>
              <a:gd name="adj" fmla="val 11538"/>
            </a:avLst>
          </a:prstGeom>
          <a:solidFill>
            <a:srgbClr val="DCE8F5"/>
          </a:solidFill>
          <a:ln w="12700">
            <a:solidFill>
              <a:srgbClr val="DCE8F5"/>
            </a:solidFill>
            <a:prstDash val="solid"/>
          </a:ln>
        </p:spPr>
      </p:sp>
      <p:pic>
        <p:nvPicPr>
          <p:cNvPr id="24" name="Image 7" descr="preencoded.png">    </p:cNvPr>
          <p:cNvPicPr>
            <a:picLocks noChangeAspect="1"/>
          </p:cNvPicPr>
          <p:nvPr/>
        </p:nvPicPr>
        <p:blipFill>
          <a:blip r:embed="rId8"/>
          <a:stretch>
            <a:fillRect/>
          </a:stretch>
        </p:blipFill>
        <p:spPr>
          <a:xfrm>
            <a:off x="2560320" y="3218688"/>
            <a:ext cx="182880" cy="182880"/>
          </a:xfrm>
          <a:prstGeom prst="rect">
            <a:avLst/>
          </a:prstGeom>
        </p:spPr>
      </p:pic>
      <p:sp>
        <p:nvSpPr>
          <p:cNvPr id="25" name="Text 15"/>
          <p:cNvSpPr txBox="1"/>
          <p:nvPr/>
        </p:nvSpPr>
        <p:spPr>
          <a:xfrm>
            <a:off x="2816352" y="3072384"/>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Compliance</a:t>
            </a:r>
            <a:endParaRPr lang="en-US" sz="950" dirty="0"/>
          </a:p>
        </p:txBody>
      </p:sp>
      <p:sp>
        <p:nvSpPr>
          <p:cNvPr id="26" name="Shape 16"/>
          <p:cNvSpPr/>
          <p:nvPr/>
        </p:nvSpPr>
        <p:spPr>
          <a:xfrm>
            <a:off x="640080" y="3694176"/>
            <a:ext cx="1737360" cy="475488"/>
          </a:xfrm>
          <a:prstGeom prst="roundRect">
            <a:avLst>
              <a:gd name="adj" fmla="val 11538"/>
            </a:avLst>
          </a:prstGeom>
          <a:solidFill>
            <a:srgbClr val="DCE8F5"/>
          </a:solidFill>
          <a:ln w="12700">
            <a:solidFill>
              <a:srgbClr val="DCE8F5"/>
            </a:solidFill>
            <a:prstDash val="solid"/>
          </a:ln>
        </p:spPr>
      </p:sp>
      <p:pic>
        <p:nvPicPr>
          <p:cNvPr id="27" name="Image 8" descr="preencoded.png">    </p:cNvPr>
          <p:cNvPicPr>
            <a:picLocks noChangeAspect="1"/>
          </p:cNvPicPr>
          <p:nvPr/>
        </p:nvPicPr>
        <p:blipFill>
          <a:blip r:embed="rId9"/>
          <a:stretch>
            <a:fillRect/>
          </a:stretch>
        </p:blipFill>
        <p:spPr>
          <a:xfrm>
            <a:off x="731520" y="3840480"/>
            <a:ext cx="182880" cy="182880"/>
          </a:xfrm>
          <a:prstGeom prst="rect">
            <a:avLst/>
          </a:prstGeom>
        </p:spPr>
      </p:pic>
      <p:sp>
        <p:nvSpPr>
          <p:cNvPr id="28" name="Text 17"/>
          <p:cNvSpPr txBox="1"/>
          <p:nvPr/>
        </p:nvSpPr>
        <p:spPr>
          <a:xfrm>
            <a:off x="987552" y="3694176"/>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Incident Response</a:t>
            </a:r>
            <a:endParaRPr lang="en-US" sz="950" dirty="0"/>
          </a:p>
        </p:txBody>
      </p:sp>
      <p:sp>
        <p:nvSpPr>
          <p:cNvPr id="29" name="Shape 18"/>
          <p:cNvSpPr/>
          <p:nvPr/>
        </p:nvSpPr>
        <p:spPr>
          <a:xfrm>
            <a:off x="4709160" y="914400"/>
            <a:ext cx="3977640" cy="3611880"/>
          </a:xfrm>
          <a:prstGeom prst="roundRect">
            <a:avLst>
              <a:gd name="adj" fmla="val 2025"/>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0" name="Shape 19"/>
          <p:cNvSpPr/>
          <p:nvPr/>
        </p:nvSpPr>
        <p:spPr>
          <a:xfrm>
            <a:off x="4892040" y="1051560"/>
            <a:ext cx="457200" cy="457200"/>
          </a:xfrm>
          <a:prstGeom prst="ellipse">
            <a:avLst/>
          </a:prstGeom>
          <a:solidFill>
            <a:srgbClr val="1B2A4A"/>
          </a:solidFill>
          <a:ln w="12700">
            <a:solidFill>
              <a:srgbClr val="1B2A4A"/>
            </a:solidFill>
            <a:prstDash val="solid"/>
          </a:ln>
        </p:spPr>
      </p:sp>
      <p:pic>
        <p:nvPicPr>
          <p:cNvPr id="31" name="Image 9" descr="preencoded.png">    </p:cNvPr>
          <p:cNvPicPr>
            <a:picLocks noChangeAspect="1"/>
          </p:cNvPicPr>
          <p:nvPr/>
        </p:nvPicPr>
        <p:blipFill>
          <a:blip r:embed="rId10"/>
          <a:stretch>
            <a:fillRect/>
          </a:stretch>
        </p:blipFill>
        <p:spPr>
          <a:xfrm>
            <a:off x="4992624" y="1152144"/>
            <a:ext cx="256032" cy="256032"/>
          </a:xfrm>
          <a:prstGeom prst="rect">
            <a:avLst/>
          </a:prstGeom>
        </p:spPr>
      </p:pic>
      <p:sp>
        <p:nvSpPr>
          <p:cNvPr id="32" name="Text 20"/>
          <p:cNvSpPr txBox="1"/>
          <p:nvPr/>
        </p:nvSpPr>
        <p:spPr>
          <a:xfrm>
            <a:off x="5486400" y="1005840"/>
            <a:ext cx="3108960" cy="548640"/>
          </a:xfrm>
          <a:prstGeom prst="rect">
            <a:avLst/>
          </a:prstGeom>
          <a:noFill/>
          <a:ln/>
        </p:spPr>
        <p:txBody>
          <a:bodyPr wrap="square" lIns="0" tIns="0" rIns="0" bIns="0" rtlCol="0" anchor="ctr"/>
          <a:lstStyle/>
          <a:p>
            <a:pPr indent="0" marL="0">
              <a:buNone/>
            </a:pPr>
            <a:r>
              <a:rPr lang="en-US" sz="1300" b="1" dirty="0">
                <a:solidFill>
                  <a:srgbClr val="1B2A4A"/>
                </a:solidFill>
              </a:rPr>
              <a:t>Care Access Navigator</a:t>
            </a:r>
            <a:endParaRPr lang="en-US" sz="1300" dirty="0"/>
          </a:p>
          <a:p>
            <a:pPr indent="0" marL="0">
              <a:buNone/>
            </a:pPr>
            <a:r>
              <a:rPr lang="en-US" sz="1050" dirty="0">
                <a:solidFill>
                  <a:srgbClr val="5A6B85"/>
                </a:solidFill>
              </a:rPr>
              <a:t>HealthLine Regional Medical Center</a:t>
            </a:r>
            <a:endParaRPr lang="en-US" sz="1300" dirty="0"/>
          </a:p>
        </p:txBody>
      </p:sp>
      <p:sp>
        <p:nvSpPr>
          <p:cNvPr id="33" name="Shape 21"/>
          <p:cNvSpPr/>
          <p:nvPr/>
        </p:nvSpPr>
        <p:spPr>
          <a:xfrm>
            <a:off x="4892040" y="1783080"/>
            <a:ext cx="3611880" cy="384048"/>
          </a:xfrm>
          <a:prstGeom prst="roundRect">
            <a:avLst>
              <a:gd name="adj" fmla="val 14286"/>
            </a:avLst>
          </a:prstGeom>
          <a:solidFill>
            <a:srgbClr val="FFF4D6"/>
          </a:solidFill>
          <a:ln w="12700">
            <a:solidFill>
              <a:srgbClr val="FFF4D6"/>
            </a:solidFill>
            <a:prstDash val="solid"/>
          </a:ln>
        </p:spPr>
      </p:sp>
      <p:sp>
        <p:nvSpPr>
          <p:cNvPr id="34" name="Text 22"/>
          <p:cNvSpPr txBox="1"/>
          <p:nvPr/>
        </p:nvSpPr>
        <p:spPr>
          <a:xfrm>
            <a:off x="4892040" y="1783080"/>
            <a:ext cx="3611880" cy="384048"/>
          </a:xfrm>
          <a:prstGeom prst="rect">
            <a:avLst/>
          </a:prstGeom>
          <a:noFill/>
          <a:ln/>
        </p:spPr>
        <p:txBody>
          <a:bodyPr wrap="square" lIns="0" tIns="0" rIns="0" bIns="0" rtlCol="0" anchor="ctr"/>
          <a:lstStyle/>
          <a:p>
            <a:pPr algn="ctr" indent="0" marL="0">
              <a:buNone/>
            </a:pPr>
            <a:r>
              <a:rPr lang="en-US" sz="1050" b="1" dirty="0">
                <a:solidFill>
                  <a:srgbClr val="1B2A4A"/>
                </a:solidFill>
              </a:rPr>
              <a:t>Protect simulated patient data (ePHI)</a:t>
            </a:r>
            <a:endParaRPr lang="en-US" sz="1050" dirty="0"/>
          </a:p>
        </p:txBody>
      </p:sp>
      <p:sp>
        <p:nvSpPr>
          <p:cNvPr id="35" name="Shape 23"/>
          <p:cNvSpPr/>
          <p:nvPr/>
        </p:nvSpPr>
        <p:spPr>
          <a:xfrm>
            <a:off x="4892040" y="2423160"/>
            <a:ext cx="1124712" cy="438912"/>
          </a:xfrm>
          <a:prstGeom prst="roundRect">
            <a:avLst>
              <a:gd name="adj" fmla="val 12500"/>
            </a:avLst>
          </a:prstGeom>
          <a:solidFill>
            <a:srgbClr val="1B2A4A"/>
          </a:solidFill>
          <a:ln w="12700">
            <a:solidFill>
              <a:srgbClr val="1B2A4A"/>
            </a:solidFill>
            <a:prstDash val="solid"/>
          </a:ln>
        </p:spPr>
      </p:sp>
      <p:sp>
        <p:nvSpPr>
          <p:cNvPr id="36" name="Text 24"/>
          <p:cNvSpPr txBox="1"/>
          <p:nvPr/>
        </p:nvSpPr>
        <p:spPr>
          <a:xfrm>
            <a:off x="4892040" y="2423160"/>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Entra ID</a:t>
            </a:r>
            <a:endParaRPr lang="en-US" sz="1000" dirty="0"/>
          </a:p>
        </p:txBody>
      </p:sp>
      <p:sp>
        <p:nvSpPr>
          <p:cNvPr id="37" name="Shape 25"/>
          <p:cNvSpPr/>
          <p:nvPr/>
        </p:nvSpPr>
        <p:spPr>
          <a:xfrm>
            <a:off x="6108192" y="2423160"/>
            <a:ext cx="1124712" cy="438912"/>
          </a:xfrm>
          <a:prstGeom prst="roundRect">
            <a:avLst>
              <a:gd name="adj" fmla="val 12500"/>
            </a:avLst>
          </a:prstGeom>
          <a:solidFill>
            <a:srgbClr val="1B2A4A"/>
          </a:solidFill>
          <a:ln w="12700">
            <a:solidFill>
              <a:srgbClr val="1B2A4A"/>
            </a:solidFill>
            <a:prstDash val="solid"/>
          </a:ln>
        </p:spPr>
      </p:sp>
      <p:sp>
        <p:nvSpPr>
          <p:cNvPr id="38" name="Text 26"/>
          <p:cNvSpPr txBox="1"/>
          <p:nvPr/>
        </p:nvSpPr>
        <p:spPr>
          <a:xfrm>
            <a:off x="6108192" y="2423160"/>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Keycloak</a:t>
            </a:r>
            <a:endParaRPr lang="en-US" sz="1000" dirty="0"/>
          </a:p>
        </p:txBody>
      </p:sp>
      <p:sp>
        <p:nvSpPr>
          <p:cNvPr id="39" name="Shape 27"/>
          <p:cNvSpPr/>
          <p:nvPr/>
        </p:nvSpPr>
        <p:spPr>
          <a:xfrm>
            <a:off x="7324344" y="2423160"/>
            <a:ext cx="1124712" cy="438912"/>
          </a:xfrm>
          <a:prstGeom prst="roundRect">
            <a:avLst>
              <a:gd name="adj" fmla="val 12500"/>
            </a:avLst>
          </a:prstGeom>
          <a:solidFill>
            <a:srgbClr val="1B2A4A"/>
          </a:solidFill>
          <a:ln w="12700">
            <a:solidFill>
              <a:srgbClr val="1B2A4A"/>
            </a:solidFill>
            <a:prstDash val="solid"/>
          </a:ln>
        </p:spPr>
      </p:sp>
      <p:sp>
        <p:nvSpPr>
          <p:cNvPr id="40" name="Text 28"/>
          <p:cNvSpPr txBox="1"/>
          <p:nvPr/>
        </p:nvSpPr>
        <p:spPr>
          <a:xfrm>
            <a:off x="7324344" y="2423160"/>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Azure</a:t>
            </a:r>
            <a:endParaRPr lang="en-US" sz="1000" dirty="0"/>
          </a:p>
        </p:txBody>
      </p:sp>
      <p:sp>
        <p:nvSpPr>
          <p:cNvPr id="41" name="Shape 29"/>
          <p:cNvSpPr/>
          <p:nvPr/>
        </p:nvSpPr>
        <p:spPr>
          <a:xfrm>
            <a:off x="4892040" y="2990088"/>
            <a:ext cx="1124712" cy="438912"/>
          </a:xfrm>
          <a:prstGeom prst="roundRect">
            <a:avLst>
              <a:gd name="adj" fmla="val 12500"/>
            </a:avLst>
          </a:prstGeom>
          <a:solidFill>
            <a:srgbClr val="1B2A4A"/>
          </a:solidFill>
          <a:ln w="12700">
            <a:solidFill>
              <a:srgbClr val="1B2A4A"/>
            </a:solidFill>
            <a:prstDash val="solid"/>
          </a:ln>
        </p:spPr>
      </p:sp>
      <p:sp>
        <p:nvSpPr>
          <p:cNvPr id="42" name="Text 30"/>
          <p:cNvSpPr txBox="1"/>
          <p:nvPr/>
        </p:nvSpPr>
        <p:spPr>
          <a:xfrm>
            <a:off x="4892040" y="2990088"/>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Wazuh</a:t>
            </a:r>
            <a:endParaRPr lang="en-US" sz="1000" dirty="0"/>
          </a:p>
        </p:txBody>
      </p:sp>
      <p:sp>
        <p:nvSpPr>
          <p:cNvPr id="43" name="Shape 31"/>
          <p:cNvSpPr/>
          <p:nvPr/>
        </p:nvSpPr>
        <p:spPr>
          <a:xfrm>
            <a:off x="6108192" y="2990088"/>
            <a:ext cx="1124712" cy="438912"/>
          </a:xfrm>
          <a:prstGeom prst="roundRect">
            <a:avLst>
              <a:gd name="adj" fmla="val 12500"/>
            </a:avLst>
          </a:prstGeom>
          <a:solidFill>
            <a:srgbClr val="1B2A4A"/>
          </a:solidFill>
          <a:ln w="12700">
            <a:solidFill>
              <a:srgbClr val="1B2A4A"/>
            </a:solidFill>
            <a:prstDash val="solid"/>
          </a:ln>
        </p:spPr>
      </p:sp>
      <p:sp>
        <p:nvSpPr>
          <p:cNvPr id="44" name="Text 32"/>
          <p:cNvSpPr txBox="1"/>
          <p:nvPr/>
        </p:nvSpPr>
        <p:spPr>
          <a:xfrm>
            <a:off x="6108192" y="2990088"/>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Python</a:t>
            </a:r>
            <a:endParaRPr lang="en-US" sz="1000" dirty="0"/>
          </a:p>
        </p:txBody>
      </p:sp>
      <p:sp>
        <p:nvSpPr>
          <p:cNvPr id="45" name="Shape 33"/>
          <p:cNvSpPr/>
          <p:nvPr/>
        </p:nvSpPr>
        <p:spPr>
          <a:xfrm>
            <a:off x="7324344" y="2990088"/>
            <a:ext cx="1124712" cy="438912"/>
          </a:xfrm>
          <a:prstGeom prst="roundRect">
            <a:avLst>
              <a:gd name="adj" fmla="val 12500"/>
            </a:avLst>
          </a:prstGeom>
          <a:solidFill>
            <a:srgbClr val="1B2A4A"/>
          </a:solidFill>
          <a:ln w="12700">
            <a:solidFill>
              <a:srgbClr val="1B2A4A"/>
            </a:solidFill>
            <a:prstDash val="solid"/>
          </a:ln>
        </p:spPr>
      </p:sp>
      <p:sp>
        <p:nvSpPr>
          <p:cNvPr id="46" name="Text 34"/>
          <p:cNvSpPr txBox="1"/>
          <p:nvPr/>
        </p:nvSpPr>
        <p:spPr>
          <a:xfrm>
            <a:off x="7324344" y="2990088"/>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Tableau</a:t>
            </a:r>
            <a:endParaRPr lang="en-US" sz="1000" dirty="0"/>
          </a:p>
        </p:txBody>
      </p:sp>
      <p:sp>
        <p:nvSpPr>
          <p:cNvPr id="47" name="Shape 35"/>
          <p:cNvSpPr/>
          <p:nvPr/>
        </p:nvSpPr>
        <p:spPr>
          <a:xfrm>
            <a:off x="4892040" y="3557016"/>
            <a:ext cx="1124712" cy="438912"/>
          </a:xfrm>
          <a:prstGeom prst="roundRect">
            <a:avLst>
              <a:gd name="adj" fmla="val 12500"/>
            </a:avLst>
          </a:prstGeom>
          <a:solidFill>
            <a:srgbClr val="1B2A4A"/>
          </a:solidFill>
          <a:ln w="12700">
            <a:solidFill>
              <a:srgbClr val="1B2A4A"/>
            </a:solidFill>
            <a:prstDash val="solid"/>
          </a:ln>
        </p:spPr>
      </p:sp>
      <p:sp>
        <p:nvSpPr>
          <p:cNvPr id="48" name="Text 36"/>
          <p:cNvSpPr txBox="1"/>
          <p:nvPr/>
        </p:nvSpPr>
        <p:spPr>
          <a:xfrm>
            <a:off x="4892040" y="3557016"/>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Monday.com</a:t>
            </a:r>
            <a:endParaRPr lang="en-US" sz="1000" dirty="0"/>
          </a:p>
        </p:txBody>
      </p:sp>
      <p:sp>
        <p:nvSpPr>
          <p:cNvPr id="49" name="Shape 37"/>
          <p:cNvSpPr/>
          <p:nvPr/>
        </p:nvSpPr>
        <p:spPr>
          <a:xfrm>
            <a:off x="6108192" y="3557016"/>
            <a:ext cx="1124712" cy="438912"/>
          </a:xfrm>
          <a:prstGeom prst="roundRect">
            <a:avLst>
              <a:gd name="adj" fmla="val 12500"/>
            </a:avLst>
          </a:prstGeom>
          <a:solidFill>
            <a:srgbClr val="1B2A4A"/>
          </a:solidFill>
          <a:ln w="12700">
            <a:solidFill>
              <a:srgbClr val="1B2A4A"/>
            </a:solidFill>
            <a:prstDash val="solid"/>
          </a:ln>
        </p:spPr>
      </p:sp>
      <p:sp>
        <p:nvSpPr>
          <p:cNvPr id="50" name="Text 38"/>
          <p:cNvSpPr txBox="1"/>
          <p:nvPr/>
        </p:nvSpPr>
        <p:spPr>
          <a:xfrm>
            <a:off x="6108192" y="3557016"/>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GitHub</a:t>
            </a:r>
            <a:endParaRPr lang="en-US" sz="1000" dirty="0"/>
          </a:p>
        </p:txBody>
      </p:sp>
      <p:sp>
        <p:nvSpPr>
          <p:cNvPr id="51" name="Shape 39"/>
          <p:cNvSpPr/>
          <p:nvPr/>
        </p:nvSpPr>
        <p:spPr>
          <a:xfrm>
            <a:off x="7324344" y="3557016"/>
            <a:ext cx="1124712" cy="438912"/>
          </a:xfrm>
          <a:prstGeom prst="roundRect">
            <a:avLst>
              <a:gd name="adj" fmla="val 12500"/>
            </a:avLst>
          </a:prstGeom>
          <a:solidFill>
            <a:srgbClr val="1B2A4A"/>
          </a:solidFill>
          <a:ln w="12700">
            <a:solidFill>
              <a:srgbClr val="1B2A4A"/>
            </a:solidFill>
            <a:prstDash val="solid"/>
          </a:ln>
        </p:spPr>
      </p:sp>
      <p:sp>
        <p:nvSpPr>
          <p:cNvPr id="52" name="Text 40"/>
          <p:cNvSpPr txBox="1"/>
          <p:nvPr/>
        </p:nvSpPr>
        <p:spPr>
          <a:xfrm>
            <a:off x="7324344" y="3557016"/>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Docker</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The problem, and what the MVP proves</a:t>
            </a:r>
            <a:endParaRPr lang="en-US" sz="2400" dirty="0"/>
          </a:p>
        </p:txBody>
      </p:sp>
      <p:sp>
        <p:nvSpPr>
          <p:cNvPr id="4" name="Shape 1"/>
          <p:cNvSpPr/>
          <p:nvPr/>
        </p:nvSpPr>
        <p:spPr>
          <a:xfrm>
            <a:off x="457200" y="914400"/>
            <a:ext cx="3931920" cy="1078992"/>
          </a:xfrm>
          <a:prstGeom prst="roundRect">
            <a:avLst>
              <a:gd name="adj" fmla="val 5085"/>
            </a:avLst>
          </a:prstGeom>
          <a:solidFill>
            <a:srgbClr val="FBE9E7"/>
          </a:solidFill>
          <a:ln w="12700">
            <a:solidFill>
              <a:srgbClr val="FBE9E7"/>
            </a:solidFill>
            <a:prstDash val="solid"/>
          </a:ln>
        </p:spPr>
      </p:sp>
      <p:sp>
        <p:nvSpPr>
          <p:cNvPr id="5" name="Shape 2"/>
          <p:cNvSpPr/>
          <p:nvPr/>
        </p:nvSpPr>
        <p:spPr>
          <a:xfrm>
            <a:off x="640080" y="1161288"/>
            <a:ext cx="585216" cy="585216"/>
          </a:xfrm>
          <a:prstGeom prst="ellipse">
            <a:avLst/>
          </a:prstGeom>
          <a:solidFill>
            <a:srgbClr val="C0392B"/>
          </a:solidFill>
          <a:ln w="12700">
            <a:solidFill>
              <a:srgbClr val="C0392B"/>
            </a:solidFill>
            <a:prstDash val="solid"/>
          </a:ln>
        </p:spPr>
      </p:sp>
      <p:pic>
        <p:nvPicPr>
          <p:cNvPr id="6" name="Image 1" descr="preencoded.png">    </p:cNvPr>
          <p:cNvPicPr>
            <a:picLocks noChangeAspect="1"/>
          </p:cNvPicPr>
          <p:nvPr/>
        </p:nvPicPr>
        <p:blipFill>
          <a:blip r:embed="rId2"/>
          <a:stretch>
            <a:fillRect/>
          </a:stretch>
        </p:blipFill>
        <p:spPr>
          <a:xfrm>
            <a:off x="768828" y="1290036"/>
            <a:ext cx="327721" cy="327721"/>
          </a:xfrm>
          <a:prstGeom prst="rect">
            <a:avLst/>
          </a:prstGeom>
        </p:spPr>
      </p:pic>
      <p:sp>
        <p:nvSpPr>
          <p:cNvPr id="7" name="Text 3"/>
          <p:cNvSpPr txBox="1"/>
          <p:nvPr/>
        </p:nvSpPr>
        <p:spPr>
          <a:xfrm>
            <a:off x="1417320" y="914400"/>
            <a:ext cx="2880360" cy="1078992"/>
          </a:xfrm>
          <a:prstGeom prst="rect">
            <a:avLst/>
          </a:prstGeom>
          <a:noFill/>
          <a:ln/>
        </p:spPr>
        <p:txBody>
          <a:bodyPr wrap="square" lIns="0" tIns="0" rIns="0" bIns="0" rtlCol="0" anchor="ctr"/>
          <a:lstStyle/>
          <a:p>
            <a:pPr indent="0" marL="0">
              <a:buNone/>
            </a:pPr>
            <a:r>
              <a:rPr lang="en-US" sz="1500" b="1" dirty="0">
                <a:solidFill>
                  <a:srgbClr val="C0392B"/>
                </a:solidFill>
              </a:rPr>
              <a:t>Too much access</a:t>
            </a:r>
            <a:endParaRPr lang="en-US" sz="1500" dirty="0"/>
          </a:p>
          <a:p>
            <a:pPr indent="0" marL="0">
              <a:buNone/>
            </a:pPr>
            <a:r>
              <a:rPr lang="en-US" sz="1100" dirty="0">
                <a:solidFill>
                  <a:srgbClr val="1F2937"/>
                </a:solidFill>
              </a:rPr>
              <a:t>Movers keep old access</a:t>
            </a:r>
            <a:endParaRPr lang="en-US" sz="1500" dirty="0"/>
          </a:p>
        </p:txBody>
      </p:sp>
      <p:sp>
        <p:nvSpPr>
          <p:cNvPr id="8" name="Shape 4"/>
          <p:cNvSpPr/>
          <p:nvPr/>
        </p:nvSpPr>
        <p:spPr>
          <a:xfrm>
            <a:off x="457200" y="2130552"/>
            <a:ext cx="3931920" cy="1078992"/>
          </a:xfrm>
          <a:prstGeom prst="roundRect">
            <a:avLst>
              <a:gd name="adj" fmla="val 5085"/>
            </a:avLst>
          </a:prstGeom>
          <a:solidFill>
            <a:srgbClr val="FBE9E7"/>
          </a:solidFill>
          <a:ln w="12700">
            <a:solidFill>
              <a:srgbClr val="FBE9E7"/>
            </a:solidFill>
            <a:prstDash val="solid"/>
          </a:ln>
        </p:spPr>
      </p:sp>
      <p:sp>
        <p:nvSpPr>
          <p:cNvPr id="9" name="Shape 5"/>
          <p:cNvSpPr/>
          <p:nvPr/>
        </p:nvSpPr>
        <p:spPr>
          <a:xfrm>
            <a:off x="640080" y="2377440"/>
            <a:ext cx="585216" cy="585216"/>
          </a:xfrm>
          <a:prstGeom prst="ellipse">
            <a:avLst/>
          </a:prstGeom>
          <a:solidFill>
            <a:srgbClr val="C0392B"/>
          </a:solidFill>
          <a:ln w="12700">
            <a:solidFill>
              <a:srgbClr val="C0392B"/>
            </a:solidFill>
            <a:prstDash val="solid"/>
          </a:ln>
        </p:spPr>
      </p:sp>
      <p:pic>
        <p:nvPicPr>
          <p:cNvPr id="10" name="Image 2" descr="preencoded.png">    </p:cNvPr>
          <p:cNvPicPr>
            <a:picLocks noChangeAspect="1"/>
          </p:cNvPicPr>
          <p:nvPr/>
        </p:nvPicPr>
        <p:blipFill>
          <a:blip r:embed="rId3"/>
          <a:stretch>
            <a:fillRect/>
          </a:stretch>
        </p:blipFill>
        <p:spPr>
          <a:xfrm>
            <a:off x="768828" y="2506188"/>
            <a:ext cx="327721" cy="327721"/>
          </a:xfrm>
          <a:prstGeom prst="rect">
            <a:avLst/>
          </a:prstGeom>
        </p:spPr>
      </p:pic>
      <p:sp>
        <p:nvSpPr>
          <p:cNvPr id="11" name="Text 6"/>
          <p:cNvSpPr txBox="1"/>
          <p:nvPr/>
        </p:nvSpPr>
        <p:spPr>
          <a:xfrm>
            <a:off x="1417320" y="2130552"/>
            <a:ext cx="2880360" cy="1078992"/>
          </a:xfrm>
          <a:prstGeom prst="rect">
            <a:avLst/>
          </a:prstGeom>
          <a:noFill/>
          <a:ln/>
        </p:spPr>
        <p:txBody>
          <a:bodyPr wrap="square" lIns="0" tIns="0" rIns="0" bIns="0" rtlCol="0" anchor="ctr"/>
          <a:lstStyle/>
          <a:p>
            <a:pPr indent="0" marL="0">
              <a:buNone/>
            </a:pPr>
            <a:r>
              <a:rPr lang="en-US" sz="1500" b="1" dirty="0">
                <a:solidFill>
                  <a:srgbClr val="C0392B"/>
                </a:solidFill>
              </a:rPr>
              <a:t>Access that never ends</a:t>
            </a:r>
            <a:endParaRPr lang="en-US" sz="1500" dirty="0"/>
          </a:p>
          <a:p>
            <a:pPr indent="0" marL="0">
              <a:buNone/>
            </a:pPr>
            <a:r>
              <a:rPr lang="en-US" sz="1100" dirty="0">
                <a:solidFill>
                  <a:srgbClr val="1F2937"/>
                </a:solidFill>
              </a:rPr>
              <a:t>Leavers can still sign in</a:t>
            </a:r>
            <a:endParaRPr lang="en-US" sz="1500" dirty="0"/>
          </a:p>
        </p:txBody>
      </p:sp>
      <p:sp>
        <p:nvSpPr>
          <p:cNvPr id="12" name="Shape 7"/>
          <p:cNvSpPr/>
          <p:nvPr/>
        </p:nvSpPr>
        <p:spPr>
          <a:xfrm>
            <a:off x="457200" y="3346704"/>
            <a:ext cx="3931920" cy="1078992"/>
          </a:xfrm>
          <a:prstGeom prst="roundRect">
            <a:avLst>
              <a:gd name="adj" fmla="val 5085"/>
            </a:avLst>
          </a:prstGeom>
          <a:solidFill>
            <a:srgbClr val="FBE9E7"/>
          </a:solidFill>
          <a:ln w="12700">
            <a:solidFill>
              <a:srgbClr val="FBE9E7"/>
            </a:solidFill>
            <a:prstDash val="solid"/>
          </a:ln>
        </p:spPr>
      </p:sp>
      <p:sp>
        <p:nvSpPr>
          <p:cNvPr id="13" name="Shape 8"/>
          <p:cNvSpPr/>
          <p:nvPr/>
        </p:nvSpPr>
        <p:spPr>
          <a:xfrm>
            <a:off x="640080" y="3593592"/>
            <a:ext cx="585216" cy="585216"/>
          </a:xfrm>
          <a:prstGeom prst="ellipse">
            <a:avLst/>
          </a:prstGeom>
          <a:solidFill>
            <a:srgbClr val="C0392B"/>
          </a:solidFill>
          <a:ln w="12700">
            <a:solidFill>
              <a:srgbClr val="C0392B"/>
            </a:solidFill>
            <a:prstDash val="solid"/>
          </a:ln>
        </p:spPr>
      </p:sp>
      <p:pic>
        <p:nvPicPr>
          <p:cNvPr id="14" name="Image 3" descr="preencoded.png">    </p:cNvPr>
          <p:cNvPicPr>
            <a:picLocks noChangeAspect="1"/>
          </p:cNvPicPr>
          <p:nvPr/>
        </p:nvPicPr>
        <p:blipFill>
          <a:blip r:embed="rId4"/>
          <a:stretch>
            <a:fillRect/>
          </a:stretch>
        </p:blipFill>
        <p:spPr>
          <a:xfrm>
            <a:off x="768828" y="3722340"/>
            <a:ext cx="327721" cy="327721"/>
          </a:xfrm>
          <a:prstGeom prst="rect">
            <a:avLst/>
          </a:prstGeom>
        </p:spPr>
      </p:pic>
      <p:sp>
        <p:nvSpPr>
          <p:cNvPr id="15" name="Text 9"/>
          <p:cNvSpPr txBox="1"/>
          <p:nvPr/>
        </p:nvSpPr>
        <p:spPr>
          <a:xfrm>
            <a:off x="1417320" y="3346704"/>
            <a:ext cx="2880360" cy="1078992"/>
          </a:xfrm>
          <a:prstGeom prst="rect">
            <a:avLst/>
          </a:prstGeom>
          <a:noFill/>
          <a:ln/>
        </p:spPr>
        <p:txBody>
          <a:bodyPr wrap="square" lIns="0" tIns="0" rIns="0" bIns="0" rtlCol="0" anchor="ctr"/>
          <a:lstStyle/>
          <a:p>
            <a:pPr indent="0" marL="0">
              <a:buNone/>
            </a:pPr>
            <a:r>
              <a:rPr lang="en-US" sz="1500" b="1" dirty="0">
                <a:solidFill>
                  <a:srgbClr val="C0392B"/>
                </a:solidFill>
              </a:rPr>
              <a:t>No proof</a:t>
            </a:r>
            <a:endParaRPr lang="en-US" sz="1500" dirty="0"/>
          </a:p>
          <a:p>
            <a:pPr indent="0" marL="0">
              <a:buNone/>
            </a:pPr>
            <a:r>
              <a:rPr lang="en-US" sz="1100" dirty="0">
                <a:solidFill>
                  <a:srgbClr val="1F2937"/>
                </a:solidFill>
              </a:rPr>
              <a:t>No record of who approved what</a:t>
            </a:r>
            <a:endParaRPr lang="en-US" sz="1500" dirty="0"/>
          </a:p>
        </p:txBody>
      </p:sp>
      <p:sp>
        <p:nvSpPr>
          <p:cNvPr id="16" name="Text 10"/>
          <p:cNvSpPr txBox="1"/>
          <p:nvPr/>
        </p:nvSpPr>
        <p:spPr>
          <a:xfrm>
            <a:off x="4709160" y="868680"/>
            <a:ext cx="3977640" cy="320040"/>
          </a:xfrm>
          <a:prstGeom prst="rect">
            <a:avLst/>
          </a:prstGeom>
          <a:noFill/>
          <a:ln/>
        </p:spPr>
        <p:txBody>
          <a:bodyPr wrap="square" lIns="0" tIns="0" rIns="0" bIns="0" rtlCol="0" anchor="ctr"/>
          <a:lstStyle/>
          <a:p>
            <a:pPr indent="0" marL="0">
              <a:buNone/>
            </a:pPr>
            <a:r>
              <a:rPr lang="en-US" sz="1400" b="1" dirty="0">
                <a:solidFill>
                  <a:srgbClr val="1B2A4A"/>
                </a:solidFill>
              </a:rPr>
              <a:t>MVP success criteria</a:t>
            </a:r>
            <a:endParaRPr lang="en-US" sz="1400" dirty="0"/>
          </a:p>
        </p:txBody>
      </p:sp>
      <p:sp>
        <p:nvSpPr>
          <p:cNvPr id="17" name="Shape 11"/>
          <p:cNvSpPr/>
          <p:nvPr/>
        </p:nvSpPr>
        <p:spPr>
          <a:xfrm>
            <a:off x="4709160" y="1298448"/>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8" name="Shape 12"/>
          <p:cNvSpPr/>
          <p:nvPr/>
        </p:nvSpPr>
        <p:spPr>
          <a:xfrm>
            <a:off x="4818888" y="1389888"/>
            <a:ext cx="365760" cy="365760"/>
          </a:xfrm>
          <a:prstGeom prst="ellipse">
            <a:avLst/>
          </a:prstGeom>
          <a:solidFill>
            <a:srgbClr val="1B2A4A"/>
          </a:solidFill>
          <a:ln w="12700">
            <a:solidFill>
              <a:srgbClr val="1B2A4A"/>
            </a:solidFill>
            <a:prstDash val="solid"/>
          </a:ln>
        </p:spPr>
      </p:sp>
      <p:pic>
        <p:nvPicPr>
          <p:cNvPr id="19" name="Image 4" descr="preencoded.png">    </p:cNvPr>
          <p:cNvPicPr>
            <a:picLocks noChangeAspect="1"/>
          </p:cNvPicPr>
          <p:nvPr/>
        </p:nvPicPr>
        <p:blipFill>
          <a:blip r:embed="rId5"/>
          <a:stretch>
            <a:fillRect/>
          </a:stretch>
        </p:blipFill>
        <p:spPr>
          <a:xfrm>
            <a:off x="4899355" y="1470355"/>
            <a:ext cx="204826" cy="204826"/>
          </a:xfrm>
          <a:prstGeom prst="rect">
            <a:avLst/>
          </a:prstGeom>
        </p:spPr>
      </p:pic>
      <p:sp>
        <p:nvSpPr>
          <p:cNvPr id="20" name="Text 13"/>
          <p:cNvSpPr txBox="1"/>
          <p:nvPr/>
        </p:nvSpPr>
        <p:spPr>
          <a:xfrm>
            <a:off x="5303520" y="1298448"/>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IAM</a:t>
            </a:r>
            <a:endParaRPr lang="en-US" sz="1300" dirty="0"/>
          </a:p>
        </p:txBody>
      </p:sp>
      <p:sp>
        <p:nvSpPr>
          <p:cNvPr id="21" name="Shape 14"/>
          <p:cNvSpPr/>
          <p:nvPr/>
        </p:nvSpPr>
        <p:spPr>
          <a:xfrm>
            <a:off x="7498080" y="1426464"/>
            <a:ext cx="1078992" cy="292608"/>
          </a:xfrm>
          <a:prstGeom prst="roundRect">
            <a:avLst>
              <a:gd name="adj" fmla="val 18750"/>
            </a:avLst>
          </a:prstGeom>
          <a:solidFill>
            <a:srgbClr val="2E8B57"/>
          </a:solidFill>
          <a:ln w="12700">
            <a:solidFill>
              <a:srgbClr val="2E8B57"/>
            </a:solidFill>
            <a:prstDash val="solid"/>
          </a:ln>
        </p:spPr>
      </p:sp>
      <p:sp>
        <p:nvSpPr>
          <p:cNvPr id="22" name="Text 15"/>
          <p:cNvSpPr txBox="1"/>
          <p:nvPr/>
        </p:nvSpPr>
        <p:spPr>
          <a:xfrm>
            <a:off x="7498080" y="1426464"/>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23" name="Shape 16"/>
          <p:cNvSpPr/>
          <p:nvPr/>
        </p:nvSpPr>
        <p:spPr>
          <a:xfrm>
            <a:off x="4709160" y="1956816"/>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4" name="Shape 17"/>
          <p:cNvSpPr/>
          <p:nvPr/>
        </p:nvSpPr>
        <p:spPr>
          <a:xfrm>
            <a:off x="4818888" y="2048256"/>
            <a:ext cx="365760" cy="365760"/>
          </a:xfrm>
          <a:prstGeom prst="ellipse">
            <a:avLst/>
          </a:prstGeom>
          <a:solidFill>
            <a:srgbClr val="1B2A4A"/>
          </a:solidFill>
          <a:ln w="12700">
            <a:solidFill>
              <a:srgbClr val="1B2A4A"/>
            </a:solidFill>
            <a:prstDash val="solid"/>
          </a:ln>
        </p:spPr>
      </p:sp>
      <p:pic>
        <p:nvPicPr>
          <p:cNvPr id="25" name="Image 5" descr="preencoded.png">    </p:cNvPr>
          <p:cNvPicPr>
            <a:picLocks noChangeAspect="1"/>
          </p:cNvPicPr>
          <p:nvPr/>
        </p:nvPicPr>
        <p:blipFill>
          <a:blip r:embed="rId6"/>
          <a:stretch>
            <a:fillRect/>
          </a:stretch>
        </p:blipFill>
        <p:spPr>
          <a:xfrm>
            <a:off x="4899355" y="2128723"/>
            <a:ext cx="204826" cy="204826"/>
          </a:xfrm>
          <a:prstGeom prst="rect">
            <a:avLst/>
          </a:prstGeom>
        </p:spPr>
      </p:pic>
      <p:sp>
        <p:nvSpPr>
          <p:cNvPr id="26" name="Text 18"/>
          <p:cNvSpPr txBox="1"/>
          <p:nvPr/>
        </p:nvSpPr>
        <p:spPr>
          <a:xfrm>
            <a:off x="5303520" y="1956816"/>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Monitoring</a:t>
            </a:r>
            <a:endParaRPr lang="en-US" sz="1300" dirty="0"/>
          </a:p>
        </p:txBody>
      </p:sp>
      <p:sp>
        <p:nvSpPr>
          <p:cNvPr id="27" name="Shape 19"/>
          <p:cNvSpPr/>
          <p:nvPr/>
        </p:nvSpPr>
        <p:spPr>
          <a:xfrm>
            <a:off x="7498080" y="2084832"/>
            <a:ext cx="1078992" cy="292608"/>
          </a:xfrm>
          <a:prstGeom prst="roundRect">
            <a:avLst>
              <a:gd name="adj" fmla="val 18750"/>
            </a:avLst>
          </a:prstGeom>
          <a:solidFill>
            <a:srgbClr val="2E8B57"/>
          </a:solidFill>
          <a:ln w="12700">
            <a:solidFill>
              <a:srgbClr val="2E8B57"/>
            </a:solidFill>
            <a:prstDash val="solid"/>
          </a:ln>
        </p:spPr>
      </p:sp>
      <p:sp>
        <p:nvSpPr>
          <p:cNvPr id="28" name="Text 20"/>
          <p:cNvSpPr txBox="1"/>
          <p:nvPr/>
        </p:nvSpPr>
        <p:spPr>
          <a:xfrm>
            <a:off x="7498080" y="2084832"/>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29" name="Shape 21"/>
          <p:cNvSpPr/>
          <p:nvPr/>
        </p:nvSpPr>
        <p:spPr>
          <a:xfrm>
            <a:off x="4709160" y="2615184"/>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0" name="Shape 22"/>
          <p:cNvSpPr/>
          <p:nvPr/>
        </p:nvSpPr>
        <p:spPr>
          <a:xfrm>
            <a:off x="4818888" y="2706624"/>
            <a:ext cx="365760" cy="365760"/>
          </a:xfrm>
          <a:prstGeom prst="ellipse">
            <a:avLst/>
          </a:prstGeom>
          <a:solidFill>
            <a:srgbClr val="1B2A4A"/>
          </a:solidFill>
          <a:ln w="12700">
            <a:solidFill>
              <a:srgbClr val="1B2A4A"/>
            </a:solidFill>
            <a:prstDash val="solid"/>
          </a:ln>
        </p:spPr>
      </p:sp>
      <p:pic>
        <p:nvPicPr>
          <p:cNvPr id="31" name="Image 6" descr="preencoded.png">    </p:cNvPr>
          <p:cNvPicPr>
            <a:picLocks noChangeAspect="1"/>
          </p:cNvPicPr>
          <p:nvPr/>
        </p:nvPicPr>
        <p:blipFill>
          <a:blip r:embed="rId7"/>
          <a:stretch>
            <a:fillRect/>
          </a:stretch>
        </p:blipFill>
        <p:spPr>
          <a:xfrm>
            <a:off x="4899355" y="2787091"/>
            <a:ext cx="204826" cy="204826"/>
          </a:xfrm>
          <a:prstGeom prst="rect">
            <a:avLst/>
          </a:prstGeom>
        </p:spPr>
      </p:pic>
      <p:sp>
        <p:nvSpPr>
          <p:cNvPr id="32" name="Text 23"/>
          <p:cNvSpPr txBox="1"/>
          <p:nvPr/>
        </p:nvSpPr>
        <p:spPr>
          <a:xfrm>
            <a:off x="5303520" y="2615184"/>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Incident response</a:t>
            </a:r>
            <a:endParaRPr lang="en-US" sz="1300" dirty="0"/>
          </a:p>
        </p:txBody>
      </p:sp>
      <p:sp>
        <p:nvSpPr>
          <p:cNvPr id="33" name="Shape 24"/>
          <p:cNvSpPr/>
          <p:nvPr/>
        </p:nvSpPr>
        <p:spPr>
          <a:xfrm>
            <a:off x="7498080" y="2743200"/>
            <a:ext cx="1078992" cy="292608"/>
          </a:xfrm>
          <a:prstGeom prst="roundRect">
            <a:avLst>
              <a:gd name="adj" fmla="val 18750"/>
            </a:avLst>
          </a:prstGeom>
          <a:solidFill>
            <a:srgbClr val="2E8B57"/>
          </a:solidFill>
          <a:ln w="12700">
            <a:solidFill>
              <a:srgbClr val="2E8B57"/>
            </a:solidFill>
            <a:prstDash val="solid"/>
          </a:ln>
        </p:spPr>
      </p:sp>
      <p:sp>
        <p:nvSpPr>
          <p:cNvPr id="34" name="Text 25"/>
          <p:cNvSpPr txBox="1"/>
          <p:nvPr/>
        </p:nvSpPr>
        <p:spPr>
          <a:xfrm>
            <a:off x="7498080" y="2743200"/>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35" name="Shape 26"/>
          <p:cNvSpPr/>
          <p:nvPr/>
        </p:nvSpPr>
        <p:spPr>
          <a:xfrm>
            <a:off x="4709160" y="3273552"/>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6" name="Shape 27"/>
          <p:cNvSpPr/>
          <p:nvPr/>
        </p:nvSpPr>
        <p:spPr>
          <a:xfrm>
            <a:off x="4818888" y="3364992"/>
            <a:ext cx="365760" cy="365760"/>
          </a:xfrm>
          <a:prstGeom prst="ellipse">
            <a:avLst/>
          </a:prstGeom>
          <a:solidFill>
            <a:srgbClr val="1B2A4A"/>
          </a:solidFill>
          <a:ln w="12700">
            <a:solidFill>
              <a:srgbClr val="1B2A4A"/>
            </a:solidFill>
            <a:prstDash val="solid"/>
          </a:ln>
        </p:spPr>
      </p:sp>
      <p:pic>
        <p:nvPicPr>
          <p:cNvPr id="37" name="Image 7" descr="preencoded.png">    </p:cNvPr>
          <p:cNvPicPr>
            <a:picLocks noChangeAspect="1"/>
          </p:cNvPicPr>
          <p:nvPr/>
        </p:nvPicPr>
        <p:blipFill>
          <a:blip r:embed="rId8"/>
          <a:stretch>
            <a:fillRect/>
          </a:stretch>
        </p:blipFill>
        <p:spPr>
          <a:xfrm>
            <a:off x="4899355" y="3445459"/>
            <a:ext cx="204826" cy="204826"/>
          </a:xfrm>
          <a:prstGeom prst="rect">
            <a:avLst/>
          </a:prstGeom>
        </p:spPr>
      </p:pic>
      <p:sp>
        <p:nvSpPr>
          <p:cNvPr id="38" name="Text 28"/>
          <p:cNvSpPr txBox="1"/>
          <p:nvPr/>
        </p:nvSpPr>
        <p:spPr>
          <a:xfrm>
            <a:off x="5303520" y="3273552"/>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GRC</a:t>
            </a:r>
            <a:endParaRPr lang="en-US" sz="1300" dirty="0"/>
          </a:p>
        </p:txBody>
      </p:sp>
      <p:sp>
        <p:nvSpPr>
          <p:cNvPr id="39" name="Shape 29"/>
          <p:cNvSpPr/>
          <p:nvPr/>
        </p:nvSpPr>
        <p:spPr>
          <a:xfrm>
            <a:off x="7498080" y="3401568"/>
            <a:ext cx="1078992" cy="292608"/>
          </a:xfrm>
          <a:prstGeom prst="roundRect">
            <a:avLst>
              <a:gd name="adj" fmla="val 18750"/>
            </a:avLst>
          </a:prstGeom>
          <a:solidFill>
            <a:srgbClr val="2E8B57"/>
          </a:solidFill>
          <a:ln w="12700">
            <a:solidFill>
              <a:srgbClr val="2E8B57"/>
            </a:solidFill>
            <a:prstDash val="solid"/>
          </a:ln>
        </p:spPr>
      </p:sp>
      <p:sp>
        <p:nvSpPr>
          <p:cNvPr id="40" name="Text 30"/>
          <p:cNvSpPr txBox="1"/>
          <p:nvPr/>
        </p:nvSpPr>
        <p:spPr>
          <a:xfrm>
            <a:off x="7498080" y="3401568"/>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41" name="Shape 31"/>
          <p:cNvSpPr/>
          <p:nvPr/>
        </p:nvSpPr>
        <p:spPr>
          <a:xfrm>
            <a:off x="4709160" y="3931920"/>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42" name="Shape 32"/>
          <p:cNvSpPr/>
          <p:nvPr/>
        </p:nvSpPr>
        <p:spPr>
          <a:xfrm>
            <a:off x="4818888" y="4023360"/>
            <a:ext cx="365760" cy="365760"/>
          </a:xfrm>
          <a:prstGeom prst="ellipse">
            <a:avLst/>
          </a:prstGeom>
          <a:solidFill>
            <a:srgbClr val="1B2A4A"/>
          </a:solidFill>
          <a:ln w="12700">
            <a:solidFill>
              <a:srgbClr val="1B2A4A"/>
            </a:solidFill>
            <a:prstDash val="solid"/>
          </a:ln>
        </p:spPr>
      </p:sp>
      <p:pic>
        <p:nvPicPr>
          <p:cNvPr id="43" name="Image 8" descr="preencoded.png">    </p:cNvPr>
          <p:cNvPicPr>
            <a:picLocks noChangeAspect="1"/>
          </p:cNvPicPr>
          <p:nvPr/>
        </p:nvPicPr>
        <p:blipFill>
          <a:blip r:embed="rId9"/>
          <a:stretch>
            <a:fillRect/>
          </a:stretch>
        </p:blipFill>
        <p:spPr>
          <a:xfrm>
            <a:off x="4899355" y="4103827"/>
            <a:ext cx="204826" cy="204826"/>
          </a:xfrm>
          <a:prstGeom prst="rect">
            <a:avLst/>
          </a:prstGeom>
        </p:spPr>
      </p:pic>
      <p:sp>
        <p:nvSpPr>
          <p:cNvPr id="44" name="Text 33"/>
          <p:cNvSpPr txBox="1"/>
          <p:nvPr/>
        </p:nvSpPr>
        <p:spPr>
          <a:xfrm>
            <a:off x="5303520" y="3931920"/>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Reporting</a:t>
            </a:r>
            <a:endParaRPr lang="en-US" sz="1300" dirty="0"/>
          </a:p>
        </p:txBody>
      </p:sp>
      <p:sp>
        <p:nvSpPr>
          <p:cNvPr id="45" name="Shape 34"/>
          <p:cNvSpPr/>
          <p:nvPr/>
        </p:nvSpPr>
        <p:spPr>
          <a:xfrm>
            <a:off x="7498080" y="4059936"/>
            <a:ext cx="1078992" cy="292608"/>
          </a:xfrm>
          <a:prstGeom prst="roundRect">
            <a:avLst>
              <a:gd name="adj" fmla="val 18750"/>
            </a:avLst>
          </a:prstGeom>
          <a:solidFill>
            <a:srgbClr val="F2A900"/>
          </a:solidFill>
          <a:ln w="12700">
            <a:solidFill>
              <a:srgbClr val="F2A900"/>
            </a:solidFill>
            <a:prstDash val="solid"/>
          </a:ln>
        </p:spPr>
      </p:sp>
      <p:sp>
        <p:nvSpPr>
          <p:cNvPr id="46" name="Text 35"/>
          <p:cNvSpPr txBox="1"/>
          <p:nvPr/>
        </p:nvSpPr>
        <p:spPr>
          <a:xfrm>
            <a:off x="7498080" y="4059936"/>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Dataset ready</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Architecture: from design to build</a:t>
            </a:r>
            <a:endParaRPr lang="en-US" sz="2400" dirty="0"/>
          </a:p>
        </p:txBody>
      </p:sp>
      <p:pic>
        <p:nvPicPr>
          <p:cNvPr id="4" name="Image 1" descr="/home/claude/deck/img/design_architecture.png">    </p:cNvPr>
          <p:cNvPicPr>
            <a:picLocks noChangeAspect="1"/>
          </p:cNvPicPr>
          <p:nvPr/>
        </p:nvPicPr>
        <p:blipFill>
          <a:blip r:embed="rId2"/>
          <a:stretch>
            <a:fillRect/>
          </a:stretch>
        </p:blipFill>
        <p:spPr>
          <a:xfrm>
            <a:off x="457200" y="822960"/>
            <a:ext cx="4480560" cy="3808476"/>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4617720"/>
            <a:ext cx="4480560" cy="182880"/>
          </a:xfrm>
          <a:prstGeom prst="rect">
            <a:avLst/>
          </a:prstGeom>
          <a:noFill/>
          <a:ln/>
        </p:spPr>
        <p:txBody>
          <a:bodyPr wrap="square" lIns="0" tIns="0" rIns="0" bIns="0" rtlCol="0" anchor="ctr"/>
          <a:lstStyle/>
          <a:p>
            <a:pPr indent="0" marL="0">
              <a:buNone/>
            </a:pPr>
            <a:r>
              <a:rPr lang="en-US" sz="850" i="1" dirty="0">
                <a:solidFill>
                  <a:srgbClr val="5A6B85"/>
                </a:solidFill>
              </a:rPr>
              <a:t>Project Design Document, section 7</a:t>
            </a:r>
            <a:endParaRPr lang="en-US" sz="850" dirty="0"/>
          </a:p>
        </p:txBody>
      </p:sp>
      <p:sp>
        <p:nvSpPr>
          <p:cNvPr id="6" name="Text 2"/>
          <p:cNvSpPr txBox="1"/>
          <p:nvPr/>
        </p:nvSpPr>
        <p:spPr>
          <a:xfrm>
            <a:off x="5257800" y="841248"/>
            <a:ext cx="3383280" cy="292608"/>
          </a:xfrm>
          <a:prstGeom prst="rect">
            <a:avLst/>
          </a:prstGeom>
          <a:noFill/>
          <a:ln/>
        </p:spPr>
        <p:txBody>
          <a:bodyPr wrap="square" lIns="0" tIns="0" rIns="0" bIns="0" rtlCol="0" anchor="ctr"/>
          <a:lstStyle/>
          <a:p>
            <a:pPr indent="0" marL="0">
              <a:buNone/>
            </a:pPr>
            <a:r>
              <a:rPr lang="en-US" sz="1400" b="1" dirty="0">
                <a:solidFill>
                  <a:srgbClr val="1B2A4A"/>
                </a:solidFill>
              </a:rPr>
              <a:t>Built with</a:t>
            </a:r>
            <a:endParaRPr lang="en-US" sz="1400" dirty="0"/>
          </a:p>
        </p:txBody>
      </p:sp>
      <p:sp>
        <p:nvSpPr>
          <p:cNvPr id="7" name="Shape 3"/>
          <p:cNvSpPr/>
          <p:nvPr/>
        </p:nvSpPr>
        <p:spPr>
          <a:xfrm>
            <a:off x="5257800" y="1271016"/>
            <a:ext cx="402336" cy="402336"/>
          </a:xfrm>
          <a:prstGeom prst="ellipse">
            <a:avLst/>
          </a:prstGeom>
          <a:solidFill>
            <a:srgbClr val="2E6FB7"/>
          </a:solidFill>
          <a:ln w="12700">
            <a:solidFill>
              <a:srgbClr val="2E6FB7"/>
            </a:solidFill>
            <a:prstDash val="solid"/>
          </a:ln>
        </p:spPr>
      </p:sp>
      <p:pic>
        <p:nvPicPr>
          <p:cNvPr id="8" name="Image 2" descr="preencoded.png">    </p:cNvPr>
          <p:cNvPicPr>
            <a:picLocks noChangeAspect="1"/>
          </p:cNvPicPr>
          <p:nvPr/>
        </p:nvPicPr>
        <p:blipFill>
          <a:blip r:embed="rId3"/>
          <a:stretch>
            <a:fillRect/>
          </a:stretch>
        </p:blipFill>
        <p:spPr>
          <a:xfrm>
            <a:off x="5346314" y="1359530"/>
            <a:ext cx="225308" cy="225308"/>
          </a:xfrm>
          <a:prstGeom prst="rect">
            <a:avLst/>
          </a:prstGeom>
        </p:spPr>
      </p:pic>
      <p:sp>
        <p:nvSpPr>
          <p:cNvPr id="9" name="Text 4"/>
          <p:cNvSpPr txBox="1"/>
          <p:nvPr/>
        </p:nvSpPr>
        <p:spPr>
          <a:xfrm>
            <a:off x="5779008" y="1234440"/>
            <a:ext cx="2926080" cy="475488"/>
          </a:xfrm>
          <a:prstGeom prst="rect">
            <a:avLst/>
          </a:prstGeom>
          <a:noFill/>
          <a:ln/>
        </p:spPr>
        <p:txBody>
          <a:bodyPr wrap="square" lIns="0" tIns="0" rIns="0" bIns="0" rtlCol="0" anchor="ctr"/>
          <a:lstStyle/>
          <a:p>
            <a:pPr indent="0" marL="0">
              <a:buNone/>
            </a:pPr>
            <a:r>
              <a:rPr lang="en-US" sz="1300" b="1" dirty="0">
                <a:solidFill>
                  <a:srgbClr val="1B2A4A"/>
                </a:solidFill>
              </a:rPr>
              <a:t>Entra ID + Keycloak</a:t>
            </a:r>
            <a:endParaRPr lang="en-US" sz="1300" dirty="0"/>
          </a:p>
        </p:txBody>
      </p:sp>
      <p:sp>
        <p:nvSpPr>
          <p:cNvPr id="10" name="Shape 5"/>
          <p:cNvSpPr/>
          <p:nvPr/>
        </p:nvSpPr>
        <p:spPr>
          <a:xfrm>
            <a:off x="5257800" y="1837944"/>
            <a:ext cx="402336" cy="402336"/>
          </a:xfrm>
          <a:prstGeom prst="ellipse">
            <a:avLst/>
          </a:prstGeom>
          <a:solidFill>
            <a:srgbClr val="2E6FB7"/>
          </a:solidFill>
          <a:ln w="12700">
            <a:solidFill>
              <a:srgbClr val="2E6FB7"/>
            </a:solidFill>
            <a:prstDash val="solid"/>
          </a:ln>
        </p:spPr>
      </p:sp>
      <p:pic>
        <p:nvPicPr>
          <p:cNvPr id="11" name="Image 3" descr="preencoded.png">    </p:cNvPr>
          <p:cNvPicPr>
            <a:picLocks noChangeAspect="1"/>
          </p:cNvPicPr>
          <p:nvPr/>
        </p:nvPicPr>
        <p:blipFill>
          <a:blip r:embed="rId4"/>
          <a:stretch>
            <a:fillRect/>
          </a:stretch>
        </p:blipFill>
        <p:spPr>
          <a:xfrm>
            <a:off x="5346314" y="1926458"/>
            <a:ext cx="225308" cy="225308"/>
          </a:xfrm>
          <a:prstGeom prst="rect">
            <a:avLst/>
          </a:prstGeom>
        </p:spPr>
      </p:pic>
      <p:sp>
        <p:nvSpPr>
          <p:cNvPr id="12" name="Text 6"/>
          <p:cNvSpPr txBox="1"/>
          <p:nvPr/>
        </p:nvSpPr>
        <p:spPr>
          <a:xfrm>
            <a:off x="5779008" y="1801368"/>
            <a:ext cx="2926080" cy="475488"/>
          </a:xfrm>
          <a:prstGeom prst="rect">
            <a:avLst/>
          </a:prstGeom>
          <a:noFill/>
          <a:ln/>
        </p:spPr>
        <p:txBody>
          <a:bodyPr wrap="square" lIns="0" tIns="0" rIns="0" bIns="0" rtlCol="0" anchor="ctr"/>
          <a:lstStyle/>
          <a:p>
            <a:pPr indent="0" marL="0">
              <a:buNone/>
            </a:pPr>
            <a:r>
              <a:rPr lang="en-US" sz="1300" b="1" dirty="0">
                <a:solidFill>
                  <a:srgbClr val="1B2A4A"/>
                </a:solidFill>
              </a:rPr>
              <a:t>4 hospital apps</a:t>
            </a:r>
            <a:endParaRPr lang="en-US" sz="1300" dirty="0"/>
          </a:p>
        </p:txBody>
      </p:sp>
      <p:sp>
        <p:nvSpPr>
          <p:cNvPr id="13" name="Shape 7"/>
          <p:cNvSpPr/>
          <p:nvPr/>
        </p:nvSpPr>
        <p:spPr>
          <a:xfrm>
            <a:off x="5257800" y="2404872"/>
            <a:ext cx="402336" cy="402336"/>
          </a:xfrm>
          <a:prstGeom prst="ellipse">
            <a:avLst/>
          </a:prstGeom>
          <a:solidFill>
            <a:srgbClr val="2E6FB7"/>
          </a:solidFill>
          <a:ln w="12700">
            <a:solidFill>
              <a:srgbClr val="2E6FB7"/>
            </a:solidFill>
            <a:prstDash val="solid"/>
          </a:ln>
        </p:spPr>
      </p:sp>
      <p:pic>
        <p:nvPicPr>
          <p:cNvPr id="14" name="Image 4" descr="preencoded.png">    </p:cNvPr>
          <p:cNvPicPr>
            <a:picLocks noChangeAspect="1"/>
          </p:cNvPicPr>
          <p:nvPr/>
        </p:nvPicPr>
        <p:blipFill>
          <a:blip r:embed="rId5"/>
          <a:stretch>
            <a:fillRect/>
          </a:stretch>
        </p:blipFill>
        <p:spPr>
          <a:xfrm>
            <a:off x="5346314" y="2493386"/>
            <a:ext cx="225308" cy="225308"/>
          </a:xfrm>
          <a:prstGeom prst="rect">
            <a:avLst/>
          </a:prstGeom>
        </p:spPr>
      </p:pic>
      <p:sp>
        <p:nvSpPr>
          <p:cNvPr id="15" name="Text 8"/>
          <p:cNvSpPr txBox="1"/>
          <p:nvPr/>
        </p:nvSpPr>
        <p:spPr>
          <a:xfrm>
            <a:off x="5779008" y="2368296"/>
            <a:ext cx="2926080" cy="475488"/>
          </a:xfrm>
          <a:prstGeom prst="rect">
            <a:avLst/>
          </a:prstGeom>
          <a:noFill/>
          <a:ln/>
        </p:spPr>
        <p:txBody>
          <a:bodyPr wrap="square" lIns="0" tIns="0" rIns="0" bIns="0" rtlCol="0" anchor="ctr"/>
          <a:lstStyle/>
          <a:p>
            <a:pPr indent="0" marL="0">
              <a:buNone/>
            </a:pPr>
            <a:r>
              <a:rPr lang="en-US" sz="1300" b="1" dirty="0">
                <a:solidFill>
                  <a:srgbClr val="1B2A4A"/>
                </a:solidFill>
              </a:rPr>
              <a:t>can_iam.py</a:t>
            </a:r>
            <a:endParaRPr lang="en-US" sz="1300" dirty="0"/>
          </a:p>
        </p:txBody>
      </p:sp>
      <p:sp>
        <p:nvSpPr>
          <p:cNvPr id="16" name="Shape 9"/>
          <p:cNvSpPr/>
          <p:nvPr/>
        </p:nvSpPr>
        <p:spPr>
          <a:xfrm>
            <a:off x="5257800" y="2971800"/>
            <a:ext cx="402336" cy="402336"/>
          </a:xfrm>
          <a:prstGeom prst="ellipse">
            <a:avLst/>
          </a:prstGeom>
          <a:solidFill>
            <a:srgbClr val="2E6FB7"/>
          </a:solidFill>
          <a:ln w="12700">
            <a:solidFill>
              <a:srgbClr val="2E6FB7"/>
            </a:solidFill>
            <a:prstDash val="solid"/>
          </a:ln>
        </p:spPr>
      </p:sp>
      <p:pic>
        <p:nvPicPr>
          <p:cNvPr id="17" name="Image 5" descr="preencoded.png">    </p:cNvPr>
          <p:cNvPicPr>
            <a:picLocks noChangeAspect="1"/>
          </p:cNvPicPr>
          <p:nvPr/>
        </p:nvPicPr>
        <p:blipFill>
          <a:blip r:embed="rId6"/>
          <a:stretch>
            <a:fillRect/>
          </a:stretch>
        </p:blipFill>
        <p:spPr>
          <a:xfrm>
            <a:off x="5346314" y="3060314"/>
            <a:ext cx="225308" cy="225308"/>
          </a:xfrm>
          <a:prstGeom prst="rect">
            <a:avLst/>
          </a:prstGeom>
        </p:spPr>
      </p:pic>
      <p:sp>
        <p:nvSpPr>
          <p:cNvPr id="18" name="Text 10"/>
          <p:cNvSpPr txBox="1"/>
          <p:nvPr/>
        </p:nvSpPr>
        <p:spPr>
          <a:xfrm>
            <a:off x="5779008" y="2935224"/>
            <a:ext cx="2926080" cy="475488"/>
          </a:xfrm>
          <a:prstGeom prst="rect">
            <a:avLst/>
          </a:prstGeom>
          <a:noFill/>
          <a:ln/>
        </p:spPr>
        <p:txBody>
          <a:bodyPr wrap="square" lIns="0" tIns="0" rIns="0" bIns="0" rtlCol="0" anchor="ctr"/>
          <a:lstStyle/>
          <a:p>
            <a:pPr indent="0" marL="0">
              <a:buNone/>
            </a:pPr>
            <a:r>
              <a:rPr lang="en-US" sz="1300" b="1" dirty="0">
                <a:solidFill>
                  <a:srgbClr val="1B2A4A"/>
                </a:solidFill>
              </a:rPr>
              <a:t>Wazuh SIEM</a:t>
            </a:r>
            <a:endParaRPr lang="en-US" sz="1300" dirty="0"/>
          </a:p>
        </p:txBody>
      </p:sp>
      <p:sp>
        <p:nvSpPr>
          <p:cNvPr id="19" name="Shape 11"/>
          <p:cNvSpPr/>
          <p:nvPr/>
        </p:nvSpPr>
        <p:spPr>
          <a:xfrm>
            <a:off x="5257800" y="3538728"/>
            <a:ext cx="402336" cy="402336"/>
          </a:xfrm>
          <a:prstGeom prst="ellipse">
            <a:avLst/>
          </a:prstGeom>
          <a:solidFill>
            <a:srgbClr val="2E6FB7"/>
          </a:solidFill>
          <a:ln w="12700">
            <a:solidFill>
              <a:srgbClr val="2E6FB7"/>
            </a:solidFill>
            <a:prstDash val="solid"/>
          </a:ln>
        </p:spPr>
      </p:sp>
      <p:pic>
        <p:nvPicPr>
          <p:cNvPr id="20" name="Image 6" descr="preencoded.png">    </p:cNvPr>
          <p:cNvPicPr>
            <a:picLocks noChangeAspect="1"/>
          </p:cNvPicPr>
          <p:nvPr/>
        </p:nvPicPr>
        <p:blipFill>
          <a:blip r:embed="rId7"/>
          <a:stretch>
            <a:fillRect/>
          </a:stretch>
        </p:blipFill>
        <p:spPr>
          <a:xfrm>
            <a:off x="5346314" y="3627242"/>
            <a:ext cx="225308" cy="225308"/>
          </a:xfrm>
          <a:prstGeom prst="rect">
            <a:avLst/>
          </a:prstGeom>
        </p:spPr>
      </p:pic>
      <p:sp>
        <p:nvSpPr>
          <p:cNvPr id="21" name="Text 12"/>
          <p:cNvSpPr txBox="1"/>
          <p:nvPr/>
        </p:nvSpPr>
        <p:spPr>
          <a:xfrm>
            <a:off x="5779008" y="3502152"/>
            <a:ext cx="2926080" cy="475488"/>
          </a:xfrm>
          <a:prstGeom prst="rect">
            <a:avLst/>
          </a:prstGeom>
          <a:noFill/>
          <a:ln/>
        </p:spPr>
        <p:txBody>
          <a:bodyPr wrap="square" lIns="0" tIns="0" rIns="0" bIns="0" rtlCol="0" anchor="ctr"/>
          <a:lstStyle/>
          <a:p>
            <a:pPr indent="0" marL="0">
              <a:buNone/>
            </a:pPr>
            <a:r>
              <a:rPr lang="en-US" sz="1300" b="1" dirty="0">
                <a:solidFill>
                  <a:srgbClr val="1B2A4A"/>
                </a:solidFill>
              </a:rPr>
              <a:t>Risk + control tests</a:t>
            </a:r>
            <a:endParaRPr lang="en-US" sz="1300" dirty="0"/>
          </a:p>
        </p:txBody>
      </p:sp>
      <p:sp>
        <p:nvSpPr>
          <p:cNvPr id="22" name="Shape 13"/>
          <p:cNvSpPr/>
          <p:nvPr/>
        </p:nvSpPr>
        <p:spPr>
          <a:xfrm>
            <a:off x="5257800" y="4105656"/>
            <a:ext cx="402336" cy="402336"/>
          </a:xfrm>
          <a:prstGeom prst="ellipse">
            <a:avLst/>
          </a:prstGeom>
          <a:solidFill>
            <a:srgbClr val="2E6FB7"/>
          </a:solidFill>
          <a:ln w="12700">
            <a:solidFill>
              <a:srgbClr val="2E6FB7"/>
            </a:solidFill>
            <a:prstDash val="solid"/>
          </a:ln>
        </p:spPr>
      </p:sp>
      <p:pic>
        <p:nvPicPr>
          <p:cNvPr id="23" name="Image 7" descr="preencoded.png">    </p:cNvPr>
          <p:cNvPicPr>
            <a:picLocks noChangeAspect="1"/>
          </p:cNvPicPr>
          <p:nvPr/>
        </p:nvPicPr>
        <p:blipFill>
          <a:blip r:embed="rId8"/>
          <a:stretch>
            <a:fillRect/>
          </a:stretch>
        </p:blipFill>
        <p:spPr>
          <a:xfrm>
            <a:off x="5346314" y="4194170"/>
            <a:ext cx="225308" cy="225308"/>
          </a:xfrm>
          <a:prstGeom prst="rect">
            <a:avLst/>
          </a:prstGeom>
        </p:spPr>
      </p:pic>
      <p:sp>
        <p:nvSpPr>
          <p:cNvPr id="24" name="Text 14"/>
          <p:cNvSpPr txBox="1"/>
          <p:nvPr/>
        </p:nvSpPr>
        <p:spPr>
          <a:xfrm>
            <a:off x="5779008" y="4069080"/>
            <a:ext cx="2926080" cy="475488"/>
          </a:xfrm>
          <a:prstGeom prst="rect">
            <a:avLst/>
          </a:prstGeom>
          <a:noFill/>
          <a:ln/>
        </p:spPr>
        <p:txBody>
          <a:bodyPr wrap="square" lIns="0" tIns="0" rIns="0" bIns="0" rtlCol="0" anchor="ctr"/>
          <a:lstStyle/>
          <a:p>
            <a:pPr indent="0" marL="0">
              <a:buNone/>
            </a:pPr>
            <a:r>
              <a:rPr lang="en-US" sz="1300" b="1" dirty="0">
                <a:solidFill>
                  <a:srgbClr val="1B2A4A"/>
                </a:solidFill>
              </a:rPr>
              <a:t>Tableau KPIs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Cloud foundation on Microsoft Azure</a:t>
            </a:r>
            <a:endParaRPr lang="en-US" sz="2400" dirty="0"/>
          </a:p>
        </p:txBody>
      </p:sp>
      <p:pic>
        <p:nvPicPr>
          <p:cNvPr id="4" name="Image 1" descr="/home/claude/deck/img/vnet.jpg">    </p:cNvPr>
          <p:cNvPicPr>
            <a:picLocks noChangeAspect="1"/>
          </p:cNvPicPr>
          <p:nvPr/>
        </p:nvPicPr>
        <p:blipFill>
          <a:blip r:embed="rId2"/>
          <a:stretch>
            <a:fillRect/>
          </a:stretch>
        </p:blipFill>
        <p:spPr>
          <a:xfrm>
            <a:off x="457200" y="868680"/>
            <a:ext cx="2651760" cy="1394429"/>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2299685"/>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Segmented VNet</a:t>
            </a:r>
            <a:endParaRPr lang="en-US" sz="900" dirty="0"/>
          </a:p>
        </p:txBody>
      </p:sp>
      <p:pic>
        <p:nvPicPr>
          <p:cNvPr id="6" name="Image 2" descr="/home/claude/deck/img/app_sg_rule.jpg">    </p:cNvPr>
          <p:cNvPicPr>
            <a:picLocks noChangeAspect="1"/>
          </p:cNvPicPr>
          <p:nvPr/>
        </p:nvPicPr>
        <p:blipFill>
          <a:blip r:embed="rId3"/>
          <a:stretch>
            <a:fillRect/>
          </a:stretch>
        </p:blipFill>
        <p:spPr>
          <a:xfrm>
            <a:off x="3246706" y="868680"/>
            <a:ext cx="2650588" cy="1554480"/>
          </a:xfrm>
          <a:prstGeom prst="rect">
            <a:avLst/>
          </a:prstGeom>
          <a:effectLst>
            <a:outerShdw sx="100000" sy="100000" kx="0" ky="0" algn="bl" rotWithShape="0" blurRad="76200" dist="25400" dir="5400000">
              <a:srgbClr val="000000">
                <a:alpha val="15000"/>
              </a:srgbClr>
            </a:outerShdw>
          </a:effectLst>
        </p:spPr>
      </p:pic>
      <p:sp>
        <p:nvSpPr>
          <p:cNvPr id="7" name="Text 2"/>
          <p:cNvSpPr txBox="1"/>
          <p:nvPr/>
        </p:nvSpPr>
        <p:spPr>
          <a:xfrm>
            <a:off x="3246120" y="2459736"/>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NSG rule</a:t>
            </a:r>
            <a:endParaRPr lang="en-US" sz="900" dirty="0"/>
          </a:p>
        </p:txBody>
      </p:sp>
      <p:pic>
        <p:nvPicPr>
          <p:cNvPr id="8" name="Image 3" descr="/home/claude/deck/img/Cloud_Security_1_SecOps_Dashboard.jpg">    </p:cNvPr>
          <p:cNvPicPr>
            <a:picLocks noChangeAspect="1"/>
          </p:cNvPicPr>
          <p:nvPr/>
        </p:nvPicPr>
        <p:blipFill>
          <a:blip r:embed="rId4"/>
          <a:stretch>
            <a:fillRect/>
          </a:stretch>
        </p:blipFill>
        <p:spPr>
          <a:xfrm>
            <a:off x="457200" y="2743200"/>
            <a:ext cx="2651760" cy="1517396"/>
          </a:xfrm>
          <a:prstGeom prst="rect">
            <a:avLst/>
          </a:prstGeom>
          <a:effectLst>
            <a:outerShdw sx="100000" sy="100000" kx="0" ky="0" algn="bl" rotWithShape="0" blurRad="76200" dist="25400" dir="5400000">
              <a:srgbClr val="000000">
                <a:alpha val="15000"/>
              </a:srgbClr>
            </a:outerShdw>
          </a:effectLst>
        </p:spPr>
      </p:pic>
      <p:sp>
        <p:nvSpPr>
          <p:cNvPr id="9" name="Text 3"/>
          <p:cNvSpPr txBox="1"/>
          <p:nvPr/>
        </p:nvSpPr>
        <p:spPr>
          <a:xfrm>
            <a:off x="457200" y="4297172"/>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SecOps workbook</a:t>
            </a:r>
            <a:endParaRPr lang="en-US" sz="900" dirty="0"/>
          </a:p>
        </p:txBody>
      </p:sp>
      <p:pic>
        <p:nvPicPr>
          <p:cNvPr id="10" name="Image 4" descr="/home/claude/deck/img/Alert_email.jpg">    </p:cNvPr>
          <p:cNvPicPr>
            <a:picLocks noChangeAspect="1"/>
          </p:cNvPicPr>
          <p:nvPr/>
        </p:nvPicPr>
        <p:blipFill>
          <a:blip r:embed="rId5"/>
          <a:stretch>
            <a:fillRect/>
          </a:stretch>
        </p:blipFill>
        <p:spPr>
          <a:xfrm>
            <a:off x="3246120" y="2743200"/>
            <a:ext cx="2651760" cy="1287738"/>
          </a:xfrm>
          <a:prstGeom prst="rect">
            <a:avLst/>
          </a:prstGeom>
          <a:effectLst>
            <a:outerShdw sx="100000" sy="100000" kx="0" ky="0" algn="bl" rotWithShape="0" blurRad="76200" dist="25400" dir="5400000">
              <a:srgbClr val="000000">
                <a:alpha val="15000"/>
              </a:srgbClr>
            </a:outerShdw>
          </a:effectLst>
        </p:spPr>
      </p:pic>
      <p:sp>
        <p:nvSpPr>
          <p:cNvPr id="11" name="Text 4"/>
          <p:cNvSpPr txBox="1"/>
          <p:nvPr/>
        </p:nvSpPr>
        <p:spPr>
          <a:xfrm>
            <a:off x="3246120" y="4067514"/>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Defender alert</a:t>
            </a:r>
            <a:endParaRPr lang="en-US" sz="900" dirty="0"/>
          </a:p>
        </p:txBody>
      </p:sp>
      <p:sp>
        <p:nvSpPr>
          <p:cNvPr id="12" name="Shape 5"/>
          <p:cNvSpPr/>
          <p:nvPr/>
        </p:nvSpPr>
        <p:spPr>
          <a:xfrm>
            <a:off x="6172200" y="868680"/>
            <a:ext cx="2514600" cy="1097280"/>
          </a:xfrm>
          <a:prstGeom prst="roundRect">
            <a:avLst>
              <a:gd name="adj" fmla="val 6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3" name="Text 6"/>
          <p:cNvSpPr txBox="1"/>
          <p:nvPr/>
        </p:nvSpPr>
        <p:spPr>
          <a:xfrm>
            <a:off x="6172200" y="941832"/>
            <a:ext cx="2514600" cy="594360"/>
          </a:xfrm>
          <a:prstGeom prst="rect">
            <a:avLst/>
          </a:prstGeom>
          <a:noFill/>
          <a:ln/>
        </p:spPr>
        <p:txBody>
          <a:bodyPr wrap="square" lIns="0" tIns="0" rIns="0" bIns="0" rtlCol="0" anchor="ctr"/>
          <a:lstStyle/>
          <a:p>
            <a:pPr algn="ctr" indent="0" marL="0">
              <a:buNone/>
            </a:pPr>
            <a:r>
              <a:rPr lang="en-US" sz="3000" b="1" dirty="0">
                <a:solidFill>
                  <a:srgbClr val="2E6FB7"/>
                </a:solidFill>
              </a:rPr>
              <a:t>3</a:t>
            </a:r>
            <a:endParaRPr lang="en-US" sz="3000" dirty="0"/>
          </a:p>
        </p:txBody>
      </p:sp>
      <p:sp>
        <p:nvSpPr>
          <p:cNvPr id="14" name="Text 7"/>
          <p:cNvSpPr txBox="1"/>
          <p:nvPr/>
        </p:nvSpPr>
        <p:spPr>
          <a:xfrm>
            <a:off x="6172200" y="1527048"/>
            <a:ext cx="2514600" cy="320040"/>
          </a:xfrm>
          <a:prstGeom prst="rect">
            <a:avLst/>
          </a:prstGeom>
          <a:noFill/>
          <a:ln/>
        </p:spPr>
        <p:txBody>
          <a:bodyPr wrap="square" lIns="0" tIns="0" rIns="0" bIns="0" rtlCol="0" anchor="ctr"/>
          <a:lstStyle/>
          <a:p>
            <a:pPr algn="ctr" indent="0" marL="0">
              <a:buNone/>
            </a:pPr>
            <a:r>
              <a:rPr lang="en-US" sz="1100" dirty="0">
                <a:solidFill>
                  <a:srgbClr val="1F2937"/>
                </a:solidFill>
              </a:rPr>
              <a:t>NSGs</a:t>
            </a:r>
            <a:endParaRPr lang="en-US" sz="1100" dirty="0"/>
          </a:p>
        </p:txBody>
      </p:sp>
      <p:sp>
        <p:nvSpPr>
          <p:cNvPr id="15" name="Shape 8"/>
          <p:cNvSpPr/>
          <p:nvPr/>
        </p:nvSpPr>
        <p:spPr>
          <a:xfrm>
            <a:off x="6172200" y="2121408"/>
            <a:ext cx="2514600" cy="1097280"/>
          </a:xfrm>
          <a:prstGeom prst="roundRect">
            <a:avLst>
              <a:gd name="adj" fmla="val 6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6" name="Text 9"/>
          <p:cNvSpPr txBox="1"/>
          <p:nvPr/>
        </p:nvSpPr>
        <p:spPr>
          <a:xfrm>
            <a:off x="6172200" y="2194560"/>
            <a:ext cx="2514600" cy="594360"/>
          </a:xfrm>
          <a:prstGeom prst="rect">
            <a:avLst/>
          </a:prstGeom>
          <a:noFill/>
          <a:ln/>
        </p:spPr>
        <p:txBody>
          <a:bodyPr wrap="square" lIns="0" tIns="0" rIns="0" bIns="0" rtlCol="0" anchor="ctr"/>
          <a:lstStyle/>
          <a:p>
            <a:pPr algn="ctr" indent="0" marL="0">
              <a:buNone/>
            </a:pPr>
            <a:r>
              <a:rPr lang="en-US" sz="2400" b="1" dirty="0">
                <a:solidFill>
                  <a:srgbClr val="2E6FB7"/>
                </a:solidFill>
              </a:rPr>
              <a:t>Bastion</a:t>
            </a:r>
            <a:endParaRPr lang="en-US" sz="2400" dirty="0"/>
          </a:p>
        </p:txBody>
      </p:sp>
      <p:sp>
        <p:nvSpPr>
          <p:cNvPr id="17" name="Text 10"/>
          <p:cNvSpPr txBox="1"/>
          <p:nvPr/>
        </p:nvSpPr>
        <p:spPr>
          <a:xfrm>
            <a:off x="6172200" y="2779776"/>
            <a:ext cx="2514600" cy="320040"/>
          </a:xfrm>
          <a:prstGeom prst="rect">
            <a:avLst/>
          </a:prstGeom>
          <a:noFill/>
          <a:ln/>
        </p:spPr>
        <p:txBody>
          <a:bodyPr wrap="square" lIns="0" tIns="0" rIns="0" bIns="0" rtlCol="0" anchor="ctr"/>
          <a:lstStyle/>
          <a:p>
            <a:pPr algn="ctr" indent="0" marL="0">
              <a:buNone/>
            </a:pPr>
            <a:r>
              <a:rPr lang="en-US" sz="1100" dirty="0">
                <a:solidFill>
                  <a:srgbClr val="1F2937"/>
                </a:solidFill>
              </a:rPr>
              <a:t>admin access, no public IP</a:t>
            </a:r>
            <a:endParaRPr lang="en-US" sz="1100" dirty="0"/>
          </a:p>
        </p:txBody>
      </p:sp>
      <p:sp>
        <p:nvSpPr>
          <p:cNvPr id="18" name="Shape 11"/>
          <p:cNvSpPr/>
          <p:nvPr/>
        </p:nvSpPr>
        <p:spPr>
          <a:xfrm>
            <a:off x="6172200" y="3374136"/>
            <a:ext cx="2514600" cy="1097280"/>
          </a:xfrm>
          <a:prstGeom prst="roundRect">
            <a:avLst>
              <a:gd name="adj" fmla="val 6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9" name="Text 12"/>
          <p:cNvSpPr txBox="1"/>
          <p:nvPr/>
        </p:nvSpPr>
        <p:spPr>
          <a:xfrm>
            <a:off x="6172200" y="3447288"/>
            <a:ext cx="2514600" cy="594360"/>
          </a:xfrm>
          <a:prstGeom prst="rect">
            <a:avLst/>
          </a:prstGeom>
          <a:noFill/>
          <a:ln/>
        </p:spPr>
        <p:txBody>
          <a:bodyPr wrap="square" lIns="0" tIns="0" rIns="0" bIns="0" rtlCol="0" anchor="ctr"/>
          <a:lstStyle/>
          <a:p>
            <a:pPr algn="ctr" indent="0" marL="0">
              <a:buNone/>
            </a:pPr>
            <a:r>
              <a:rPr lang="en-US" sz="3000" b="1" dirty="0">
                <a:solidFill>
                  <a:srgbClr val="2E6FB7"/>
                </a:solidFill>
              </a:rPr>
              <a:t>50</a:t>
            </a:r>
            <a:endParaRPr lang="en-US" sz="3000" dirty="0"/>
          </a:p>
        </p:txBody>
      </p:sp>
      <p:sp>
        <p:nvSpPr>
          <p:cNvPr id="20" name="Text 13"/>
          <p:cNvSpPr txBox="1"/>
          <p:nvPr/>
        </p:nvSpPr>
        <p:spPr>
          <a:xfrm>
            <a:off x="6172200" y="4032504"/>
            <a:ext cx="2514600" cy="320040"/>
          </a:xfrm>
          <a:prstGeom prst="rect">
            <a:avLst/>
          </a:prstGeom>
          <a:noFill/>
          <a:ln/>
        </p:spPr>
        <p:txBody>
          <a:bodyPr wrap="square" lIns="0" tIns="0" rIns="0" bIns="0" rtlCol="0" anchor="ctr"/>
          <a:lstStyle/>
          <a:p>
            <a:pPr algn="ctr" indent="0" marL="0">
              <a:buNone/>
            </a:pPr>
            <a:r>
              <a:rPr lang="en-US" sz="1100" dirty="0">
                <a:solidFill>
                  <a:srgbClr val="1F2937"/>
                </a:solidFill>
              </a:rPr>
              <a:t>alerts in 30 days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Federation and RBAC: scoped access</a:t>
            </a:r>
            <a:endParaRPr lang="en-US" sz="2400" dirty="0"/>
          </a:p>
        </p:txBody>
      </p:sp>
      <p:pic>
        <p:nvPicPr>
          <p:cNvPr id="4" name="Image 1" descr="/home/claude/deck/img/Keycloak-CAN_Authorization_Page.jpg">    </p:cNvPr>
          <p:cNvPicPr>
            <a:picLocks noChangeAspect="1"/>
          </p:cNvPicPr>
          <p:nvPr/>
        </p:nvPicPr>
        <p:blipFill>
          <a:blip r:embed="rId2"/>
          <a:stretch>
            <a:fillRect/>
          </a:stretch>
        </p:blipFill>
        <p:spPr>
          <a:xfrm>
            <a:off x="457200" y="868680"/>
            <a:ext cx="4114800" cy="2402169"/>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3310128"/>
            <a:ext cx="4114800" cy="182880"/>
          </a:xfrm>
          <a:prstGeom prst="rect">
            <a:avLst/>
          </a:prstGeom>
          <a:noFill/>
          <a:ln/>
        </p:spPr>
        <p:txBody>
          <a:bodyPr wrap="square" lIns="0" tIns="0" rIns="0" bIns="0" rtlCol="0" anchor="ctr"/>
          <a:lstStyle/>
          <a:p>
            <a:pPr indent="0" marL="0">
              <a:buNone/>
            </a:pPr>
            <a:r>
              <a:rPr lang="en-US" sz="850" i="1" dirty="0">
                <a:solidFill>
                  <a:srgbClr val="5A6B85"/>
                </a:solidFill>
              </a:rPr>
              <a:t>Keycloak trusts Microsoft Entra ID (OpenID Connect)</a:t>
            </a:r>
            <a:endParaRPr lang="en-US" sz="850" dirty="0"/>
          </a:p>
        </p:txBody>
      </p:sp>
      <p:pic>
        <p:nvPicPr>
          <p:cNvPr id="6" name="Image 2" descr="/home/claude/deck/img/JML-07-mover-new-role.jpg">    </p:cNvPr>
          <p:cNvPicPr>
            <a:picLocks noChangeAspect="1"/>
          </p:cNvPicPr>
          <p:nvPr/>
        </p:nvPicPr>
        <p:blipFill>
          <a:blip r:embed="rId3"/>
          <a:stretch>
            <a:fillRect/>
          </a:stretch>
        </p:blipFill>
        <p:spPr>
          <a:xfrm>
            <a:off x="457200" y="3584448"/>
            <a:ext cx="1691640" cy="1061974"/>
          </a:xfrm>
          <a:prstGeom prst="rect">
            <a:avLst/>
          </a:prstGeom>
          <a:effectLst>
            <a:outerShdw sx="100000" sy="100000" kx="0" ky="0" algn="bl" rotWithShape="0" blurRad="76200" dist="25400" dir="5400000">
              <a:srgbClr val="000000">
                <a:alpha val="15000"/>
              </a:srgbClr>
            </a:outerShdw>
          </a:effectLst>
        </p:spPr>
      </p:pic>
      <p:sp>
        <p:nvSpPr>
          <p:cNvPr id="7" name="Text 2"/>
          <p:cNvSpPr txBox="1"/>
          <p:nvPr/>
        </p:nvSpPr>
        <p:spPr>
          <a:xfrm>
            <a:off x="2286000" y="3584448"/>
            <a:ext cx="2286000" cy="1060704"/>
          </a:xfrm>
          <a:prstGeom prst="rect">
            <a:avLst/>
          </a:prstGeom>
          <a:noFill/>
          <a:ln/>
        </p:spPr>
        <p:txBody>
          <a:bodyPr wrap="square" lIns="0" tIns="0" rIns="0" bIns="0" rtlCol="0" anchor="ctr"/>
          <a:lstStyle/>
          <a:p>
            <a:pPr indent="0" marL="0">
              <a:buNone/>
            </a:pPr>
            <a:r>
              <a:rPr lang="en-US" sz="1200" b="1" dirty="0">
                <a:solidFill>
                  <a:srgbClr val="1B2A4A"/>
                </a:solidFill>
              </a:rPr>
              <a:t>One user, one role</a:t>
            </a:r>
            <a:endParaRPr lang="en-US" sz="1200" dirty="0"/>
          </a:p>
          <a:p>
            <a:pPr indent="0" marL="0">
              <a:buNone/>
            </a:pPr>
            <a:r>
              <a:rPr lang="en-US" sz="950" dirty="0">
                <a:solidFill>
                  <a:srgbClr val="5A6B85"/>
                </a:solidFill>
              </a:rPr>
              <a:t>Entra role assignments</a:t>
            </a:r>
            <a:endParaRPr lang="en-US" sz="1200" dirty="0"/>
          </a:p>
        </p:txBody>
      </p:sp>
      <p:sp>
        <p:nvSpPr>
          <p:cNvPr id="8" name="Shape 3"/>
          <p:cNvSpPr/>
          <p:nvPr/>
        </p:nvSpPr>
        <p:spPr>
          <a:xfrm>
            <a:off x="4846320" y="86868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9" name="Text 4"/>
          <p:cNvSpPr txBox="1"/>
          <p:nvPr/>
        </p:nvSpPr>
        <p:spPr>
          <a:xfrm>
            <a:off x="4956048" y="94183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EHR Simulator</a:t>
            </a:r>
            <a:endParaRPr lang="en-US" sz="1200" dirty="0"/>
          </a:p>
        </p:txBody>
      </p:sp>
      <p:sp>
        <p:nvSpPr>
          <p:cNvPr id="10" name="Shape 5"/>
          <p:cNvSpPr/>
          <p:nvPr/>
        </p:nvSpPr>
        <p:spPr>
          <a:xfrm>
            <a:off x="4956048" y="1417320"/>
            <a:ext cx="768096" cy="292608"/>
          </a:xfrm>
          <a:prstGeom prst="roundRect">
            <a:avLst>
              <a:gd name="adj" fmla="val 18750"/>
            </a:avLst>
          </a:prstGeom>
          <a:solidFill>
            <a:srgbClr val="2E8B57"/>
          </a:solidFill>
          <a:ln w="12700">
            <a:solidFill>
              <a:srgbClr val="2E8B57"/>
            </a:solidFill>
            <a:prstDash val="solid"/>
          </a:ln>
        </p:spPr>
      </p:sp>
      <p:sp>
        <p:nvSpPr>
          <p:cNvPr id="11" name="Text 6"/>
          <p:cNvSpPr txBox="1"/>
          <p:nvPr/>
        </p:nvSpPr>
        <p:spPr>
          <a:xfrm>
            <a:off x="495604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clinician</a:t>
            </a:r>
            <a:endParaRPr lang="en-US" sz="900" dirty="0"/>
          </a:p>
        </p:txBody>
      </p:sp>
      <p:sp>
        <p:nvSpPr>
          <p:cNvPr id="12" name="Shape 7"/>
          <p:cNvSpPr/>
          <p:nvPr/>
        </p:nvSpPr>
        <p:spPr>
          <a:xfrm>
            <a:off x="5779008" y="1417320"/>
            <a:ext cx="768096" cy="292608"/>
          </a:xfrm>
          <a:prstGeom prst="roundRect">
            <a:avLst>
              <a:gd name="adj" fmla="val 18750"/>
            </a:avLst>
          </a:prstGeom>
          <a:solidFill>
            <a:srgbClr val="0F8B8D"/>
          </a:solidFill>
          <a:ln w="12700">
            <a:solidFill>
              <a:srgbClr val="0F8B8D"/>
            </a:solidFill>
            <a:prstDash val="solid"/>
          </a:ln>
        </p:spPr>
      </p:sp>
      <p:sp>
        <p:nvSpPr>
          <p:cNvPr id="13" name="Text 8"/>
          <p:cNvSpPr txBox="1"/>
          <p:nvPr/>
        </p:nvSpPr>
        <p:spPr>
          <a:xfrm>
            <a:off x="577900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nurse</a:t>
            </a:r>
            <a:endParaRPr lang="en-US" sz="900" dirty="0"/>
          </a:p>
        </p:txBody>
      </p:sp>
      <p:sp>
        <p:nvSpPr>
          <p:cNvPr id="14" name="Shape 9"/>
          <p:cNvSpPr/>
          <p:nvPr/>
        </p:nvSpPr>
        <p:spPr>
          <a:xfrm>
            <a:off x="6812280" y="86868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5" name="Text 10"/>
          <p:cNvSpPr txBox="1"/>
          <p:nvPr/>
        </p:nvSpPr>
        <p:spPr>
          <a:xfrm>
            <a:off x="6922008" y="94183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Patient Portal</a:t>
            </a:r>
            <a:endParaRPr lang="en-US" sz="1200" dirty="0"/>
          </a:p>
        </p:txBody>
      </p:sp>
      <p:sp>
        <p:nvSpPr>
          <p:cNvPr id="16" name="Shape 11"/>
          <p:cNvSpPr/>
          <p:nvPr/>
        </p:nvSpPr>
        <p:spPr>
          <a:xfrm>
            <a:off x="6922008" y="1417320"/>
            <a:ext cx="768096" cy="292608"/>
          </a:xfrm>
          <a:prstGeom prst="roundRect">
            <a:avLst>
              <a:gd name="adj" fmla="val 18750"/>
            </a:avLst>
          </a:prstGeom>
          <a:solidFill>
            <a:srgbClr val="2E8B57"/>
          </a:solidFill>
          <a:ln w="12700">
            <a:solidFill>
              <a:srgbClr val="2E8B57"/>
            </a:solidFill>
            <a:prstDash val="solid"/>
          </a:ln>
        </p:spPr>
      </p:sp>
      <p:sp>
        <p:nvSpPr>
          <p:cNvPr id="17" name="Text 12"/>
          <p:cNvSpPr txBox="1"/>
          <p:nvPr/>
        </p:nvSpPr>
        <p:spPr>
          <a:xfrm>
            <a:off x="692200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clinician</a:t>
            </a:r>
            <a:endParaRPr lang="en-US" sz="900" dirty="0"/>
          </a:p>
        </p:txBody>
      </p:sp>
      <p:sp>
        <p:nvSpPr>
          <p:cNvPr id="18" name="Shape 13"/>
          <p:cNvSpPr/>
          <p:nvPr/>
        </p:nvSpPr>
        <p:spPr>
          <a:xfrm>
            <a:off x="7744968" y="1417320"/>
            <a:ext cx="768096" cy="292608"/>
          </a:xfrm>
          <a:prstGeom prst="roundRect">
            <a:avLst>
              <a:gd name="adj" fmla="val 18750"/>
            </a:avLst>
          </a:prstGeom>
          <a:solidFill>
            <a:srgbClr val="0F8B8D"/>
          </a:solidFill>
          <a:ln w="12700">
            <a:solidFill>
              <a:srgbClr val="0F8B8D"/>
            </a:solidFill>
            <a:prstDash val="solid"/>
          </a:ln>
        </p:spPr>
      </p:sp>
      <p:sp>
        <p:nvSpPr>
          <p:cNvPr id="19" name="Text 14"/>
          <p:cNvSpPr txBox="1"/>
          <p:nvPr/>
        </p:nvSpPr>
        <p:spPr>
          <a:xfrm>
            <a:off x="774496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nurse</a:t>
            </a:r>
            <a:endParaRPr lang="en-US" sz="900" dirty="0"/>
          </a:p>
        </p:txBody>
      </p:sp>
      <p:sp>
        <p:nvSpPr>
          <p:cNvPr id="20" name="Shape 15"/>
          <p:cNvSpPr/>
          <p:nvPr/>
        </p:nvSpPr>
        <p:spPr>
          <a:xfrm>
            <a:off x="4846320" y="205740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1" name="Text 16"/>
          <p:cNvSpPr txBox="1"/>
          <p:nvPr/>
        </p:nvSpPr>
        <p:spPr>
          <a:xfrm>
            <a:off x="4956048" y="213055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Billing App</a:t>
            </a:r>
            <a:endParaRPr lang="en-US" sz="1200" dirty="0"/>
          </a:p>
        </p:txBody>
      </p:sp>
      <p:sp>
        <p:nvSpPr>
          <p:cNvPr id="22" name="Shape 17"/>
          <p:cNvSpPr/>
          <p:nvPr/>
        </p:nvSpPr>
        <p:spPr>
          <a:xfrm>
            <a:off x="4956048" y="2606040"/>
            <a:ext cx="768096" cy="292608"/>
          </a:xfrm>
          <a:prstGeom prst="roundRect">
            <a:avLst>
              <a:gd name="adj" fmla="val 18750"/>
            </a:avLst>
          </a:prstGeom>
          <a:solidFill>
            <a:srgbClr val="2E6FB7"/>
          </a:solidFill>
          <a:ln w="12700">
            <a:solidFill>
              <a:srgbClr val="2E6FB7"/>
            </a:solidFill>
            <a:prstDash val="solid"/>
          </a:ln>
        </p:spPr>
      </p:sp>
      <p:sp>
        <p:nvSpPr>
          <p:cNvPr id="23" name="Text 18"/>
          <p:cNvSpPr txBox="1"/>
          <p:nvPr/>
        </p:nvSpPr>
        <p:spPr>
          <a:xfrm>
            <a:off x="4956048" y="260604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billing</a:t>
            </a:r>
            <a:endParaRPr lang="en-US" sz="900" dirty="0"/>
          </a:p>
        </p:txBody>
      </p:sp>
      <p:sp>
        <p:nvSpPr>
          <p:cNvPr id="24" name="Shape 19"/>
          <p:cNvSpPr/>
          <p:nvPr/>
        </p:nvSpPr>
        <p:spPr>
          <a:xfrm>
            <a:off x="6812280" y="205740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5" name="Text 20"/>
          <p:cNvSpPr txBox="1"/>
          <p:nvPr/>
        </p:nvSpPr>
        <p:spPr>
          <a:xfrm>
            <a:off x="6922008" y="213055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HR App</a:t>
            </a:r>
            <a:endParaRPr lang="en-US" sz="1200" dirty="0"/>
          </a:p>
        </p:txBody>
      </p:sp>
      <p:sp>
        <p:nvSpPr>
          <p:cNvPr id="26" name="Shape 21"/>
          <p:cNvSpPr/>
          <p:nvPr/>
        </p:nvSpPr>
        <p:spPr>
          <a:xfrm>
            <a:off x="6922008" y="2606040"/>
            <a:ext cx="768096" cy="292608"/>
          </a:xfrm>
          <a:prstGeom prst="roundRect">
            <a:avLst>
              <a:gd name="adj" fmla="val 18750"/>
            </a:avLst>
          </a:prstGeom>
          <a:solidFill>
            <a:srgbClr val="7B4FA0"/>
          </a:solidFill>
          <a:ln w="12700">
            <a:solidFill>
              <a:srgbClr val="7B4FA0"/>
            </a:solidFill>
            <a:prstDash val="solid"/>
          </a:ln>
        </p:spPr>
      </p:sp>
      <p:sp>
        <p:nvSpPr>
          <p:cNvPr id="27" name="Text 22"/>
          <p:cNvSpPr txBox="1"/>
          <p:nvPr/>
        </p:nvSpPr>
        <p:spPr>
          <a:xfrm>
            <a:off x="6922008" y="260604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hr</a:t>
            </a:r>
            <a:endParaRPr lang="en-US" sz="900" dirty="0"/>
          </a:p>
        </p:txBody>
      </p:sp>
      <p:sp>
        <p:nvSpPr>
          <p:cNvPr id="28" name="Shape 23"/>
          <p:cNvSpPr/>
          <p:nvPr/>
        </p:nvSpPr>
        <p:spPr>
          <a:xfrm>
            <a:off x="7744968" y="2606040"/>
            <a:ext cx="768096" cy="292608"/>
          </a:xfrm>
          <a:prstGeom prst="roundRect">
            <a:avLst>
              <a:gd name="adj" fmla="val 18750"/>
            </a:avLst>
          </a:prstGeom>
          <a:solidFill>
            <a:srgbClr val="5A6B85"/>
          </a:solidFill>
          <a:ln w="12700">
            <a:solidFill>
              <a:srgbClr val="5A6B85"/>
            </a:solidFill>
            <a:prstDash val="solid"/>
          </a:ln>
        </p:spPr>
      </p:sp>
      <p:sp>
        <p:nvSpPr>
          <p:cNvPr id="29" name="Text 24"/>
          <p:cNvSpPr txBox="1"/>
          <p:nvPr/>
        </p:nvSpPr>
        <p:spPr>
          <a:xfrm>
            <a:off x="7744968" y="260604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it-support</a:t>
            </a:r>
            <a:endParaRPr lang="en-US" sz="900" dirty="0"/>
          </a:p>
        </p:txBody>
      </p:sp>
      <p:sp>
        <p:nvSpPr>
          <p:cNvPr id="30" name="Shape 25"/>
          <p:cNvSpPr/>
          <p:nvPr/>
        </p:nvSpPr>
        <p:spPr>
          <a:xfrm>
            <a:off x="4846320" y="3310128"/>
            <a:ext cx="3794760" cy="329184"/>
          </a:xfrm>
          <a:prstGeom prst="roundRect">
            <a:avLst>
              <a:gd name="adj" fmla="val 16667"/>
            </a:avLst>
          </a:prstGeom>
          <a:solidFill>
            <a:srgbClr val="1B2A4A"/>
          </a:solidFill>
          <a:ln w="12700">
            <a:solidFill>
              <a:srgbClr val="1B2A4A"/>
            </a:solidFill>
            <a:prstDash val="solid"/>
          </a:ln>
        </p:spPr>
      </p:sp>
      <p:sp>
        <p:nvSpPr>
          <p:cNvPr id="31" name="Text 26"/>
          <p:cNvSpPr txBox="1"/>
          <p:nvPr/>
        </p:nvSpPr>
        <p:spPr>
          <a:xfrm>
            <a:off x="4846320" y="3310128"/>
            <a:ext cx="3794760" cy="329184"/>
          </a:xfrm>
          <a:prstGeom prst="rect">
            <a:avLst/>
          </a:prstGeom>
          <a:noFill/>
          <a:ln/>
        </p:spPr>
        <p:txBody>
          <a:bodyPr wrap="square" lIns="0" tIns="0" rIns="0" bIns="0" rtlCol="0" anchor="ctr"/>
          <a:lstStyle/>
          <a:p>
            <a:pPr algn="ctr" indent="0" marL="0">
              <a:buNone/>
            </a:pPr>
            <a:r>
              <a:rPr lang="en-US" sz="1000" b="1" dirty="0">
                <a:solidFill>
                  <a:srgbClr val="FFFFFF"/>
                </a:solidFill>
              </a:rPr>
              <a:t>Security analyst: monitoring</a:t>
            </a:r>
            <a:endParaRPr lang="en-US" sz="1000" dirty="0"/>
          </a:p>
        </p:txBody>
      </p:sp>
      <p:sp>
        <p:nvSpPr>
          <p:cNvPr id="32" name="Shape 27"/>
          <p:cNvSpPr/>
          <p:nvPr/>
        </p:nvSpPr>
        <p:spPr>
          <a:xfrm>
            <a:off x="4846320" y="3730752"/>
            <a:ext cx="3794760" cy="329184"/>
          </a:xfrm>
          <a:prstGeom prst="roundRect">
            <a:avLst>
              <a:gd name="adj" fmla="val 16667"/>
            </a:avLst>
          </a:prstGeom>
          <a:solidFill>
            <a:srgbClr val="F2A900"/>
          </a:solidFill>
          <a:ln w="12700">
            <a:solidFill>
              <a:srgbClr val="F2A900"/>
            </a:solidFill>
            <a:prstDash val="solid"/>
          </a:ln>
        </p:spPr>
      </p:sp>
      <p:sp>
        <p:nvSpPr>
          <p:cNvPr id="33" name="Text 28"/>
          <p:cNvSpPr txBox="1"/>
          <p:nvPr/>
        </p:nvSpPr>
        <p:spPr>
          <a:xfrm>
            <a:off x="4846320" y="3730752"/>
            <a:ext cx="3794760" cy="329184"/>
          </a:xfrm>
          <a:prstGeom prst="rect">
            <a:avLst/>
          </a:prstGeom>
          <a:noFill/>
          <a:ln/>
        </p:spPr>
        <p:txBody>
          <a:bodyPr wrap="square" lIns="0" tIns="0" rIns="0" bIns="0" rtlCol="0" anchor="ctr"/>
          <a:lstStyle/>
          <a:p>
            <a:pPr algn="ctr" indent="0" marL="0">
              <a:buNone/>
            </a:pPr>
            <a:r>
              <a:rPr lang="en-US" sz="1000" b="1" dirty="0">
                <a:solidFill>
                  <a:srgbClr val="1B2A4A"/>
                </a:solidFill>
              </a:rPr>
              <a:t>Vendor: time-bound</a:t>
            </a:r>
            <a:endParaRPr lang="en-US" sz="1000" dirty="0"/>
          </a:p>
        </p:txBody>
      </p:sp>
      <p:sp>
        <p:nvSpPr>
          <p:cNvPr id="34" name="Shape 29"/>
          <p:cNvSpPr/>
          <p:nvPr/>
        </p:nvSpPr>
        <p:spPr>
          <a:xfrm>
            <a:off x="4846320" y="4151376"/>
            <a:ext cx="3794760" cy="329184"/>
          </a:xfrm>
          <a:prstGeom prst="roundRect">
            <a:avLst>
              <a:gd name="adj" fmla="val 16667"/>
            </a:avLst>
          </a:prstGeom>
          <a:solidFill>
            <a:srgbClr val="DCE8F5"/>
          </a:solidFill>
          <a:ln w="12700">
            <a:solidFill>
              <a:srgbClr val="DCE8F5"/>
            </a:solidFill>
            <a:prstDash val="solid"/>
          </a:ln>
        </p:spPr>
      </p:sp>
      <p:sp>
        <p:nvSpPr>
          <p:cNvPr id="35" name="Text 30"/>
          <p:cNvSpPr txBox="1"/>
          <p:nvPr/>
        </p:nvSpPr>
        <p:spPr>
          <a:xfrm>
            <a:off x="4846320" y="4151376"/>
            <a:ext cx="3794760" cy="329184"/>
          </a:xfrm>
          <a:prstGeom prst="rect">
            <a:avLst/>
          </a:prstGeom>
          <a:noFill/>
          <a:ln/>
        </p:spPr>
        <p:txBody>
          <a:bodyPr wrap="square" lIns="0" tIns="0" rIns="0" bIns="0" rtlCol="0" anchor="ctr"/>
          <a:lstStyle/>
          <a:p>
            <a:pPr algn="ctr" indent="0" marL="0">
              <a:buNone/>
            </a:pPr>
            <a:r>
              <a:rPr lang="en-US" sz="1000" b="1" dirty="0">
                <a:solidFill>
                  <a:srgbClr val="1B2A4A"/>
                </a:solidFill>
              </a:rPr>
              <a:t>Full scope off for every app</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Joiner, Mover, Leaver: one live lifecycle</a:t>
            </a:r>
            <a:endParaRPr lang="en-US" sz="2400" dirty="0"/>
          </a:p>
        </p:txBody>
      </p:sp>
      <p:sp>
        <p:nvSpPr>
          <p:cNvPr id="4" name="Text 1"/>
          <p:cNvSpPr txBox="1"/>
          <p:nvPr/>
        </p:nvSpPr>
        <p:spPr>
          <a:xfrm>
            <a:off x="457200" y="822960"/>
            <a:ext cx="1143000" cy="274320"/>
          </a:xfrm>
          <a:prstGeom prst="rect">
            <a:avLst/>
          </a:prstGeom>
          <a:noFill/>
          <a:ln/>
        </p:spPr>
        <p:txBody>
          <a:bodyPr wrap="square" lIns="0" tIns="0" rIns="0" bIns="0" rtlCol="0" anchor="ctr"/>
          <a:lstStyle/>
          <a:p>
            <a:pPr indent="0" marL="0">
              <a:buNone/>
            </a:pPr>
            <a:r>
              <a:rPr lang="en-US" sz="950" b="1" dirty="0">
                <a:solidFill>
                  <a:srgbClr val="1B2A4A"/>
                </a:solidFill>
              </a:rPr>
              <a:t>Every change:</a:t>
            </a:r>
            <a:endParaRPr lang="en-US" sz="950" dirty="0"/>
          </a:p>
        </p:txBody>
      </p:sp>
      <p:sp>
        <p:nvSpPr>
          <p:cNvPr id="5" name="Shape 2"/>
          <p:cNvSpPr/>
          <p:nvPr/>
        </p:nvSpPr>
        <p:spPr>
          <a:xfrm>
            <a:off x="1627632" y="822960"/>
            <a:ext cx="1298448" cy="274320"/>
          </a:xfrm>
          <a:prstGeom prst="roundRect">
            <a:avLst>
              <a:gd name="adj" fmla="val 16667"/>
            </a:avLst>
          </a:prstGeom>
          <a:solidFill>
            <a:srgbClr val="DCE8F5"/>
          </a:solidFill>
          <a:ln w="12700">
            <a:solidFill>
              <a:srgbClr val="DCE8F5"/>
            </a:solidFill>
            <a:prstDash val="solid"/>
          </a:ln>
        </p:spPr>
      </p:sp>
      <p:sp>
        <p:nvSpPr>
          <p:cNvPr id="6" name="Text 3"/>
          <p:cNvSpPr txBox="1"/>
          <p:nvPr/>
        </p:nvSpPr>
        <p:spPr>
          <a:xfrm>
            <a:off x="1627632" y="822960"/>
            <a:ext cx="1298448" cy="274320"/>
          </a:xfrm>
          <a:prstGeom prst="rect">
            <a:avLst/>
          </a:prstGeom>
          <a:noFill/>
          <a:ln/>
        </p:spPr>
        <p:txBody>
          <a:bodyPr wrap="square" lIns="0" tIns="0" rIns="0" bIns="0" rtlCol="0" anchor="ctr"/>
          <a:lstStyle/>
          <a:p>
            <a:pPr algn="ctr" indent="0" marL="0">
              <a:buNone/>
            </a:pPr>
            <a:r>
              <a:rPr lang="en-US" sz="1000" b="1" dirty="0">
                <a:solidFill>
                  <a:srgbClr val="1B2A4A"/>
                </a:solidFill>
              </a:rPr>
              <a:t>Request</a:t>
            </a:r>
            <a:endParaRPr lang="en-US" sz="1000" dirty="0"/>
          </a:p>
        </p:txBody>
      </p:sp>
      <p:sp>
        <p:nvSpPr>
          <p:cNvPr id="7" name="Shape 4"/>
          <p:cNvSpPr/>
          <p:nvPr/>
        </p:nvSpPr>
        <p:spPr>
          <a:xfrm>
            <a:off x="2944368" y="914400"/>
            <a:ext cx="82296" cy="91440"/>
          </a:xfrm>
          <a:prstGeom prst="rightArrow">
            <a:avLst/>
          </a:prstGeom>
          <a:solidFill>
            <a:srgbClr val="5A6B85"/>
          </a:solidFill>
          <a:ln w="12700">
            <a:solidFill>
              <a:srgbClr val="5A6B85"/>
            </a:solidFill>
            <a:prstDash val="solid"/>
          </a:ln>
        </p:spPr>
      </p:sp>
      <p:sp>
        <p:nvSpPr>
          <p:cNvPr id="8" name="Shape 5"/>
          <p:cNvSpPr/>
          <p:nvPr/>
        </p:nvSpPr>
        <p:spPr>
          <a:xfrm>
            <a:off x="3044952" y="822960"/>
            <a:ext cx="1298448" cy="274320"/>
          </a:xfrm>
          <a:prstGeom prst="roundRect">
            <a:avLst>
              <a:gd name="adj" fmla="val 16667"/>
            </a:avLst>
          </a:prstGeom>
          <a:solidFill>
            <a:srgbClr val="DCE8F5"/>
          </a:solidFill>
          <a:ln w="12700">
            <a:solidFill>
              <a:srgbClr val="DCE8F5"/>
            </a:solidFill>
            <a:prstDash val="solid"/>
          </a:ln>
        </p:spPr>
      </p:sp>
      <p:sp>
        <p:nvSpPr>
          <p:cNvPr id="9" name="Text 6"/>
          <p:cNvSpPr txBox="1"/>
          <p:nvPr/>
        </p:nvSpPr>
        <p:spPr>
          <a:xfrm>
            <a:off x="3044952" y="822960"/>
            <a:ext cx="1298448" cy="274320"/>
          </a:xfrm>
          <a:prstGeom prst="rect">
            <a:avLst/>
          </a:prstGeom>
          <a:noFill/>
          <a:ln/>
        </p:spPr>
        <p:txBody>
          <a:bodyPr wrap="square" lIns="0" tIns="0" rIns="0" bIns="0" rtlCol="0" anchor="ctr"/>
          <a:lstStyle/>
          <a:p>
            <a:pPr algn="ctr" indent="0" marL="0">
              <a:buNone/>
            </a:pPr>
            <a:r>
              <a:rPr lang="en-US" sz="1000" b="1" dirty="0">
                <a:solidFill>
                  <a:srgbClr val="1B2A4A"/>
                </a:solidFill>
              </a:rPr>
              <a:t>Approve</a:t>
            </a:r>
            <a:endParaRPr lang="en-US" sz="1000" dirty="0"/>
          </a:p>
        </p:txBody>
      </p:sp>
      <p:sp>
        <p:nvSpPr>
          <p:cNvPr id="10" name="Shape 7"/>
          <p:cNvSpPr/>
          <p:nvPr/>
        </p:nvSpPr>
        <p:spPr>
          <a:xfrm>
            <a:off x="4361688" y="914400"/>
            <a:ext cx="82296" cy="91440"/>
          </a:xfrm>
          <a:prstGeom prst="rightArrow">
            <a:avLst/>
          </a:prstGeom>
          <a:solidFill>
            <a:srgbClr val="5A6B85"/>
          </a:solidFill>
          <a:ln w="12700">
            <a:solidFill>
              <a:srgbClr val="5A6B85"/>
            </a:solidFill>
            <a:prstDash val="solid"/>
          </a:ln>
        </p:spPr>
      </p:sp>
      <p:sp>
        <p:nvSpPr>
          <p:cNvPr id="11" name="Shape 8"/>
          <p:cNvSpPr/>
          <p:nvPr/>
        </p:nvSpPr>
        <p:spPr>
          <a:xfrm>
            <a:off x="4462272" y="822960"/>
            <a:ext cx="1298448" cy="274320"/>
          </a:xfrm>
          <a:prstGeom prst="roundRect">
            <a:avLst>
              <a:gd name="adj" fmla="val 16667"/>
            </a:avLst>
          </a:prstGeom>
          <a:solidFill>
            <a:srgbClr val="DCE8F5"/>
          </a:solidFill>
          <a:ln w="12700">
            <a:solidFill>
              <a:srgbClr val="DCE8F5"/>
            </a:solidFill>
            <a:prstDash val="solid"/>
          </a:ln>
        </p:spPr>
      </p:sp>
      <p:sp>
        <p:nvSpPr>
          <p:cNvPr id="12" name="Text 9"/>
          <p:cNvSpPr txBox="1"/>
          <p:nvPr/>
        </p:nvSpPr>
        <p:spPr>
          <a:xfrm>
            <a:off x="4462272" y="822960"/>
            <a:ext cx="1298448" cy="274320"/>
          </a:xfrm>
          <a:prstGeom prst="rect">
            <a:avLst/>
          </a:prstGeom>
          <a:noFill/>
          <a:ln/>
        </p:spPr>
        <p:txBody>
          <a:bodyPr wrap="square" lIns="0" tIns="0" rIns="0" bIns="0" rtlCol="0" anchor="ctr"/>
          <a:lstStyle/>
          <a:p>
            <a:pPr algn="ctr" indent="0" marL="0">
              <a:buNone/>
            </a:pPr>
            <a:r>
              <a:rPr lang="en-US" sz="1000" b="1" dirty="0">
                <a:solidFill>
                  <a:srgbClr val="1B2A4A"/>
                </a:solidFill>
              </a:rPr>
              <a:t>Check role</a:t>
            </a:r>
            <a:endParaRPr lang="en-US" sz="1000" dirty="0"/>
          </a:p>
        </p:txBody>
      </p:sp>
      <p:sp>
        <p:nvSpPr>
          <p:cNvPr id="13" name="Shape 10"/>
          <p:cNvSpPr/>
          <p:nvPr/>
        </p:nvSpPr>
        <p:spPr>
          <a:xfrm>
            <a:off x="5779008" y="914400"/>
            <a:ext cx="82296" cy="91440"/>
          </a:xfrm>
          <a:prstGeom prst="rightArrow">
            <a:avLst/>
          </a:prstGeom>
          <a:solidFill>
            <a:srgbClr val="5A6B85"/>
          </a:solidFill>
          <a:ln w="12700">
            <a:solidFill>
              <a:srgbClr val="5A6B85"/>
            </a:solidFill>
            <a:prstDash val="solid"/>
          </a:ln>
        </p:spPr>
      </p:sp>
      <p:sp>
        <p:nvSpPr>
          <p:cNvPr id="14" name="Shape 11"/>
          <p:cNvSpPr/>
          <p:nvPr/>
        </p:nvSpPr>
        <p:spPr>
          <a:xfrm>
            <a:off x="5879592" y="822960"/>
            <a:ext cx="1298448" cy="274320"/>
          </a:xfrm>
          <a:prstGeom prst="roundRect">
            <a:avLst>
              <a:gd name="adj" fmla="val 16667"/>
            </a:avLst>
          </a:prstGeom>
          <a:solidFill>
            <a:srgbClr val="DCE8F5"/>
          </a:solidFill>
          <a:ln w="12700">
            <a:solidFill>
              <a:srgbClr val="DCE8F5"/>
            </a:solidFill>
            <a:prstDash val="solid"/>
          </a:ln>
        </p:spPr>
      </p:sp>
      <p:sp>
        <p:nvSpPr>
          <p:cNvPr id="15" name="Text 12"/>
          <p:cNvSpPr txBox="1"/>
          <p:nvPr/>
        </p:nvSpPr>
        <p:spPr>
          <a:xfrm>
            <a:off x="5879592" y="822960"/>
            <a:ext cx="1298448" cy="274320"/>
          </a:xfrm>
          <a:prstGeom prst="rect">
            <a:avLst/>
          </a:prstGeom>
          <a:noFill/>
          <a:ln/>
        </p:spPr>
        <p:txBody>
          <a:bodyPr wrap="square" lIns="0" tIns="0" rIns="0" bIns="0" rtlCol="0" anchor="ctr"/>
          <a:lstStyle/>
          <a:p>
            <a:pPr algn="ctr" indent="0" marL="0">
              <a:buNone/>
            </a:pPr>
            <a:r>
              <a:rPr lang="en-US" sz="1000" b="1" dirty="0">
                <a:solidFill>
                  <a:srgbClr val="1B2A4A"/>
                </a:solidFill>
              </a:rPr>
              <a:t>Provision</a:t>
            </a:r>
            <a:endParaRPr lang="en-US" sz="1000" dirty="0"/>
          </a:p>
        </p:txBody>
      </p:sp>
      <p:sp>
        <p:nvSpPr>
          <p:cNvPr id="16" name="Shape 13"/>
          <p:cNvSpPr/>
          <p:nvPr/>
        </p:nvSpPr>
        <p:spPr>
          <a:xfrm>
            <a:off x="7196328" y="914400"/>
            <a:ext cx="82296" cy="91440"/>
          </a:xfrm>
          <a:prstGeom prst="rightArrow">
            <a:avLst/>
          </a:prstGeom>
          <a:solidFill>
            <a:srgbClr val="5A6B85"/>
          </a:solidFill>
          <a:ln w="12700">
            <a:solidFill>
              <a:srgbClr val="5A6B85"/>
            </a:solidFill>
            <a:prstDash val="solid"/>
          </a:ln>
        </p:spPr>
      </p:sp>
      <p:sp>
        <p:nvSpPr>
          <p:cNvPr id="17" name="Shape 14"/>
          <p:cNvSpPr/>
          <p:nvPr/>
        </p:nvSpPr>
        <p:spPr>
          <a:xfrm>
            <a:off x="7296912" y="822960"/>
            <a:ext cx="1298448" cy="274320"/>
          </a:xfrm>
          <a:prstGeom prst="roundRect">
            <a:avLst>
              <a:gd name="adj" fmla="val 16667"/>
            </a:avLst>
          </a:prstGeom>
          <a:solidFill>
            <a:srgbClr val="DCE8F5"/>
          </a:solidFill>
          <a:ln w="12700">
            <a:solidFill>
              <a:srgbClr val="DCE8F5"/>
            </a:solidFill>
            <a:prstDash val="solid"/>
          </a:ln>
        </p:spPr>
      </p:sp>
      <p:sp>
        <p:nvSpPr>
          <p:cNvPr id="18" name="Text 15"/>
          <p:cNvSpPr txBox="1"/>
          <p:nvPr/>
        </p:nvSpPr>
        <p:spPr>
          <a:xfrm>
            <a:off x="7296912" y="822960"/>
            <a:ext cx="1298448" cy="274320"/>
          </a:xfrm>
          <a:prstGeom prst="rect">
            <a:avLst/>
          </a:prstGeom>
          <a:noFill/>
          <a:ln/>
        </p:spPr>
        <p:txBody>
          <a:bodyPr wrap="square" lIns="0" tIns="0" rIns="0" bIns="0" rtlCol="0" anchor="ctr"/>
          <a:lstStyle/>
          <a:p>
            <a:pPr algn="ctr" indent="0" marL="0">
              <a:buNone/>
            </a:pPr>
            <a:r>
              <a:rPr lang="en-US" sz="1000" b="1" dirty="0">
                <a:solidFill>
                  <a:srgbClr val="1B2A4A"/>
                </a:solidFill>
              </a:rPr>
              <a:t>Verify</a:t>
            </a:r>
            <a:endParaRPr lang="en-US" sz="1000" dirty="0"/>
          </a:p>
        </p:txBody>
      </p:sp>
      <p:sp>
        <p:nvSpPr>
          <p:cNvPr id="19" name="Shape 16"/>
          <p:cNvSpPr/>
          <p:nvPr/>
        </p:nvSpPr>
        <p:spPr>
          <a:xfrm>
            <a:off x="457200" y="1188720"/>
            <a:ext cx="2560320" cy="3127248"/>
          </a:xfrm>
          <a:prstGeom prst="roundRect">
            <a:avLst>
              <a:gd name="adj" fmla="val 28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0" name="Shape 17"/>
          <p:cNvSpPr/>
          <p:nvPr/>
        </p:nvSpPr>
        <p:spPr>
          <a:xfrm>
            <a:off x="566928" y="1252728"/>
            <a:ext cx="384048" cy="384048"/>
          </a:xfrm>
          <a:prstGeom prst="ellipse">
            <a:avLst/>
          </a:prstGeom>
          <a:solidFill>
            <a:srgbClr val="2E8B57"/>
          </a:solidFill>
          <a:ln w="12700">
            <a:solidFill>
              <a:srgbClr val="2E8B57"/>
            </a:solidFill>
            <a:prstDash val="solid"/>
          </a:ln>
        </p:spPr>
      </p:sp>
      <p:pic>
        <p:nvPicPr>
          <p:cNvPr id="21" name="Image 1" descr="preencoded.png">    </p:cNvPr>
          <p:cNvPicPr>
            <a:picLocks noChangeAspect="1"/>
          </p:cNvPicPr>
          <p:nvPr/>
        </p:nvPicPr>
        <p:blipFill>
          <a:blip r:embed="rId2"/>
          <a:stretch>
            <a:fillRect/>
          </a:stretch>
        </p:blipFill>
        <p:spPr>
          <a:xfrm>
            <a:off x="651419" y="1337219"/>
            <a:ext cx="215067" cy="215067"/>
          </a:xfrm>
          <a:prstGeom prst="rect">
            <a:avLst/>
          </a:prstGeom>
        </p:spPr>
      </p:pic>
      <p:sp>
        <p:nvSpPr>
          <p:cNvPr id="22" name="Text 18"/>
          <p:cNvSpPr txBox="1"/>
          <p:nvPr/>
        </p:nvSpPr>
        <p:spPr>
          <a:xfrm>
            <a:off x="1024128" y="1234440"/>
            <a:ext cx="1901952" cy="237744"/>
          </a:xfrm>
          <a:prstGeom prst="rect">
            <a:avLst/>
          </a:prstGeom>
          <a:noFill/>
          <a:ln/>
        </p:spPr>
        <p:txBody>
          <a:bodyPr wrap="square" lIns="0" tIns="0" rIns="0" bIns="0" rtlCol="0" anchor="ctr"/>
          <a:lstStyle/>
          <a:p>
            <a:pPr indent="0" marL="0">
              <a:buNone/>
            </a:pPr>
            <a:r>
              <a:rPr lang="en-US" sz="1000" b="1" dirty="0">
                <a:solidFill>
                  <a:srgbClr val="2E8B57"/>
                </a:solidFill>
              </a:rPr>
              <a:t>JOINER  </a:t>
            </a:r>
            <a:pPr indent="0" marL="0">
              <a:buNone/>
            </a:pPr>
            <a:r>
              <a:rPr lang="en-US" sz="1400" b="1" dirty="0">
                <a:solidFill>
                  <a:srgbClr val="1B2A4A"/>
                </a:solidFill>
              </a:rPr>
              <a:t>Sathya Hasi</a:t>
            </a:r>
            <a:endParaRPr lang="en-US" sz="1000" dirty="0"/>
          </a:p>
        </p:txBody>
      </p:sp>
      <p:sp>
        <p:nvSpPr>
          <p:cNvPr id="23" name="Text 19"/>
          <p:cNvSpPr txBox="1"/>
          <p:nvPr/>
        </p:nvSpPr>
        <p:spPr>
          <a:xfrm>
            <a:off x="1024128" y="1463040"/>
            <a:ext cx="1901952" cy="182880"/>
          </a:xfrm>
          <a:prstGeom prst="rect">
            <a:avLst/>
          </a:prstGeom>
          <a:noFill/>
          <a:ln/>
        </p:spPr>
        <p:txBody>
          <a:bodyPr wrap="square" lIns="0" tIns="0" rIns="0" bIns="0" rtlCol="0" anchor="ctr"/>
          <a:lstStyle/>
          <a:p>
            <a:pPr indent="0" marL="0">
              <a:buNone/>
            </a:pPr>
            <a:r>
              <a:rPr lang="en-US" sz="900" dirty="0">
                <a:solidFill>
                  <a:srgbClr val="1F2937"/>
                </a:solidFill>
              </a:rPr>
              <a:t>Ticket REQ-2026-0101</a:t>
            </a:r>
            <a:endParaRPr lang="en-US" sz="900" dirty="0"/>
          </a:p>
        </p:txBody>
      </p:sp>
      <p:pic>
        <p:nvPicPr>
          <p:cNvPr id="24" name="Image 2" descr="/home/claude/deck/img/JML-04-joiner-first-login.jpg">    </p:cNvPr>
          <p:cNvPicPr>
            <a:picLocks noChangeAspect="1"/>
          </p:cNvPicPr>
          <p:nvPr/>
        </p:nvPicPr>
        <p:blipFill>
          <a:blip r:embed="rId3"/>
          <a:stretch>
            <a:fillRect/>
          </a:stretch>
        </p:blipFill>
        <p:spPr>
          <a:xfrm>
            <a:off x="640080" y="1737360"/>
            <a:ext cx="2194560" cy="1377696"/>
          </a:xfrm>
          <a:prstGeom prst="rect">
            <a:avLst/>
          </a:prstGeom>
        </p:spPr>
      </p:pic>
      <p:sp>
        <p:nvSpPr>
          <p:cNvPr id="25" name="Shape 20"/>
          <p:cNvSpPr/>
          <p:nvPr/>
        </p:nvSpPr>
        <p:spPr>
          <a:xfrm>
            <a:off x="566928" y="3200400"/>
            <a:ext cx="566928" cy="210312"/>
          </a:xfrm>
          <a:prstGeom prst="roundRect">
            <a:avLst>
              <a:gd name="adj" fmla="val 17391"/>
            </a:avLst>
          </a:prstGeom>
          <a:solidFill>
            <a:srgbClr val="2E8B57"/>
          </a:solidFill>
          <a:ln w="12700">
            <a:solidFill>
              <a:srgbClr val="2E8B57"/>
            </a:solidFill>
            <a:prstDash val="solid"/>
          </a:ln>
        </p:spPr>
      </p:sp>
      <p:sp>
        <p:nvSpPr>
          <p:cNvPr id="26" name="Text 21"/>
          <p:cNvSpPr txBox="1"/>
          <p:nvPr/>
        </p:nvSpPr>
        <p:spPr>
          <a:xfrm>
            <a:off x="566928" y="3200400"/>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16:23</a:t>
            </a:r>
            <a:endParaRPr lang="en-US" sz="900" dirty="0"/>
          </a:p>
        </p:txBody>
      </p:sp>
      <p:sp>
        <p:nvSpPr>
          <p:cNvPr id="27" name="Text 22"/>
          <p:cNvSpPr txBox="1"/>
          <p:nvPr/>
        </p:nvSpPr>
        <p:spPr>
          <a:xfrm>
            <a:off x="1207008" y="3200400"/>
            <a:ext cx="1719072" cy="210312"/>
          </a:xfrm>
          <a:prstGeom prst="rect">
            <a:avLst/>
          </a:prstGeom>
          <a:noFill/>
          <a:ln/>
        </p:spPr>
        <p:txBody>
          <a:bodyPr wrap="square" lIns="0" tIns="0" rIns="0" bIns="0" rtlCol="0" anchor="ctr"/>
          <a:lstStyle/>
          <a:p>
            <a:pPr indent="0" marL="0">
              <a:buNone/>
            </a:pPr>
            <a:r>
              <a:rPr lang="en-US" sz="1000" dirty="0">
                <a:solidFill>
                  <a:srgbClr val="1F2937"/>
                </a:solidFill>
              </a:rPr>
              <a:t>Created, no role</a:t>
            </a:r>
            <a:endParaRPr lang="en-US" sz="1000" dirty="0"/>
          </a:p>
        </p:txBody>
      </p:sp>
      <p:sp>
        <p:nvSpPr>
          <p:cNvPr id="28" name="Shape 23"/>
          <p:cNvSpPr/>
          <p:nvPr/>
        </p:nvSpPr>
        <p:spPr>
          <a:xfrm>
            <a:off x="566928" y="3465576"/>
            <a:ext cx="566928" cy="210312"/>
          </a:xfrm>
          <a:prstGeom prst="roundRect">
            <a:avLst>
              <a:gd name="adj" fmla="val 17391"/>
            </a:avLst>
          </a:prstGeom>
          <a:solidFill>
            <a:srgbClr val="2E8B57"/>
          </a:solidFill>
          <a:ln w="12700">
            <a:solidFill>
              <a:srgbClr val="2E8B57"/>
            </a:solidFill>
            <a:prstDash val="solid"/>
          </a:ln>
        </p:spPr>
      </p:sp>
      <p:sp>
        <p:nvSpPr>
          <p:cNvPr id="29" name="Text 24"/>
          <p:cNvSpPr txBox="1"/>
          <p:nvPr/>
        </p:nvSpPr>
        <p:spPr>
          <a:xfrm>
            <a:off x="566928" y="3465576"/>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16:46</a:t>
            </a:r>
            <a:endParaRPr lang="en-US" sz="900" dirty="0"/>
          </a:p>
        </p:txBody>
      </p:sp>
      <p:sp>
        <p:nvSpPr>
          <p:cNvPr id="30" name="Text 25"/>
          <p:cNvSpPr txBox="1"/>
          <p:nvPr/>
        </p:nvSpPr>
        <p:spPr>
          <a:xfrm>
            <a:off x="1207008" y="3465576"/>
            <a:ext cx="1719072" cy="210312"/>
          </a:xfrm>
          <a:prstGeom prst="rect">
            <a:avLst/>
          </a:prstGeom>
          <a:noFill/>
          <a:ln/>
        </p:spPr>
        <p:txBody>
          <a:bodyPr wrap="square" lIns="0" tIns="0" rIns="0" bIns="0" rtlCol="0" anchor="ctr"/>
          <a:lstStyle/>
          <a:p>
            <a:pPr indent="0" marL="0">
              <a:buNone/>
            </a:pPr>
            <a:r>
              <a:rPr lang="en-US" sz="1000" dirty="0">
                <a:solidFill>
                  <a:srgbClr val="1F2937"/>
                </a:solidFill>
              </a:rPr>
              <a:t>Clinician added</a:t>
            </a:r>
            <a:endParaRPr lang="en-US" sz="1000" dirty="0"/>
          </a:p>
        </p:txBody>
      </p:sp>
      <p:sp>
        <p:nvSpPr>
          <p:cNvPr id="31" name="Shape 26"/>
          <p:cNvSpPr/>
          <p:nvPr/>
        </p:nvSpPr>
        <p:spPr>
          <a:xfrm>
            <a:off x="566928" y="3730752"/>
            <a:ext cx="566928" cy="210312"/>
          </a:xfrm>
          <a:prstGeom prst="roundRect">
            <a:avLst>
              <a:gd name="adj" fmla="val 17391"/>
            </a:avLst>
          </a:prstGeom>
          <a:solidFill>
            <a:srgbClr val="2E8B57"/>
          </a:solidFill>
          <a:ln w="12700">
            <a:solidFill>
              <a:srgbClr val="2E8B57"/>
            </a:solidFill>
            <a:prstDash val="solid"/>
          </a:ln>
        </p:spPr>
      </p:sp>
      <p:sp>
        <p:nvSpPr>
          <p:cNvPr id="32" name="Text 27"/>
          <p:cNvSpPr txBox="1"/>
          <p:nvPr/>
        </p:nvSpPr>
        <p:spPr>
          <a:xfrm>
            <a:off x="566928" y="3730752"/>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16:57</a:t>
            </a:r>
            <a:endParaRPr lang="en-US" sz="900" dirty="0"/>
          </a:p>
        </p:txBody>
      </p:sp>
      <p:sp>
        <p:nvSpPr>
          <p:cNvPr id="33" name="Text 28"/>
          <p:cNvSpPr txBox="1"/>
          <p:nvPr/>
        </p:nvSpPr>
        <p:spPr>
          <a:xfrm>
            <a:off x="1207008" y="3730752"/>
            <a:ext cx="1719072" cy="210312"/>
          </a:xfrm>
          <a:prstGeom prst="rect">
            <a:avLst/>
          </a:prstGeom>
          <a:noFill/>
          <a:ln/>
        </p:spPr>
        <p:txBody>
          <a:bodyPr wrap="square" lIns="0" tIns="0" rIns="0" bIns="0" rtlCol="0" anchor="ctr"/>
          <a:lstStyle/>
          <a:p>
            <a:pPr indent="0" marL="0">
              <a:buNone/>
            </a:pPr>
            <a:r>
              <a:rPr lang="en-US" sz="1000" dirty="0">
                <a:solidFill>
                  <a:srgbClr val="1F2937"/>
                </a:solidFill>
              </a:rPr>
              <a:t>MFA registered</a:t>
            </a:r>
            <a:endParaRPr lang="en-US" sz="1000" dirty="0"/>
          </a:p>
        </p:txBody>
      </p:sp>
      <p:sp>
        <p:nvSpPr>
          <p:cNvPr id="34" name="Shape 29"/>
          <p:cNvSpPr/>
          <p:nvPr/>
        </p:nvSpPr>
        <p:spPr>
          <a:xfrm>
            <a:off x="566928" y="3995928"/>
            <a:ext cx="566928" cy="210312"/>
          </a:xfrm>
          <a:prstGeom prst="roundRect">
            <a:avLst>
              <a:gd name="adj" fmla="val 17391"/>
            </a:avLst>
          </a:prstGeom>
          <a:solidFill>
            <a:srgbClr val="2E8B57"/>
          </a:solidFill>
          <a:ln w="12700">
            <a:solidFill>
              <a:srgbClr val="2E8B57"/>
            </a:solidFill>
            <a:prstDash val="solid"/>
          </a:ln>
        </p:spPr>
      </p:sp>
      <p:sp>
        <p:nvSpPr>
          <p:cNvPr id="35" name="Text 30"/>
          <p:cNvSpPr txBox="1"/>
          <p:nvPr/>
        </p:nvSpPr>
        <p:spPr>
          <a:xfrm>
            <a:off x="566928" y="3995928"/>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17:10</a:t>
            </a:r>
            <a:endParaRPr lang="en-US" sz="900" dirty="0"/>
          </a:p>
        </p:txBody>
      </p:sp>
      <p:sp>
        <p:nvSpPr>
          <p:cNvPr id="36" name="Text 31"/>
          <p:cNvSpPr txBox="1"/>
          <p:nvPr/>
        </p:nvSpPr>
        <p:spPr>
          <a:xfrm>
            <a:off x="1207008" y="3995928"/>
            <a:ext cx="1719072" cy="210312"/>
          </a:xfrm>
          <a:prstGeom prst="rect">
            <a:avLst/>
          </a:prstGeom>
          <a:noFill/>
          <a:ln/>
        </p:spPr>
        <p:txBody>
          <a:bodyPr wrap="square" lIns="0" tIns="0" rIns="0" bIns="0" rtlCol="0" anchor="ctr"/>
          <a:lstStyle/>
          <a:p>
            <a:pPr indent="0" marL="0">
              <a:buNone/>
            </a:pPr>
            <a:r>
              <a:rPr lang="en-US" sz="1000" dirty="0">
                <a:solidFill>
                  <a:srgbClr val="1F2937"/>
                </a:solidFill>
              </a:rPr>
              <a:t>First sign-in</a:t>
            </a:r>
            <a:endParaRPr lang="en-US" sz="1000" dirty="0"/>
          </a:p>
        </p:txBody>
      </p:sp>
      <p:sp>
        <p:nvSpPr>
          <p:cNvPr id="37" name="Shape 32"/>
          <p:cNvSpPr/>
          <p:nvPr/>
        </p:nvSpPr>
        <p:spPr>
          <a:xfrm>
            <a:off x="3291840" y="1188720"/>
            <a:ext cx="2560320" cy="3127248"/>
          </a:xfrm>
          <a:prstGeom prst="roundRect">
            <a:avLst>
              <a:gd name="adj" fmla="val 28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8" name="Shape 33"/>
          <p:cNvSpPr/>
          <p:nvPr/>
        </p:nvSpPr>
        <p:spPr>
          <a:xfrm>
            <a:off x="3401568" y="1252728"/>
            <a:ext cx="384048" cy="384048"/>
          </a:xfrm>
          <a:prstGeom prst="ellipse">
            <a:avLst/>
          </a:prstGeom>
          <a:solidFill>
            <a:srgbClr val="2E6FB7"/>
          </a:solidFill>
          <a:ln w="12700">
            <a:solidFill>
              <a:srgbClr val="2E6FB7"/>
            </a:solidFill>
            <a:prstDash val="solid"/>
          </a:ln>
        </p:spPr>
      </p:sp>
      <p:pic>
        <p:nvPicPr>
          <p:cNvPr id="39" name="Image 3" descr="preencoded.png">    </p:cNvPr>
          <p:cNvPicPr>
            <a:picLocks noChangeAspect="1"/>
          </p:cNvPicPr>
          <p:nvPr/>
        </p:nvPicPr>
        <p:blipFill>
          <a:blip r:embed="rId4"/>
          <a:stretch>
            <a:fillRect/>
          </a:stretch>
        </p:blipFill>
        <p:spPr>
          <a:xfrm>
            <a:off x="3486059" y="1337219"/>
            <a:ext cx="215067" cy="215067"/>
          </a:xfrm>
          <a:prstGeom prst="rect">
            <a:avLst/>
          </a:prstGeom>
        </p:spPr>
      </p:pic>
      <p:sp>
        <p:nvSpPr>
          <p:cNvPr id="40" name="Text 34"/>
          <p:cNvSpPr txBox="1"/>
          <p:nvPr/>
        </p:nvSpPr>
        <p:spPr>
          <a:xfrm>
            <a:off x="3858768" y="1234440"/>
            <a:ext cx="1901952" cy="237744"/>
          </a:xfrm>
          <a:prstGeom prst="rect">
            <a:avLst/>
          </a:prstGeom>
          <a:noFill/>
          <a:ln/>
        </p:spPr>
        <p:txBody>
          <a:bodyPr wrap="square" lIns="0" tIns="0" rIns="0" bIns="0" rtlCol="0" anchor="ctr"/>
          <a:lstStyle/>
          <a:p>
            <a:pPr indent="0" marL="0">
              <a:buNone/>
            </a:pPr>
            <a:r>
              <a:rPr lang="en-US" sz="1000" b="1" dirty="0">
                <a:solidFill>
                  <a:srgbClr val="2E6FB7"/>
                </a:solidFill>
              </a:rPr>
              <a:t>MOVER  </a:t>
            </a:r>
            <a:pPr indent="0" marL="0">
              <a:buNone/>
            </a:pPr>
            <a:r>
              <a:rPr lang="en-US" sz="1400" b="1" dirty="0">
                <a:solidFill>
                  <a:srgbClr val="1B2A4A"/>
                </a:solidFill>
              </a:rPr>
              <a:t>Tara Jones</a:t>
            </a:r>
            <a:endParaRPr lang="en-US" sz="1000" dirty="0"/>
          </a:p>
        </p:txBody>
      </p:sp>
      <p:sp>
        <p:nvSpPr>
          <p:cNvPr id="41" name="Text 35"/>
          <p:cNvSpPr txBox="1"/>
          <p:nvPr/>
        </p:nvSpPr>
        <p:spPr>
          <a:xfrm>
            <a:off x="3858768" y="1463040"/>
            <a:ext cx="1901952" cy="182880"/>
          </a:xfrm>
          <a:prstGeom prst="rect">
            <a:avLst/>
          </a:prstGeom>
          <a:noFill/>
          <a:ln/>
        </p:spPr>
        <p:txBody>
          <a:bodyPr wrap="square" lIns="0" tIns="0" rIns="0" bIns="0" rtlCol="0" anchor="ctr"/>
          <a:lstStyle/>
          <a:p>
            <a:pPr indent="0" marL="0">
              <a:buNone/>
            </a:pPr>
            <a:r>
              <a:rPr lang="en-US" sz="900" dirty="0">
                <a:solidFill>
                  <a:srgbClr val="1F2937"/>
                </a:solidFill>
              </a:rPr>
              <a:t>Ticket CHG-2026-0201</a:t>
            </a:r>
            <a:endParaRPr lang="en-US" sz="900" dirty="0"/>
          </a:p>
        </p:txBody>
      </p:sp>
      <p:pic>
        <p:nvPicPr>
          <p:cNvPr id="42" name="Image 4" descr="/home/claude/deck/img/JML-08-mover-keycloak-role.jpg">    </p:cNvPr>
          <p:cNvPicPr>
            <a:picLocks noChangeAspect="1"/>
          </p:cNvPicPr>
          <p:nvPr/>
        </p:nvPicPr>
        <p:blipFill>
          <a:blip r:embed="rId5"/>
          <a:stretch>
            <a:fillRect/>
          </a:stretch>
        </p:blipFill>
        <p:spPr>
          <a:xfrm>
            <a:off x="3474720" y="1737360"/>
            <a:ext cx="2194560" cy="1377696"/>
          </a:xfrm>
          <a:prstGeom prst="rect">
            <a:avLst/>
          </a:prstGeom>
        </p:spPr>
      </p:pic>
      <p:sp>
        <p:nvSpPr>
          <p:cNvPr id="43" name="Shape 36"/>
          <p:cNvSpPr/>
          <p:nvPr/>
        </p:nvSpPr>
        <p:spPr>
          <a:xfrm>
            <a:off x="3401568" y="3200400"/>
            <a:ext cx="566928" cy="210312"/>
          </a:xfrm>
          <a:prstGeom prst="roundRect">
            <a:avLst>
              <a:gd name="adj" fmla="val 17391"/>
            </a:avLst>
          </a:prstGeom>
          <a:solidFill>
            <a:srgbClr val="2E6FB7"/>
          </a:solidFill>
          <a:ln w="12700">
            <a:solidFill>
              <a:srgbClr val="2E6FB7"/>
            </a:solidFill>
            <a:prstDash val="solid"/>
          </a:ln>
        </p:spPr>
      </p:sp>
      <p:sp>
        <p:nvSpPr>
          <p:cNvPr id="44" name="Text 37"/>
          <p:cNvSpPr txBox="1"/>
          <p:nvPr/>
        </p:nvSpPr>
        <p:spPr>
          <a:xfrm>
            <a:off x="3401568" y="3200400"/>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17:21</a:t>
            </a:r>
            <a:endParaRPr lang="en-US" sz="900" dirty="0"/>
          </a:p>
        </p:txBody>
      </p:sp>
      <p:sp>
        <p:nvSpPr>
          <p:cNvPr id="45" name="Text 38"/>
          <p:cNvSpPr txBox="1"/>
          <p:nvPr/>
        </p:nvSpPr>
        <p:spPr>
          <a:xfrm>
            <a:off x="4041648" y="3200400"/>
            <a:ext cx="1719072" cy="210312"/>
          </a:xfrm>
          <a:prstGeom prst="rect">
            <a:avLst/>
          </a:prstGeom>
          <a:noFill/>
          <a:ln/>
        </p:spPr>
        <p:txBody>
          <a:bodyPr wrap="square" lIns="0" tIns="0" rIns="0" bIns="0" rtlCol="0" anchor="ctr"/>
          <a:lstStyle/>
          <a:p>
            <a:pPr indent="0" marL="0">
              <a:buNone/>
            </a:pPr>
            <a:r>
              <a:rPr lang="en-US" sz="1000" dirty="0">
                <a:solidFill>
                  <a:srgbClr val="1F2937"/>
                </a:solidFill>
              </a:rPr>
              <a:t>Nurse removed</a:t>
            </a:r>
            <a:endParaRPr lang="en-US" sz="1000" dirty="0"/>
          </a:p>
        </p:txBody>
      </p:sp>
      <p:sp>
        <p:nvSpPr>
          <p:cNvPr id="46" name="Shape 39"/>
          <p:cNvSpPr/>
          <p:nvPr/>
        </p:nvSpPr>
        <p:spPr>
          <a:xfrm>
            <a:off x="3401568" y="3465576"/>
            <a:ext cx="566928" cy="210312"/>
          </a:xfrm>
          <a:prstGeom prst="roundRect">
            <a:avLst>
              <a:gd name="adj" fmla="val 17391"/>
            </a:avLst>
          </a:prstGeom>
          <a:solidFill>
            <a:srgbClr val="2E6FB7"/>
          </a:solidFill>
          <a:ln w="12700">
            <a:solidFill>
              <a:srgbClr val="2E6FB7"/>
            </a:solidFill>
            <a:prstDash val="solid"/>
          </a:ln>
        </p:spPr>
      </p:sp>
      <p:sp>
        <p:nvSpPr>
          <p:cNvPr id="47" name="Text 40"/>
          <p:cNvSpPr txBox="1"/>
          <p:nvPr/>
        </p:nvSpPr>
        <p:spPr>
          <a:xfrm>
            <a:off x="3401568" y="3465576"/>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17:23</a:t>
            </a:r>
            <a:endParaRPr lang="en-US" sz="900" dirty="0"/>
          </a:p>
        </p:txBody>
      </p:sp>
      <p:sp>
        <p:nvSpPr>
          <p:cNvPr id="48" name="Text 41"/>
          <p:cNvSpPr txBox="1"/>
          <p:nvPr/>
        </p:nvSpPr>
        <p:spPr>
          <a:xfrm>
            <a:off x="4041648" y="3465576"/>
            <a:ext cx="1719072" cy="210312"/>
          </a:xfrm>
          <a:prstGeom prst="rect">
            <a:avLst/>
          </a:prstGeom>
          <a:noFill/>
          <a:ln/>
        </p:spPr>
        <p:txBody>
          <a:bodyPr wrap="square" lIns="0" tIns="0" rIns="0" bIns="0" rtlCol="0" anchor="ctr"/>
          <a:lstStyle/>
          <a:p>
            <a:pPr indent="0" marL="0">
              <a:buNone/>
            </a:pPr>
            <a:r>
              <a:rPr lang="en-US" sz="1000" dirty="0">
                <a:solidFill>
                  <a:srgbClr val="1F2937"/>
                </a:solidFill>
              </a:rPr>
              <a:t>Billing added</a:t>
            </a:r>
            <a:endParaRPr lang="en-US" sz="1000" dirty="0"/>
          </a:p>
        </p:txBody>
      </p:sp>
      <p:sp>
        <p:nvSpPr>
          <p:cNvPr id="49" name="Shape 42"/>
          <p:cNvSpPr/>
          <p:nvPr/>
        </p:nvSpPr>
        <p:spPr>
          <a:xfrm>
            <a:off x="3401568" y="3730752"/>
            <a:ext cx="566928" cy="210312"/>
          </a:xfrm>
          <a:prstGeom prst="roundRect">
            <a:avLst>
              <a:gd name="adj" fmla="val 17391"/>
            </a:avLst>
          </a:prstGeom>
          <a:solidFill>
            <a:srgbClr val="2E6FB7"/>
          </a:solidFill>
          <a:ln w="12700">
            <a:solidFill>
              <a:srgbClr val="2E6FB7"/>
            </a:solidFill>
            <a:prstDash val="solid"/>
          </a:ln>
        </p:spPr>
      </p:sp>
      <p:sp>
        <p:nvSpPr>
          <p:cNvPr id="50" name="Text 43"/>
          <p:cNvSpPr txBox="1"/>
          <p:nvPr/>
        </p:nvSpPr>
        <p:spPr>
          <a:xfrm>
            <a:off x="3401568" y="3730752"/>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17:26</a:t>
            </a:r>
            <a:endParaRPr lang="en-US" sz="900" dirty="0"/>
          </a:p>
        </p:txBody>
      </p:sp>
      <p:sp>
        <p:nvSpPr>
          <p:cNvPr id="51" name="Text 44"/>
          <p:cNvSpPr txBox="1"/>
          <p:nvPr/>
        </p:nvSpPr>
        <p:spPr>
          <a:xfrm>
            <a:off x="4041648" y="3730752"/>
            <a:ext cx="1719072" cy="210312"/>
          </a:xfrm>
          <a:prstGeom prst="rect">
            <a:avLst/>
          </a:prstGeom>
          <a:noFill/>
          <a:ln/>
        </p:spPr>
        <p:txBody>
          <a:bodyPr wrap="square" lIns="0" tIns="0" rIns="0" bIns="0" rtlCol="0" anchor="ctr"/>
          <a:lstStyle/>
          <a:p>
            <a:pPr indent="0" marL="0">
              <a:buNone/>
            </a:pPr>
            <a:r>
              <a:rPr lang="en-US" sz="1000" dirty="0">
                <a:solidFill>
                  <a:srgbClr val="1F2937"/>
                </a:solidFill>
              </a:rPr>
              <a:t>Signed out</a:t>
            </a:r>
            <a:endParaRPr lang="en-US" sz="1000" dirty="0"/>
          </a:p>
        </p:txBody>
      </p:sp>
      <p:sp>
        <p:nvSpPr>
          <p:cNvPr id="52" name="Shape 45"/>
          <p:cNvSpPr/>
          <p:nvPr/>
        </p:nvSpPr>
        <p:spPr>
          <a:xfrm>
            <a:off x="3401568" y="3995928"/>
            <a:ext cx="566928" cy="210312"/>
          </a:xfrm>
          <a:prstGeom prst="roundRect">
            <a:avLst>
              <a:gd name="adj" fmla="val 17391"/>
            </a:avLst>
          </a:prstGeom>
          <a:solidFill>
            <a:srgbClr val="2E6FB7"/>
          </a:solidFill>
          <a:ln w="12700">
            <a:solidFill>
              <a:srgbClr val="2E6FB7"/>
            </a:solidFill>
            <a:prstDash val="solid"/>
          </a:ln>
        </p:spPr>
      </p:sp>
      <p:sp>
        <p:nvSpPr>
          <p:cNvPr id="53" name="Text 46"/>
          <p:cNvSpPr txBox="1"/>
          <p:nvPr/>
        </p:nvSpPr>
        <p:spPr>
          <a:xfrm>
            <a:off x="3401568" y="3995928"/>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17:41</a:t>
            </a:r>
            <a:endParaRPr lang="en-US" sz="900" dirty="0"/>
          </a:p>
        </p:txBody>
      </p:sp>
      <p:sp>
        <p:nvSpPr>
          <p:cNvPr id="54" name="Text 47"/>
          <p:cNvSpPr txBox="1"/>
          <p:nvPr/>
        </p:nvSpPr>
        <p:spPr>
          <a:xfrm>
            <a:off x="4041648" y="3995928"/>
            <a:ext cx="1719072" cy="210312"/>
          </a:xfrm>
          <a:prstGeom prst="rect">
            <a:avLst/>
          </a:prstGeom>
          <a:noFill/>
          <a:ln/>
        </p:spPr>
        <p:txBody>
          <a:bodyPr wrap="square" lIns="0" tIns="0" rIns="0" bIns="0" rtlCol="0" anchor="ctr"/>
          <a:lstStyle/>
          <a:p>
            <a:pPr indent="0" marL="0">
              <a:buNone/>
            </a:pPr>
            <a:r>
              <a:rPr lang="en-US" sz="1000" dirty="0">
                <a:solidFill>
                  <a:srgbClr val="1F2937"/>
                </a:solidFill>
              </a:rPr>
              <a:t>Billing only</a:t>
            </a:r>
            <a:endParaRPr lang="en-US" sz="1000" dirty="0"/>
          </a:p>
        </p:txBody>
      </p:sp>
      <p:sp>
        <p:nvSpPr>
          <p:cNvPr id="55" name="Shape 48"/>
          <p:cNvSpPr/>
          <p:nvPr/>
        </p:nvSpPr>
        <p:spPr>
          <a:xfrm>
            <a:off x="6126480" y="1188720"/>
            <a:ext cx="2560320" cy="3127248"/>
          </a:xfrm>
          <a:prstGeom prst="roundRect">
            <a:avLst>
              <a:gd name="adj" fmla="val 28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6" name="Shape 49"/>
          <p:cNvSpPr/>
          <p:nvPr/>
        </p:nvSpPr>
        <p:spPr>
          <a:xfrm>
            <a:off x="6236208" y="1252728"/>
            <a:ext cx="384048" cy="384048"/>
          </a:xfrm>
          <a:prstGeom prst="ellipse">
            <a:avLst/>
          </a:prstGeom>
          <a:solidFill>
            <a:srgbClr val="C0392B"/>
          </a:solidFill>
          <a:ln w="12700">
            <a:solidFill>
              <a:srgbClr val="C0392B"/>
            </a:solidFill>
            <a:prstDash val="solid"/>
          </a:ln>
        </p:spPr>
      </p:sp>
      <p:pic>
        <p:nvPicPr>
          <p:cNvPr id="57" name="Image 5" descr="preencoded.png">    </p:cNvPr>
          <p:cNvPicPr>
            <a:picLocks noChangeAspect="1"/>
          </p:cNvPicPr>
          <p:nvPr/>
        </p:nvPicPr>
        <p:blipFill>
          <a:blip r:embed="rId6"/>
          <a:stretch>
            <a:fillRect/>
          </a:stretch>
        </p:blipFill>
        <p:spPr>
          <a:xfrm>
            <a:off x="6320699" y="1337219"/>
            <a:ext cx="215067" cy="215067"/>
          </a:xfrm>
          <a:prstGeom prst="rect">
            <a:avLst/>
          </a:prstGeom>
        </p:spPr>
      </p:pic>
      <p:sp>
        <p:nvSpPr>
          <p:cNvPr id="58" name="Text 50"/>
          <p:cNvSpPr txBox="1"/>
          <p:nvPr/>
        </p:nvSpPr>
        <p:spPr>
          <a:xfrm>
            <a:off x="6693408" y="1234440"/>
            <a:ext cx="1901952" cy="237744"/>
          </a:xfrm>
          <a:prstGeom prst="rect">
            <a:avLst/>
          </a:prstGeom>
          <a:noFill/>
          <a:ln/>
        </p:spPr>
        <p:txBody>
          <a:bodyPr wrap="square" lIns="0" tIns="0" rIns="0" bIns="0" rtlCol="0" anchor="ctr"/>
          <a:lstStyle/>
          <a:p>
            <a:pPr indent="0" marL="0">
              <a:buNone/>
            </a:pPr>
            <a:r>
              <a:rPr lang="en-US" sz="1000" b="1" dirty="0">
                <a:solidFill>
                  <a:srgbClr val="C0392B"/>
                </a:solidFill>
              </a:rPr>
              <a:t>LEAVER  </a:t>
            </a:r>
            <a:pPr indent="0" marL="0">
              <a:buNone/>
            </a:pPr>
            <a:r>
              <a:rPr lang="en-US" sz="1400" b="1" dirty="0">
                <a:solidFill>
                  <a:srgbClr val="1B2A4A"/>
                </a:solidFill>
              </a:rPr>
              <a:t>Jeevan Smith</a:t>
            </a:r>
            <a:endParaRPr lang="en-US" sz="1000" dirty="0"/>
          </a:p>
        </p:txBody>
      </p:sp>
      <p:sp>
        <p:nvSpPr>
          <p:cNvPr id="59" name="Text 51"/>
          <p:cNvSpPr txBox="1"/>
          <p:nvPr/>
        </p:nvSpPr>
        <p:spPr>
          <a:xfrm>
            <a:off x="6693408" y="1463040"/>
            <a:ext cx="1901952" cy="182880"/>
          </a:xfrm>
          <a:prstGeom prst="rect">
            <a:avLst/>
          </a:prstGeom>
          <a:noFill/>
          <a:ln/>
        </p:spPr>
        <p:txBody>
          <a:bodyPr wrap="square" lIns="0" tIns="0" rIns="0" bIns="0" rtlCol="0" anchor="ctr"/>
          <a:lstStyle/>
          <a:p>
            <a:pPr indent="0" marL="0">
              <a:buNone/>
            </a:pPr>
            <a:r>
              <a:rPr lang="en-US" sz="900" dirty="0">
                <a:solidFill>
                  <a:srgbClr val="1F2937"/>
                </a:solidFill>
              </a:rPr>
              <a:t>Ticket TERM-2026-0301</a:t>
            </a:r>
            <a:endParaRPr lang="en-US" sz="900" dirty="0"/>
          </a:p>
        </p:txBody>
      </p:sp>
      <p:pic>
        <p:nvPicPr>
          <p:cNvPr id="60" name="Image 6" descr="/home/claude/deck/img/JML-13-leaver-login-refused.jpg">    </p:cNvPr>
          <p:cNvPicPr>
            <a:picLocks noChangeAspect="1"/>
          </p:cNvPicPr>
          <p:nvPr/>
        </p:nvPicPr>
        <p:blipFill>
          <a:blip r:embed="rId7"/>
          <a:stretch>
            <a:fillRect/>
          </a:stretch>
        </p:blipFill>
        <p:spPr>
          <a:xfrm>
            <a:off x="6309360" y="1737360"/>
            <a:ext cx="2194560" cy="1377696"/>
          </a:xfrm>
          <a:prstGeom prst="rect">
            <a:avLst/>
          </a:prstGeom>
        </p:spPr>
      </p:pic>
      <p:sp>
        <p:nvSpPr>
          <p:cNvPr id="61" name="Shape 52"/>
          <p:cNvSpPr/>
          <p:nvPr/>
        </p:nvSpPr>
        <p:spPr>
          <a:xfrm>
            <a:off x="6236208" y="3200400"/>
            <a:ext cx="566928" cy="210312"/>
          </a:xfrm>
          <a:prstGeom prst="roundRect">
            <a:avLst>
              <a:gd name="adj" fmla="val 17391"/>
            </a:avLst>
          </a:prstGeom>
          <a:solidFill>
            <a:srgbClr val="C0392B"/>
          </a:solidFill>
          <a:ln w="12700">
            <a:solidFill>
              <a:srgbClr val="C0392B"/>
            </a:solidFill>
            <a:prstDash val="solid"/>
          </a:ln>
        </p:spPr>
      </p:sp>
      <p:sp>
        <p:nvSpPr>
          <p:cNvPr id="62" name="Text 53"/>
          <p:cNvSpPr txBox="1"/>
          <p:nvPr/>
        </p:nvSpPr>
        <p:spPr>
          <a:xfrm>
            <a:off x="6236208" y="3200400"/>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18:13</a:t>
            </a:r>
            <a:endParaRPr lang="en-US" sz="900" dirty="0"/>
          </a:p>
        </p:txBody>
      </p:sp>
      <p:sp>
        <p:nvSpPr>
          <p:cNvPr id="63" name="Text 54"/>
          <p:cNvSpPr txBox="1"/>
          <p:nvPr/>
        </p:nvSpPr>
        <p:spPr>
          <a:xfrm>
            <a:off x="6876288" y="3200400"/>
            <a:ext cx="1719072" cy="210312"/>
          </a:xfrm>
          <a:prstGeom prst="rect">
            <a:avLst/>
          </a:prstGeom>
          <a:noFill/>
          <a:ln/>
        </p:spPr>
        <p:txBody>
          <a:bodyPr wrap="square" lIns="0" tIns="0" rIns="0" bIns="0" rtlCol="0" anchor="ctr"/>
          <a:lstStyle/>
          <a:p>
            <a:pPr indent="0" marL="0">
              <a:buNone/>
            </a:pPr>
            <a:r>
              <a:rPr lang="en-US" sz="1000" dirty="0">
                <a:solidFill>
                  <a:srgbClr val="1F2937"/>
                </a:solidFill>
              </a:rPr>
              <a:t>Disabled</a:t>
            </a:r>
            <a:endParaRPr lang="en-US" sz="1000" dirty="0"/>
          </a:p>
        </p:txBody>
      </p:sp>
      <p:sp>
        <p:nvSpPr>
          <p:cNvPr id="64" name="Shape 55"/>
          <p:cNvSpPr/>
          <p:nvPr/>
        </p:nvSpPr>
        <p:spPr>
          <a:xfrm>
            <a:off x="6236208" y="3465576"/>
            <a:ext cx="566928" cy="210312"/>
          </a:xfrm>
          <a:prstGeom prst="roundRect">
            <a:avLst>
              <a:gd name="adj" fmla="val 17391"/>
            </a:avLst>
          </a:prstGeom>
          <a:solidFill>
            <a:srgbClr val="C0392B"/>
          </a:solidFill>
          <a:ln w="12700">
            <a:solidFill>
              <a:srgbClr val="C0392B"/>
            </a:solidFill>
            <a:prstDash val="solid"/>
          </a:ln>
        </p:spPr>
      </p:sp>
      <p:sp>
        <p:nvSpPr>
          <p:cNvPr id="65" name="Text 56"/>
          <p:cNvSpPr txBox="1"/>
          <p:nvPr/>
        </p:nvSpPr>
        <p:spPr>
          <a:xfrm>
            <a:off x="6236208" y="3465576"/>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18:15</a:t>
            </a:r>
            <a:endParaRPr lang="en-US" sz="900" dirty="0"/>
          </a:p>
        </p:txBody>
      </p:sp>
      <p:sp>
        <p:nvSpPr>
          <p:cNvPr id="66" name="Text 57"/>
          <p:cNvSpPr txBox="1"/>
          <p:nvPr/>
        </p:nvSpPr>
        <p:spPr>
          <a:xfrm>
            <a:off x="6876288" y="3465576"/>
            <a:ext cx="1719072" cy="210312"/>
          </a:xfrm>
          <a:prstGeom prst="rect">
            <a:avLst/>
          </a:prstGeom>
          <a:noFill/>
          <a:ln/>
        </p:spPr>
        <p:txBody>
          <a:bodyPr wrap="square" lIns="0" tIns="0" rIns="0" bIns="0" rtlCol="0" anchor="ctr"/>
          <a:lstStyle/>
          <a:p>
            <a:pPr indent="0" marL="0">
              <a:buNone/>
            </a:pPr>
            <a:r>
              <a:rPr lang="en-US" sz="1000" dirty="0">
                <a:solidFill>
                  <a:srgbClr val="1F2937"/>
                </a:solidFill>
              </a:rPr>
              <a:t>Signed out</a:t>
            </a:r>
            <a:endParaRPr lang="en-US" sz="1000" dirty="0"/>
          </a:p>
        </p:txBody>
      </p:sp>
      <p:sp>
        <p:nvSpPr>
          <p:cNvPr id="67" name="Shape 58"/>
          <p:cNvSpPr/>
          <p:nvPr/>
        </p:nvSpPr>
        <p:spPr>
          <a:xfrm>
            <a:off x="6236208" y="3730752"/>
            <a:ext cx="566928" cy="210312"/>
          </a:xfrm>
          <a:prstGeom prst="roundRect">
            <a:avLst>
              <a:gd name="adj" fmla="val 17391"/>
            </a:avLst>
          </a:prstGeom>
          <a:solidFill>
            <a:srgbClr val="C0392B"/>
          </a:solidFill>
          <a:ln w="12700">
            <a:solidFill>
              <a:srgbClr val="C0392B"/>
            </a:solidFill>
            <a:prstDash val="solid"/>
          </a:ln>
        </p:spPr>
      </p:sp>
      <p:sp>
        <p:nvSpPr>
          <p:cNvPr id="68" name="Text 59"/>
          <p:cNvSpPr txBox="1"/>
          <p:nvPr/>
        </p:nvSpPr>
        <p:spPr>
          <a:xfrm>
            <a:off x="6236208" y="3730752"/>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18:17</a:t>
            </a:r>
            <a:endParaRPr lang="en-US" sz="900" dirty="0"/>
          </a:p>
        </p:txBody>
      </p:sp>
      <p:sp>
        <p:nvSpPr>
          <p:cNvPr id="69" name="Text 60"/>
          <p:cNvSpPr txBox="1"/>
          <p:nvPr/>
        </p:nvSpPr>
        <p:spPr>
          <a:xfrm>
            <a:off x="6876288" y="3730752"/>
            <a:ext cx="1719072" cy="210312"/>
          </a:xfrm>
          <a:prstGeom prst="rect">
            <a:avLst/>
          </a:prstGeom>
          <a:noFill/>
          <a:ln/>
        </p:spPr>
        <p:txBody>
          <a:bodyPr wrap="square" lIns="0" tIns="0" rIns="0" bIns="0" rtlCol="0" anchor="ctr"/>
          <a:lstStyle/>
          <a:p>
            <a:pPr indent="0" marL="0">
              <a:buNone/>
            </a:pPr>
            <a:r>
              <a:rPr lang="en-US" sz="1000" dirty="0">
                <a:solidFill>
                  <a:srgbClr val="1F2937"/>
                </a:solidFill>
              </a:rPr>
              <a:t>Role removed</a:t>
            </a:r>
            <a:endParaRPr lang="en-US" sz="1000" dirty="0"/>
          </a:p>
        </p:txBody>
      </p:sp>
      <p:sp>
        <p:nvSpPr>
          <p:cNvPr id="70" name="Shape 61"/>
          <p:cNvSpPr/>
          <p:nvPr/>
        </p:nvSpPr>
        <p:spPr>
          <a:xfrm>
            <a:off x="6236208" y="3995928"/>
            <a:ext cx="566928" cy="210312"/>
          </a:xfrm>
          <a:prstGeom prst="roundRect">
            <a:avLst>
              <a:gd name="adj" fmla="val 17391"/>
            </a:avLst>
          </a:prstGeom>
          <a:solidFill>
            <a:srgbClr val="C0392B"/>
          </a:solidFill>
          <a:ln w="12700">
            <a:solidFill>
              <a:srgbClr val="C0392B"/>
            </a:solidFill>
            <a:prstDash val="solid"/>
          </a:ln>
        </p:spPr>
      </p:sp>
      <p:sp>
        <p:nvSpPr>
          <p:cNvPr id="71" name="Text 62"/>
          <p:cNvSpPr txBox="1"/>
          <p:nvPr/>
        </p:nvSpPr>
        <p:spPr>
          <a:xfrm>
            <a:off x="6236208" y="3995928"/>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~18:28</a:t>
            </a:r>
            <a:endParaRPr lang="en-US" sz="900" dirty="0"/>
          </a:p>
        </p:txBody>
      </p:sp>
      <p:sp>
        <p:nvSpPr>
          <p:cNvPr id="72" name="Text 63"/>
          <p:cNvSpPr txBox="1"/>
          <p:nvPr/>
        </p:nvSpPr>
        <p:spPr>
          <a:xfrm>
            <a:off x="6876288" y="3995928"/>
            <a:ext cx="1719072" cy="210312"/>
          </a:xfrm>
          <a:prstGeom prst="rect">
            <a:avLst/>
          </a:prstGeom>
          <a:noFill/>
          <a:ln/>
        </p:spPr>
        <p:txBody>
          <a:bodyPr wrap="square" lIns="0" tIns="0" rIns="0" bIns="0" rtlCol="0" anchor="ctr"/>
          <a:lstStyle/>
          <a:p>
            <a:pPr indent="0" marL="0">
              <a:buNone/>
            </a:pPr>
            <a:r>
              <a:rPr lang="en-US" sz="1000" dirty="0">
                <a:solidFill>
                  <a:srgbClr val="1F2937"/>
                </a:solidFill>
              </a:rPr>
              <a:t>Keycloak off</a:t>
            </a:r>
            <a:endParaRPr lang="en-US" sz="1000" dirty="0"/>
          </a:p>
        </p:txBody>
      </p:sp>
      <p:sp>
        <p:nvSpPr>
          <p:cNvPr id="73" name="Shape 64"/>
          <p:cNvSpPr/>
          <p:nvPr/>
        </p:nvSpPr>
        <p:spPr>
          <a:xfrm>
            <a:off x="457200" y="4389120"/>
            <a:ext cx="2560320" cy="292608"/>
          </a:xfrm>
          <a:prstGeom prst="roundRect">
            <a:avLst>
              <a:gd name="adj" fmla="val 18750"/>
            </a:avLst>
          </a:prstGeom>
          <a:solidFill>
            <a:srgbClr val="C0392B"/>
          </a:solidFill>
          <a:ln w="12700">
            <a:solidFill>
              <a:srgbClr val="C0392B"/>
            </a:solidFill>
            <a:prstDash val="solid"/>
          </a:ln>
        </p:spPr>
      </p:sp>
      <p:sp>
        <p:nvSpPr>
          <p:cNvPr id="74" name="Text 65"/>
          <p:cNvSpPr txBox="1"/>
          <p:nvPr/>
        </p:nvSpPr>
        <p:spPr>
          <a:xfrm>
            <a:off x="457200" y="4389120"/>
            <a:ext cx="2560320" cy="292608"/>
          </a:xfrm>
          <a:prstGeom prst="rect">
            <a:avLst/>
          </a:prstGeom>
          <a:noFill/>
          <a:ln/>
        </p:spPr>
        <p:txBody>
          <a:bodyPr wrap="square" lIns="0" tIns="0" rIns="0" bIns="0" rtlCol="0" anchor="ctr"/>
          <a:lstStyle/>
          <a:p>
            <a:pPr algn="ctr" indent="0" marL="0">
              <a:buNone/>
            </a:pPr>
            <a:r>
              <a:rPr lang="en-US" sz="1050" b="1" dirty="0">
                <a:solidFill>
                  <a:srgbClr val="FFFFFF"/>
                </a:solidFill>
              </a:rPr>
              <a:t>Leaver: ~15 min</a:t>
            </a:r>
            <a:endParaRPr lang="en-US" sz="1050" dirty="0"/>
          </a:p>
        </p:txBody>
      </p:sp>
      <p:sp>
        <p:nvSpPr>
          <p:cNvPr id="75" name="Shape 66"/>
          <p:cNvSpPr/>
          <p:nvPr/>
        </p:nvSpPr>
        <p:spPr>
          <a:xfrm>
            <a:off x="3291840" y="4389120"/>
            <a:ext cx="2560320" cy="292608"/>
          </a:xfrm>
          <a:prstGeom prst="roundRect">
            <a:avLst>
              <a:gd name="adj" fmla="val 18750"/>
            </a:avLst>
          </a:prstGeom>
          <a:solidFill>
            <a:srgbClr val="2E6FB7"/>
          </a:solidFill>
          <a:ln w="12700">
            <a:solidFill>
              <a:srgbClr val="2E6FB7"/>
            </a:solidFill>
            <a:prstDash val="solid"/>
          </a:ln>
        </p:spPr>
      </p:sp>
      <p:sp>
        <p:nvSpPr>
          <p:cNvPr id="76" name="Text 67"/>
          <p:cNvSpPr txBox="1"/>
          <p:nvPr/>
        </p:nvSpPr>
        <p:spPr>
          <a:xfrm>
            <a:off x="3291840" y="4389120"/>
            <a:ext cx="2560320" cy="292608"/>
          </a:xfrm>
          <a:prstGeom prst="rect">
            <a:avLst/>
          </a:prstGeom>
          <a:noFill/>
          <a:ln/>
        </p:spPr>
        <p:txBody>
          <a:bodyPr wrap="square" lIns="0" tIns="0" rIns="0" bIns="0" rtlCol="0" anchor="ctr"/>
          <a:lstStyle/>
          <a:p>
            <a:pPr algn="ctr" indent="0" marL="0">
              <a:buNone/>
            </a:pPr>
            <a:r>
              <a:rPr lang="en-US" sz="1050" b="1" dirty="0">
                <a:solidFill>
                  <a:srgbClr val="FFFFFF"/>
                </a:solidFill>
              </a:rPr>
              <a:t>Mover: 20 min</a:t>
            </a:r>
            <a:endParaRPr lang="en-US" sz="1050" dirty="0"/>
          </a:p>
        </p:txBody>
      </p:sp>
      <p:sp>
        <p:nvSpPr>
          <p:cNvPr id="77" name="Shape 68"/>
          <p:cNvSpPr/>
          <p:nvPr/>
        </p:nvSpPr>
        <p:spPr>
          <a:xfrm>
            <a:off x="6126480" y="4389120"/>
            <a:ext cx="2560320" cy="292608"/>
          </a:xfrm>
          <a:prstGeom prst="roundRect">
            <a:avLst>
              <a:gd name="adj" fmla="val 18750"/>
            </a:avLst>
          </a:prstGeom>
          <a:solidFill>
            <a:srgbClr val="2E8B57"/>
          </a:solidFill>
          <a:ln w="12700">
            <a:solidFill>
              <a:srgbClr val="2E8B57"/>
            </a:solidFill>
            <a:prstDash val="solid"/>
          </a:ln>
        </p:spPr>
      </p:sp>
      <p:sp>
        <p:nvSpPr>
          <p:cNvPr id="78" name="Text 69"/>
          <p:cNvSpPr txBox="1"/>
          <p:nvPr/>
        </p:nvSpPr>
        <p:spPr>
          <a:xfrm>
            <a:off x="6126480" y="4389120"/>
            <a:ext cx="2560320" cy="292608"/>
          </a:xfrm>
          <a:prstGeom prst="rect">
            <a:avLst/>
          </a:prstGeom>
          <a:noFill/>
          <a:ln/>
        </p:spPr>
        <p:txBody>
          <a:bodyPr wrap="square" lIns="0" tIns="0" rIns="0" bIns="0" rtlCol="0" anchor="ctr"/>
          <a:lstStyle/>
          <a:p>
            <a:pPr algn="ctr" indent="0" marL="0">
              <a:buNone/>
            </a:pPr>
            <a:r>
              <a:rPr lang="en-US" sz="1050" b="1" dirty="0">
                <a:solidFill>
                  <a:srgbClr val="FFFFFF"/>
                </a:solidFill>
              </a:rPr>
              <a:t>19 hashed evidence files</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Log analysis: Wazuh finds the JML gaps</a:t>
            </a:r>
            <a:endParaRPr lang="en-US" sz="2400" dirty="0"/>
          </a:p>
        </p:txBody>
      </p:sp>
      <p:sp>
        <p:nvSpPr>
          <p:cNvPr id="4" name="Shape 1"/>
          <p:cNvSpPr/>
          <p:nvPr/>
        </p:nvSpPr>
        <p:spPr>
          <a:xfrm>
            <a:off x="457200" y="868680"/>
            <a:ext cx="265176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 name="Shape 2"/>
          <p:cNvSpPr/>
          <p:nvPr/>
        </p:nvSpPr>
        <p:spPr>
          <a:xfrm>
            <a:off x="566928" y="987552"/>
            <a:ext cx="411480" cy="411480"/>
          </a:xfrm>
          <a:prstGeom prst="ellipse">
            <a:avLst/>
          </a:prstGeom>
          <a:solidFill>
            <a:srgbClr val="C0392B"/>
          </a:solidFill>
          <a:ln w="12700">
            <a:solidFill>
              <a:srgbClr val="C0392B"/>
            </a:solidFill>
            <a:prstDash val="solid"/>
          </a:ln>
        </p:spPr>
      </p:sp>
      <p:pic>
        <p:nvPicPr>
          <p:cNvPr id="6" name="Image 1" descr="preencoded.png">    </p:cNvPr>
          <p:cNvPicPr>
            <a:picLocks noChangeAspect="1"/>
          </p:cNvPicPr>
          <p:nvPr/>
        </p:nvPicPr>
        <p:blipFill>
          <a:blip r:embed="rId2"/>
          <a:stretch>
            <a:fillRect/>
          </a:stretch>
        </p:blipFill>
        <p:spPr>
          <a:xfrm>
            <a:off x="657454" y="1078078"/>
            <a:ext cx="230429" cy="230429"/>
          </a:xfrm>
          <a:prstGeom prst="rect">
            <a:avLst/>
          </a:prstGeom>
        </p:spPr>
      </p:pic>
      <p:sp>
        <p:nvSpPr>
          <p:cNvPr id="7" name="Text 3"/>
          <p:cNvSpPr txBox="1"/>
          <p:nvPr/>
        </p:nvSpPr>
        <p:spPr>
          <a:xfrm>
            <a:off x="1051560" y="914400"/>
            <a:ext cx="2011680" cy="548640"/>
          </a:xfrm>
          <a:prstGeom prst="rect">
            <a:avLst/>
          </a:prstGeom>
          <a:noFill/>
          <a:ln/>
        </p:spPr>
        <p:txBody>
          <a:bodyPr wrap="square" lIns="0" tIns="0" rIns="0" bIns="0" rtlCol="0" anchor="ctr"/>
          <a:lstStyle/>
          <a:p>
            <a:pPr indent="0" marL="0">
              <a:buNone/>
            </a:pPr>
            <a:r>
              <a:rPr lang="en-US" sz="1200" b="1" dirty="0">
                <a:solidFill>
                  <a:srgbClr val="1B2A4A"/>
                </a:solidFill>
              </a:rPr>
              <a:t>Tara Jones</a:t>
            </a:r>
            <a:endParaRPr lang="en-US" sz="1200" dirty="0"/>
          </a:p>
          <a:p>
            <a:pPr indent="0" marL="0">
              <a:buNone/>
            </a:pPr>
            <a:r>
              <a:rPr lang="en-US" sz="950" dirty="0">
                <a:solidFill>
                  <a:srgbClr val="1F2937"/>
                </a:solidFill>
              </a:rPr>
              <a:t>Old clinical group</a:t>
            </a:r>
            <a:endParaRPr lang="en-US" sz="1200" dirty="0"/>
          </a:p>
        </p:txBody>
      </p:sp>
      <p:sp>
        <p:nvSpPr>
          <p:cNvPr id="8" name="Shape 4"/>
          <p:cNvSpPr/>
          <p:nvPr/>
        </p:nvSpPr>
        <p:spPr>
          <a:xfrm>
            <a:off x="1051560" y="1517904"/>
            <a:ext cx="1280160" cy="274320"/>
          </a:xfrm>
          <a:prstGeom prst="roundRect">
            <a:avLst>
              <a:gd name="adj" fmla="val 20000"/>
            </a:avLst>
          </a:prstGeom>
          <a:solidFill>
            <a:srgbClr val="C0392B"/>
          </a:solidFill>
          <a:ln w="12700">
            <a:solidFill>
              <a:srgbClr val="C0392B"/>
            </a:solidFill>
            <a:prstDash val="solid"/>
          </a:ln>
        </p:spPr>
      </p:sp>
      <p:sp>
        <p:nvSpPr>
          <p:cNvPr id="9" name="Text 5"/>
          <p:cNvSpPr txBox="1"/>
          <p:nvPr/>
        </p:nvSpPr>
        <p:spPr>
          <a:xfrm>
            <a:off x="1051560" y="1517904"/>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rPr>
              <a:t>SEV-1 Critical</a:t>
            </a:r>
            <a:endParaRPr lang="en-US" sz="950" dirty="0"/>
          </a:p>
        </p:txBody>
      </p:sp>
      <p:sp>
        <p:nvSpPr>
          <p:cNvPr id="10" name="Shape 6"/>
          <p:cNvSpPr/>
          <p:nvPr/>
        </p:nvSpPr>
        <p:spPr>
          <a:xfrm>
            <a:off x="3246120" y="868680"/>
            <a:ext cx="265176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1" name="Shape 7"/>
          <p:cNvSpPr/>
          <p:nvPr/>
        </p:nvSpPr>
        <p:spPr>
          <a:xfrm>
            <a:off x="3355848" y="987552"/>
            <a:ext cx="411480" cy="411480"/>
          </a:xfrm>
          <a:prstGeom prst="ellipse">
            <a:avLst/>
          </a:prstGeom>
          <a:solidFill>
            <a:srgbClr val="B9770E"/>
          </a:solidFill>
          <a:ln w="12700">
            <a:solidFill>
              <a:srgbClr val="B9770E"/>
            </a:solidFill>
            <a:prstDash val="solid"/>
          </a:ln>
        </p:spPr>
      </p:sp>
      <p:pic>
        <p:nvPicPr>
          <p:cNvPr id="12" name="Image 2" descr="preencoded.png">    </p:cNvPr>
          <p:cNvPicPr>
            <a:picLocks noChangeAspect="1"/>
          </p:cNvPicPr>
          <p:nvPr/>
        </p:nvPicPr>
        <p:blipFill>
          <a:blip r:embed="rId3"/>
          <a:stretch>
            <a:fillRect/>
          </a:stretch>
        </p:blipFill>
        <p:spPr>
          <a:xfrm>
            <a:off x="3446374" y="1078078"/>
            <a:ext cx="230429" cy="230429"/>
          </a:xfrm>
          <a:prstGeom prst="rect">
            <a:avLst/>
          </a:prstGeom>
        </p:spPr>
      </p:pic>
      <p:sp>
        <p:nvSpPr>
          <p:cNvPr id="13" name="Text 8"/>
          <p:cNvSpPr txBox="1"/>
          <p:nvPr/>
        </p:nvSpPr>
        <p:spPr>
          <a:xfrm>
            <a:off x="3840480" y="914400"/>
            <a:ext cx="2011680" cy="548640"/>
          </a:xfrm>
          <a:prstGeom prst="rect">
            <a:avLst/>
          </a:prstGeom>
          <a:noFill/>
          <a:ln/>
        </p:spPr>
        <p:txBody>
          <a:bodyPr wrap="square" lIns="0" tIns="0" rIns="0" bIns="0" rtlCol="0" anchor="ctr"/>
          <a:lstStyle/>
          <a:p>
            <a:pPr indent="0" marL="0">
              <a:buNone/>
            </a:pPr>
            <a:r>
              <a:rPr lang="en-US" sz="1200" b="1" dirty="0">
                <a:solidFill>
                  <a:srgbClr val="1B2A4A"/>
                </a:solidFill>
              </a:rPr>
              <a:t>Sathya Hasi</a:t>
            </a:r>
            <a:endParaRPr lang="en-US" sz="1200" dirty="0"/>
          </a:p>
          <a:p>
            <a:pPr indent="0" marL="0">
              <a:buNone/>
            </a:pPr>
            <a:r>
              <a:rPr lang="en-US" sz="950" dirty="0">
                <a:solidFill>
                  <a:srgbClr val="1F2937"/>
                </a:solidFill>
              </a:rPr>
              <a:t>Sudo, no ticket</a:t>
            </a:r>
            <a:endParaRPr lang="en-US" sz="1200" dirty="0"/>
          </a:p>
        </p:txBody>
      </p:sp>
      <p:sp>
        <p:nvSpPr>
          <p:cNvPr id="14" name="Shape 9"/>
          <p:cNvSpPr/>
          <p:nvPr/>
        </p:nvSpPr>
        <p:spPr>
          <a:xfrm>
            <a:off x="3840480" y="1517904"/>
            <a:ext cx="1280160" cy="274320"/>
          </a:xfrm>
          <a:prstGeom prst="roundRect">
            <a:avLst>
              <a:gd name="adj" fmla="val 20000"/>
            </a:avLst>
          </a:prstGeom>
          <a:solidFill>
            <a:srgbClr val="B9770E"/>
          </a:solidFill>
          <a:ln w="12700">
            <a:solidFill>
              <a:srgbClr val="B9770E"/>
            </a:solidFill>
            <a:prstDash val="solid"/>
          </a:ln>
        </p:spPr>
      </p:sp>
      <p:sp>
        <p:nvSpPr>
          <p:cNvPr id="15" name="Text 10"/>
          <p:cNvSpPr txBox="1"/>
          <p:nvPr/>
        </p:nvSpPr>
        <p:spPr>
          <a:xfrm>
            <a:off x="3840480" y="1517904"/>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rPr>
              <a:t>SEV-2 High</a:t>
            </a:r>
            <a:endParaRPr lang="en-US" sz="950" dirty="0"/>
          </a:p>
        </p:txBody>
      </p:sp>
      <p:sp>
        <p:nvSpPr>
          <p:cNvPr id="16" name="Shape 11"/>
          <p:cNvSpPr/>
          <p:nvPr/>
        </p:nvSpPr>
        <p:spPr>
          <a:xfrm>
            <a:off x="6035040" y="868680"/>
            <a:ext cx="265176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7" name="Shape 12"/>
          <p:cNvSpPr/>
          <p:nvPr/>
        </p:nvSpPr>
        <p:spPr>
          <a:xfrm>
            <a:off x="6144768" y="987552"/>
            <a:ext cx="411480" cy="411480"/>
          </a:xfrm>
          <a:prstGeom prst="ellipse">
            <a:avLst/>
          </a:prstGeom>
          <a:solidFill>
            <a:srgbClr val="2E6FB7"/>
          </a:solidFill>
          <a:ln w="12700">
            <a:solidFill>
              <a:srgbClr val="2E6FB7"/>
            </a:solidFill>
            <a:prstDash val="solid"/>
          </a:ln>
        </p:spPr>
      </p:sp>
      <p:pic>
        <p:nvPicPr>
          <p:cNvPr id="18" name="Image 3" descr="preencoded.png">    </p:cNvPr>
          <p:cNvPicPr>
            <a:picLocks noChangeAspect="1"/>
          </p:cNvPicPr>
          <p:nvPr/>
        </p:nvPicPr>
        <p:blipFill>
          <a:blip r:embed="rId4"/>
          <a:stretch>
            <a:fillRect/>
          </a:stretch>
        </p:blipFill>
        <p:spPr>
          <a:xfrm>
            <a:off x="6235294" y="1078078"/>
            <a:ext cx="230429" cy="230429"/>
          </a:xfrm>
          <a:prstGeom prst="rect">
            <a:avLst/>
          </a:prstGeom>
        </p:spPr>
      </p:pic>
      <p:sp>
        <p:nvSpPr>
          <p:cNvPr id="19" name="Text 13"/>
          <p:cNvSpPr txBox="1"/>
          <p:nvPr/>
        </p:nvSpPr>
        <p:spPr>
          <a:xfrm>
            <a:off x="6629400" y="914400"/>
            <a:ext cx="2011680" cy="548640"/>
          </a:xfrm>
          <a:prstGeom prst="rect">
            <a:avLst/>
          </a:prstGeom>
          <a:noFill/>
          <a:ln/>
        </p:spPr>
        <p:txBody>
          <a:bodyPr wrap="square" lIns="0" tIns="0" rIns="0" bIns="0" rtlCol="0" anchor="ctr"/>
          <a:lstStyle/>
          <a:p>
            <a:pPr indent="0" marL="0">
              <a:buNone/>
            </a:pPr>
            <a:r>
              <a:rPr lang="en-US" sz="1200" b="1" dirty="0">
                <a:solidFill>
                  <a:srgbClr val="1B2A4A"/>
                </a:solidFill>
              </a:rPr>
              <a:t>Jeevan Smith</a:t>
            </a:r>
            <a:endParaRPr lang="en-US" sz="1200" dirty="0"/>
          </a:p>
          <a:p>
            <a:pPr indent="0" marL="0">
              <a:buNone/>
            </a:pPr>
            <a:r>
              <a:rPr lang="en-US" sz="950" dirty="0">
                <a:solidFill>
                  <a:srgbClr val="1F2937"/>
                </a:solidFill>
              </a:rPr>
              <a:t>SSH after leaving</a:t>
            </a:r>
            <a:endParaRPr lang="en-US" sz="1200" dirty="0"/>
          </a:p>
        </p:txBody>
      </p:sp>
      <p:sp>
        <p:nvSpPr>
          <p:cNvPr id="20" name="Shape 14"/>
          <p:cNvSpPr/>
          <p:nvPr/>
        </p:nvSpPr>
        <p:spPr>
          <a:xfrm>
            <a:off x="6629400" y="1517904"/>
            <a:ext cx="1280160" cy="274320"/>
          </a:xfrm>
          <a:prstGeom prst="roundRect">
            <a:avLst>
              <a:gd name="adj" fmla="val 20000"/>
            </a:avLst>
          </a:prstGeom>
          <a:solidFill>
            <a:srgbClr val="2E6FB7"/>
          </a:solidFill>
          <a:ln w="12700">
            <a:solidFill>
              <a:srgbClr val="2E6FB7"/>
            </a:solidFill>
            <a:prstDash val="solid"/>
          </a:ln>
        </p:spPr>
      </p:sp>
      <p:sp>
        <p:nvSpPr>
          <p:cNvPr id="21" name="Text 15"/>
          <p:cNvSpPr txBox="1"/>
          <p:nvPr/>
        </p:nvSpPr>
        <p:spPr>
          <a:xfrm>
            <a:off x="6629400" y="1517904"/>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rPr>
              <a:t>SEV-3 Medium</a:t>
            </a:r>
            <a:endParaRPr lang="en-US" sz="950" dirty="0"/>
          </a:p>
        </p:txBody>
      </p:sp>
      <p:pic>
        <p:nvPicPr>
          <p:cNvPr id="22" name="Image 4" descr="/home/claude/deck/img/wazuh_alerts.jpg">    </p:cNvPr>
          <p:cNvPicPr>
            <a:picLocks noChangeAspect="1"/>
          </p:cNvPicPr>
          <p:nvPr/>
        </p:nvPicPr>
        <p:blipFill>
          <a:blip r:embed="rId5"/>
          <a:stretch>
            <a:fillRect/>
          </a:stretch>
        </p:blipFill>
        <p:spPr>
          <a:xfrm>
            <a:off x="457200" y="2103120"/>
            <a:ext cx="5120640" cy="2135770"/>
          </a:xfrm>
          <a:prstGeom prst="rect">
            <a:avLst/>
          </a:prstGeom>
          <a:effectLst>
            <a:outerShdw sx="100000" sy="100000" kx="0" ky="0" algn="bl" rotWithShape="0" blurRad="76200" dist="25400" dir="5400000">
              <a:srgbClr val="000000">
                <a:alpha val="15000"/>
              </a:srgbClr>
            </a:outerShdw>
          </a:effectLst>
        </p:spPr>
      </p:pic>
      <p:sp>
        <p:nvSpPr>
          <p:cNvPr id="23" name="Shape 16"/>
          <p:cNvSpPr/>
          <p:nvPr/>
        </p:nvSpPr>
        <p:spPr>
          <a:xfrm>
            <a:off x="5852160" y="2103120"/>
            <a:ext cx="2834640" cy="640080"/>
          </a:xfrm>
          <a:prstGeom prst="roundRect">
            <a:avLst>
              <a:gd name="adj" fmla="val 11429"/>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4" name="Text 17"/>
          <p:cNvSpPr txBox="1"/>
          <p:nvPr/>
        </p:nvSpPr>
        <p:spPr>
          <a:xfrm>
            <a:off x="5897880" y="2103120"/>
            <a:ext cx="1143000" cy="640080"/>
          </a:xfrm>
          <a:prstGeom prst="rect">
            <a:avLst/>
          </a:prstGeom>
          <a:noFill/>
          <a:ln/>
        </p:spPr>
        <p:txBody>
          <a:bodyPr wrap="square" lIns="0" tIns="0" rIns="0" bIns="0" rtlCol="0" anchor="ctr"/>
          <a:lstStyle/>
          <a:p>
            <a:pPr algn="ctr" indent="0" marL="0">
              <a:buNone/>
            </a:pPr>
            <a:r>
              <a:rPr lang="en-US" sz="2200" b="1" dirty="0">
                <a:solidFill>
                  <a:srgbClr val="1B2A4A"/>
                </a:solidFill>
              </a:rPr>
              <a:t>688</a:t>
            </a:r>
            <a:endParaRPr lang="en-US" sz="2200" dirty="0"/>
          </a:p>
        </p:txBody>
      </p:sp>
      <p:sp>
        <p:nvSpPr>
          <p:cNvPr id="25" name="Text 18"/>
          <p:cNvSpPr txBox="1"/>
          <p:nvPr/>
        </p:nvSpPr>
        <p:spPr>
          <a:xfrm>
            <a:off x="7086600" y="2103120"/>
            <a:ext cx="1554480" cy="640080"/>
          </a:xfrm>
          <a:prstGeom prst="rect">
            <a:avLst/>
          </a:prstGeom>
          <a:noFill/>
          <a:ln/>
        </p:spPr>
        <p:txBody>
          <a:bodyPr wrap="square" lIns="0" tIns="0" rIns="0" bIns="0" rtlCol="0" anchor="ctr"/>
          <a:lstStyle/>
          <a:p>
            <a:pPr indent="0" marL="0">
              <a:buNone/>
            </a:pPr>
            <a:r>
              <a:rPr lang="en-US" sz="1100" dirty="0">
                <a:solidFill>
                  <a:srgbClr val="1F2937"/>
                </a:solidFill>
              </a:rPr>
              <a:t>alerts</a:t>
            </a:r>
            <a:endParaRPr lang="en-US" sz="1100" dirty="0"/>
          </a:p>
        </p:txBody>
      </p:sp>
      <p:sp>
        <p:nvSpPr>
          <p:cNvPr id="26" name="Shape 19"/>
          <p:cNvSpPr/>
          <p:nvPr/>
        </p:nvSpPr>
        <p:spPr>
          <a:xfrm>
            <a:off x="5852160" y="2852928"/>
            <a:ext cx="2834640" cy="640080"/>
          </a:xfrm>
          <a:prstGeom prst="roundRect">
            <a:avLst>
              <a:gd name="adj" fmla="val 11429"/>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7" name="Text 20"/>
          <p:cNvSpPr txBox="1"/>
          <p:nvPr/>
        </p:nvSpPr>
        <p:spPr>
          <a:xfrm>
            <a:off x="5897880" y="2852928"/>
            <a:ext cx="1143000" cy="640080"/>
          </a:xfrm>
          <a:prstGeom prst="rect">
            <a:avLst/>
          </a:prstGeom>
          <a:noFill/>
          <a:ln/>
        </p:spPr>
        <p:txBody>
          <a:bodyPr wrap="square" lIns="0" tIns="0" rIns="0" bIns="0" rtlCol="0" anchor="ctr"/>
          <a:lstStyle/>
          <a:p>
            <a:pPr algn="ctr" indent="0" marL="0">
              <a:buNone/>
            </a:pPr>
            <a:r>
              <a:rPr lang="en-US" sz="2200" b="1" dirty="0">
                <a:solidFill>
                  <a:srgbClr val="1B2A4A"/>
                </a:solidFill>
              </a:rPr>
              <a:t>7</a:t>
            </a:r>
            <a:endParaRPr lang="en-US" sz="2200" dirty="0"/>
          </a:p>
        </p:txBody>
      </p:sp>
      <p:sp>
        <p:nvSpPr>
          <p:cNvPr id="28" name="Text 21"/>
          <p:cNvSpPr txBox="1"/>
          <p:nvPr/>
        </p:nvSpPr>
        <p:spPr>
          <a:xfrm>
            <a:off x="7086600" y="2852928"/>
            <a:ext cx="1554480" cy="640080"/>
          </a:xfrm>
          <a:prstGeom prst="rect">
            <a:avLst/>
          </a:prstGeom>
          <a:noFill/>
          <a:ln/>
        </p:spPr>
        <p:txBody>
          <a:bodyPr wrap="square" lIns="0" tIns="0" rIns="0" bIns="0" rtlCol="0" anchor="ctr"/>
          <a:lstStyle/>
          <a:p>
            <a:pPr indent="0" marL="0">
              <a:buNone/>
            </a:pPr>
            <a:r>
              <a:rPr lang="en-US" sz="1100" dirty="0">
                <a:solidFill>
                  <a:srgbClr val="1F2937"/>
                </a:solidFill>
              </a:rPr>
              <a:t>high (level 10+)</a:t>
            </a:r>
            <a:endParaRPr lang="en-US" sz="1100" dirty="0"/>
          </a:p>
        </p:txBody>
      </p:sp>
      <p:sp>
        <p:nvSpPr>
          <p:cNvPr id="29" name="Shape 22"/>
          <p:cNvSpPr/>
          <p:nvPr/>
        </p:nvSpPr>
        <p:spPr>
          <a:xfrm>
            <a:off x="5852160" y="3602736"/>
            <a:ext cx="2834640" cy="640080"/>
          </a:xfrm>
          <a:prstGeom prst="roundRect">
            <a:avLst>
              <a:gd name="adj" fmla="val 11429"/>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0" name="Text 23"/>
          <p:cNvSpPr txBox="1"/>
          <p:nvPr/>
        </p:nvSpPr>
        <p:spPr>
          <a:xfrm>
            <a:off x="5897880" y="3602736"/>
            <a:ext cx="1143000" cy="640080"/>
          </a:xfrm>
          <a:prstGeom prst="rect">
            <a:avLst/>
          </a:prstGeom>
          <a:noFill/>
          <a:ln/>
        </p:spPr>
        <p:txBody>
          <a:bodyPr wrap="square" lIns="0" tIns="0" rIns="0" bIns="0" rtlCol="0" anchor="ctr"/>
          <a:lstStyle/>
          <a:p>
            <a:pPr algn="ctr" indent="0" marL="0">
              <a:buNone/>
            </a:pPr>
            <a:r>
              <a:rPr lang="en-US" sz="2200" b="1" dirty="0">
                <a:solidFill>
                  <a:srgbClr val="1B2A4A"/>
                </a:solidFill>
              </a:rPr>
              <a:t>&lt;1 s</a:t>
            </a:r>
            <a:endParaRPr lang="en-US" sz="2200" dirty="0"/>
          </a:p>
        </p:txBody>
      </p:sp>
      <p:sp>
        <p:nvSpPr>
          <p:cNvPr id="31" name="Text 24"/>
          <p:cNvSpPr txBox="1"/>
          <p:nvPr/>
        </p:nvSpPr>
        <p:spPr>
          <a:xfrm>
            <a:off x="7086600" y="3602736"/>
            <a:ext cx="1554480" cy="640080"/>
          </a:xfrm>
          <a:prstGeom prst="rect">
            <a:avLst/>
          </a:prstGeom>
          <a:noFill/>
          <a:ln/>
        </p:spPr>
        <p:txBody>
          <a:bodyPr wrap="square" lIns="0" tIns="0" rIns="0" bIns="0" rtlCol="0" anchor="ctr"/>
          <a:lstStyle/>
          <a:p>
            <a:pPr indent="0" marL="0">
              <a:buNone/>
            </a:pPr>
            <a:r>
              <a:rPr lang="en-US" sz="1100" dirty="0">
                <a:solidFill>
                  <a:srgbClr val="1F2937"/>
                </a:solidFill>
              </a:rPr>
              <a:t>log to alert</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Incident: a leaver tries to come back</a:t>
            </a:r>
            <a:endParaRPr lang="en-US" sz="2400" dirty="0"/>
          </a:p>
        </p:txBody>
      </p:sp>
      <p:sp>
        <p:nvSpPr>
          <p:cNvPr id="4" name="Shape 1"/>
          <p:cNvSpPr/>
          <p:nvPr/>
        </p:nvSpPr>
        <p:spPr>
          <a:xfrm>
            <a:off x="457200" y="914400"/>
            <a:ext cx="1143000" cy="548640"/>
          </a:xfrm>
          <a:prstGeom prst="roundRect">
            <a:avLst>
              <a:gd name="adj" fmla="val 10000"/>
            </a:avLst>
          </a:prstGeom>
          <a:solidFill>
            <a:srgbClr val="1B2A4A"/>
          </a:solidFill>
          <a:ln w="12700">
            <a:solidFill>
              <a:srgbClr val="1B2A4A"/>
            </a:solidFill>
            <a:prstDash val="solid"/>
          </a:ln>
        </p:spPr>
      </p:sp>
      <p:sp>
        <p:nvSpPr>
          <p:cNvPr id="5" name="Text 2"/>
          <p:cNvSpPr txBox="1"/>
          <p:nvPr/>
        </p:nvSpPr>
        <p:spPr>
          <a:xfrm>
            <a:off x="457200" y="914400"/>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Detect</a:t>
            </a:r>
            <a:endParaRPr lang="en-US" sz="1200" dirty="0"/>
          </a:p>
        </p:txBody>
      </p:sp>
      <p:sp>
        <p:nvSpPr>
          <p:cNvPr id="6" name="Shape 3"/>
          <p:cNvSpPr/>
          <p:nvPr/>
        </p:nvSpPr>
        <p:spPr>
          <a:xfrm>
            <a:off x="950976" y="1472184"/>
            <a:ext cx="155448" cy="137160"/>
          </a:xfrm>
          <a:prstGeom prst="downArrow">
            <a:avLst/>
          </a:prstGeom>
          <a:solidFill>
            <a:srgbClr val="5A6B85"/>
          </a:solidFill>
          <a:ln w="12700">
            <a:solidFill>
              <a:srgbClr val="5A6B85"/>
            </a:solidFill>
            <a:prstDash val="solid"/>
          </a:ln>
        </p:spPr>
      </p:sp>
      <p:sp>
        <p:nvSpPr>
          <p:cNvPr id="7" name="Text 4"/>
          <p:cNvSpPr txBox="1"/>
          <p:nvPr/>
        </p:nvSpPr>
        <p:spPr>
          <a:xfrm>
            <a:off x="1737360" y="914400"/>
            <a:ext cx="2743200" cy="548640"/>
          </a:xfrm>
          <a:prstGeom prst="rect">
            <a:avLst/>
          </a:prstGeom>
          <a:noFill/>
          <a:ln/>
        </p:spPr>
        <p:txBody>
          <a:bodyPr wrap="square" lIns="0" tIns="0" rIns="0" bIns="0" rtlCol="0" anchor="ctr"/>
          <a:lstStyle/>
          <a:p>
            <a:pPr indent="0" marL="0">
              <a:buNone/>
            </a:pPr>
            <a:r>
              <a:rPr lang="en-US" sz="1150" dirty="0">
                <a:solidFill>
                  <a:srgbClr val="1F2937"/>
                </a:solidFill>
              </a:rPr>
              <a:t>Leaver SSH denied</a:t>
            </a:r>
            <a:endParaRPr lang="en-US" sz="1150" dirty="0"/>
          </a:p>
        </p:txBody>
      </p:sp>
      <p:sp>
        <p:nvSpPr>
          <p:cNvPr id="8" name="Shape 5"/>
          <p:cNvSpPr/>
          <p:nvPr/>
        </p:nvSpPr>
        <p:spPr>
          <a:xfrm>
            <a:off x="457200" y="1627632"/>
            <a:ext cx="1143000" cy="548640"/>
          </a:xfrm>
          <a:prstGeom prst="roundRect">
            <a:avLst>
              <a:gd name="adj" fmla="val 10000"/>
            </a:avLst>
          </a:prstGeom>
          <a:solidFill>
            <a:srgbClr val="1B2A4A"/>
          </a:solidFill>
          <a:ln w="12700">
            <a:solidFill>
              <a:srgbClr val="1B2A4A"/>
            </a:solidFill>
            <a:prstDash val="solid"/>
          </a:ln>
        </p:spPr>
      </p:sp>
      <p:sp>
        <p:nvSpPr>
          <p:cNvPr id="9" name="Text 6"/>
          <p:cNvSpPr txBox="1"/>
          <p:nvPr/>
        </p:nvSpPr>
        <p:spPr>
          <a:xfrm>
            <a:off x="457200" y="1627632"/>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Correlate</a:t>
            </a:r>
            <a:endParaRPr lang="en-US" sz="1200" dirty="0"/>
          </a:p>
        </p:txBody>
      </p:sp>
      <p:sp>
        <p:nvSpPr>
          <p:cNvPr id="10" name="Shape 7"/>
          <p:cNvSpPr/>
          <p:nvPr/>
        </p:nvSpPr>
        <p:spPr>
          <a:xfrm>
            <a:off x="950976" y="2185416"/>
            <a:ext cx="155448" cy="137160"/>
          </a:xfrm>
          <a:prstGeom prst="downArrow">
            <a:avLst/>
          </a:prstGeom>
          <a:solidFill>
            <a:srgbClr val="5A6B85"/>
          </a:solidFill>
          <a:ln w="12700">
            <a:solidFill>
              <a:srgbClr val="5A6B85"/>
            </a:solidFill>
            <a:prstDash val="solid"/>
          </a:ln>
        </p:spPr>
      </p:sp>
      <p:sp>
        <p:nvSpPr>
          <p:cNvPr id="11" name="Text 8"/>
          <p:cNvSpPr txBox="1"/>
          <p:nvPr/>
        </p:nvSpPr>
        <p:spPr>
          <a:xfrm>
            <a:off x="1737360" y="1627632"/>
            <a:ext cx="2743200" cy="548640"/>
          </a:xfrm>
          <a:prstGeom prst="rect">
            <a:avLst/>
          </a:prstGeom>
          <a:noFill/>
          <a:ln/>
        </p:spPr>
        <p:txBody>
          <a:bodyPr wrap="square" lIns="0" tIns="0" rIns="0" bIns="0" rtlCol="0" anchor="ctr"/>
          <a:lstStyle/>
          <a:p>
            <a:pPr indent="0" marL="0">
              <a:buNone/>
            </a:pPr>
            <a:r>
              <a:rPr lang="en-US" sz="1150" dirty="0">
                <a:solidFill>
                  <a:srgbClr val="1F2937"/>
                </a:solidFill>
              </a:rPr>
              <a:t>Mac + pcap + sshd</a:t>
            </a:r>
            <a:endParaRPr lang="en-US" sz="1150" dirty="0"/>
          </a:p>
        </p:txBody>
      </p:sp>
      <p:sp>
        <p:nvSpPr>
          <p:cNvPr id="12" name="Shape 9"/>
          <p:cNvSpPr/>
          <p:nvPr/>
        </p:nvSpPr>
        <p:spPr>
          <a:xfrm>
            <a:off x="457200" y="2340864"/>
            <a:ext cx="1143000" cy="548640"/>
          </a:xfrm>
          <a:prstGeom prst="roundRect">
            <a:avLst>
              <a:gd name="adj" fmla="val 10000"/>
            </a:avLst>
          </a:prstGeom>
          <a:solidFill>
            <a:srgbClr val="1B2A4A"/>
          </a:solidFill>
          <a:ln w="12700">
            <a:solidFill>
              <a:srgbClr val="1B2A4A"/>
            </a:solidFill>
            <a:prstDash val="solid"/>
          </a:ln>
        </p:spPr>
      </p:sp>
      <p:sp>
        <p:nvSpPr>
          <p:cNvPr id="13" name="Text 10"/>
          <p:cNvSpPr txBox="1"/>
          <p:nvPr/>
        </p:nvSpPr>
        <p:spPr>
          <a:xfrm>
            <a:off x="457200" y="2340864"/>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Contain</a:t>
            </a:r>
            <a:endParaRPr lang="en-US" sz="1200" dirty="0"/>
          </a:p>
        </p:txBody>
      </p:sp>
      <p:sp>
        <p:nvSpPr>
          <p:cNvPr id="14" name="Shape 11"/>
          <p:cNvSpPr/>
          <p:nvPr/>
        </p:nvSpPr>
        <p:spPr>
          <a:xfrm>
            <a:off x="950976" y="2898648"/>
            <a:ext cx="155448" cy="137160"/>
          </a:xfrm>
          <a:prstGeom prst="downArrow">
            <a:avLst/>
          </a:prstGeom>
          <a:solidFill>
            <a:srgbClr val="5A6B85"/>
          </a:solidFill>
          <a:ln w="12700">
            <a:solidFill>
              <a:srgbClr val="5A6B85"/>
            </a:solidFill>
            <a:prstDash val="solid"/>
          </a:ln>
        </p:spPr>
      </p:sp>
      <p:sp>
        <p:nvSpPr>
          <p:cNvPr id="15" name="Text 12"/>
          <p:cNvSpPr txBox="1"/>
          <p:nvPr/>
        </p:nvSpPr>
        <p:spPr>
          <a:xfrm>
            <a:off x="1737360" y="2340864"/>
            <a:ext cx="2743200" cy="548640"/>
          </a:xfrm>
          <a:prstGeom prst="rect">
            <a:avLst/>
          </a:prstGeom>
          <a:noFill/>
          <a:ln/>
        </p:spPr>
        <p:txBody>
          <a:bodyPr wrap="square" lIns="0" tIns="0" rIns="0" bIns="0" rtlCol="0" anchor="ctr"/>
          <a:lstStyle/>
          <a:p>
            <a:pPr indent="0" marL="0">
              <a:buNone/>
            </a:pPr>
            <a:r>
              <a:rPr lang="en-US" sz="1150" dirty="0">
                <a:solidFill>
                  <a:srgbClr val="1F2937"/>
                </a:solidFill>
              </a:rPr>
              <a:t>SSH key removed</a:t>
            </a:r>
            <a:endParaRPr lang="en-US" sz="1150" dirty="0"/>
          </a:p>
        </p:txBody>
      </p:sp>
      <p:sp>
        <p:nvSpPr>
          <p:cNvPr id="16" name="Shape 13"/>
          <p:cNvSpPr/>
          <p:nvPr/>
        </p:nvSpPr>
        <p:spPr>
          <a:xfrm>
            <a:off x="457200" y="3054096"/>
            <a:ext cx="1143000" cy="548640"/>
          </a:xfrm>
          <a:prstGeom prst="roundRect">
            <a:avLst>
              <a:gd name="adj" fmla="val 10000"/>
            </a:avLst>
          </a:prstGeom>
          <a:solidFill>
            <a:srgbClr val="1B2A4A"/>
          </a:solidFill>
          <a:ln w="12700">
            <a:solidFill>
              <a:srgbClr val="1B2A4A"/>
            </a:solidFill>
            <a:prstDash val="solid"/>
          </a:ln>
        </p:spPr>
      </p:sp>
      <p:sp>
        <p:nvSpPr>
          <p:cNvPr id="17" name="Text 14"/>
          <p:cNvSpPr txBox="1"/>
          <p:nvPr/>
        </p:nvSpPr>
        <p:spPr>
          <a:xfrm>
            <a:off x="457200" y="3054096"/>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Eradicate</a:t>
            </a:r>
            <a:endParaRPr lang="en-US" sz="1200" dirty="0"/>
          </a:p>
        </p:txBody>
      </p:sp>
      <p:sp>
        <p:nvSpPr>
          <p:cNvPr id="18" name="Shape 15"/>
          <p:cNvSpPr/>
          <p:nvPr/>
        </p:nvSpPr>
        <p:spPr>
          <a:xfrm>
            <a:off x="950976" y="3611880"/>
            <a:ext cx="155448" cy="137160"/>
          </a:xfrm>
          <a:prstGeom prst="downArrow">
            <a:avLst/>
          </a:prstGeom>
          <a:solidFill>
            <a:srgbClr val="5A6B85"/>
          </a:solidFill>
          <a:ln w="12700">
            <a:solidFill>
              <a:srgbClr val="5A6B85"/>
            </a:solidFill>
            <a:prstDash val="solid"/>
          </a:ln>
        </p:spPr>
      </p:sp>
      <p:sp>
        <p:nvSpPr>
          <p:cNvPr id="19" name="Text 16"/>
          <p:cNvSpPr txBox="1"/>
          <p:nvPr/>
        </p:nvSpPr>
        <p:spPr>
          <a:xfrm>
            <a:off x="1737360" y="3054096"/>
            <a:ext cx="2743200" cy="548640"/>
          </a:xfrm>
          <a:prstGeom prst="rect">
            <a:avLst/>
          </a:prstGeom>
          <a:noFill/>
          <a:ln/>
        </p:spPr>
        <p:txBody>
          <a:bodyPr wrap="square" lIns="0" tIns="0" rIns="0" bIns="0" rtlCol="0" anchor="ctr"/>
          <a:lstStyle/>
          <a:p>
            <a:pPr indent="0" marL="0">
              <a:buNone/>
            </a:pPr>
            <a:r>
              <a:rPr lang="en-US" sz="1150" dirty="0">
                <a:solidFill>
                  <a:srgbClr val="1F2937"/>
                </a:solidFill>
              </a:rPr>
              <a:t>Checklist updated</a:t>
            </a:r>
            <a:endParaRPr lang="en-US" sz="1150" dirty="0"/>
          </a:p>
        </p:txBody>
      </p:sp>
      <p:sp>
        <p:nvSpPr>
          <p:cNvPr id="20" name="Shape 17"/>
          <p:cNvSpPr/>
          <p:nvPr/>
        </p:nvSpPr>
        <p:spPr>
          <a:xfrm>
            <a:off x="457200" y="3767328"/>
            <a:ext cx="1143000" cy="548640"/>
          </a:xfrm>
          <a:prstGeom prst="roundRect">
            <a:avLst>
              <a:gd name="adj" fmla="val 10000"/>
            </a:avLst>
          </a:prstGeom>
          <a:solidFill>
            <a:srgbClr val="1B2A4A"/>
          </a:solidFill>
          <a:ln w="12700">
            <a:solidFill>
              <a:srgbClr val="1B2A4A"/>
            </a:solidFill>
            <a:prstDash val="solid"/>
          </a:ln>
        </p:spPr>
      </p:sp>
      <p:sp>
        <p:nvSpPr>
          <p:cNvPr id="21" name="Text 18"/>
          <p:cNvSpPr txBox="1"/>
          <p:nvPr/>
        </p:nvSpPr>
        <p:spPr>
          <a:xfrm>
            <a:off x="457200" y="3767328"/>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Recover</a:t>
            </a:r>
            <a:endParaRPr lang="en-US" sz="1200" dirty="0"/>
          </a:p>
        </p:txBody>
      </p:sp>
      <p:sp>
        <p:nvSpPr>
          <p:cNvPr id="22" name="Text 19"/>
          <p:cNvSpPr txBox="1"/>
          <p:nvPr/>
        </p:nvSpPr>
        <p:spPr>
          <a:xfrm>
            <a:off x="1737360" y="3767328"/>
            <a:ext cx="2743200" cy="548640"/>
          </a:xfrm>
          <a:prstGeom prst="rect">
            <a:avLst/>
          </a:prstGeom>
          <a:noFill/>
          <a:ln/>
        </p:spPr>
        <p:txBody>
          <a:bodyPr wrap="square" lIns="0" tIns="0" rIns="0" bIns="0" rtlCol="0" anchor="ctr"/>
          <a:lstStyle/>
          <a:p>
            <a:pPr indent="0" marL="0">
              <a:buNone/>
            </a:pPr>
            <a:r>
              <a:rPr lang="en-US" sz="1150" dirty="0">
                <a:solidFill>
                  <a:srgbClr val="1F2937"/>
                </a:solidFill>
              </a:rPr>
              <a:t>Login refused</a:t>
            </a:r>
            <a:endParaRPr lang="en-US" sz="1150" dirty="0"/>
          </a:p>
        </p:txBody>
      </p:sp>
      <p:pic>
        <p:nvPicPr>
          <p:cNvPr id="23" name="Image 1" descr="/home/claude/deck/img/wazuh_raw.jpg">    </p:cNvPr>
          <p:cNvPicPr>
            <a:picLocks noChangeAspect="1"/>
          </p:cNvPicPr>
          <p:nvPr/>
        </p:nvPicPr>
        <p:blipFill>
          <a:blip r:embed="rId2"/>
          <a:stretch>
            <a:fillRect/>
          </a:stretch>
        </p:blipFill>
        <p:spPr>
          <a:xfrm>
            <a:off x="4709160" y="914400"/>
            <a:ext cx="3977640" cy="1594293"/>
          </a:xfrm>
          <a:prstGeom prst="rect">
            <a:avLst/>
          </a:prstGeom>
          <a:effectLst>
            <a:outerShdw sx="100000" sy="100000" kx="0" ky="0" algn="bl" rotWithShape="0" blurRad="76200" dist="25400" dir="5400000">
              <a:srgbClr val="000000">
                <a:alpha val="15000"/>
              </a:srgbClr>
            </a:outerShdw>
          </a:effectLst>
        </p:spPr>
      </p:pic>
      <p:sp>
        <p:nvSpPr>
          <p:cNvPr id="24" name="Shape 20"/>
          <p:cNvSpPr/>
          <p:nvPr/>
        </p:nvSpPr>
        <p:spPr>
          <a:xfrm>
            <a:off x="4709160" y="2926080"/>
            <a:ext cx="3977640" cy="1417320"/>
          </a:xfrm>
          <a:prstGeom prst="roundRect">
            <a:avLst>
              <a:gd name="adj" fmla="val 5161"/>
            </a:avLst>
          </a:prstGeom>
          <a:solidFill>
            <a:srgbClr val="FBE9E7"/>
          </a:solidFill>
          <a:ln w="12700">
            <a:solidFill>
              <a:srgbClr val="FBE9E7"/>
            </a:solidFill>
            <a:prstDash val="solid"/>
          </a:ln>
        </p:spPr>
      </p:sp>
      <p:sp>
        <p:nvSpPr>
          <p:cNvPr id="25" name="Shape 21"/>
          <p:cNvSpPr/>
          <p:nvPr/>
        </p:nvSpPr>
        <p:spPr>
          <a:xfrm>
            <a:off x="4892040" y="3291840"/>
            <a:ext cx="640080" cy="640080"/>
          </a:xfrm>
          <a:prstGeom prst="ellipse">
            <a:avLst/>
          </a:prstGeom>
          <a:solidFill>
            <a:srgbClr val="C0392B"/>
          </a:solidFill>
          <a:ln w="12700">
            <a:solidFill>
              <a:srgbClr val="C0392B"/>
            </a:solidFill>
            <a:prstDash val="solid"/>
          </a:ln>
        </p:spPr>
      </p:sp>
      <p:pic>
        <p:nvPicPr>
          <p:cNvPr id="26" name="Image 2" descr="preencoded.png">    </p:cNvPr>
          <p:cNvPicPr>
            <a:picLocks noChangeAspect="1"/>
          </p:cNvPicPr>
          <p:nvPr/>
        </p:nvPicPr>
        <p:blipFill>
          <a:blip r:embed="rId3"/>
          <a:stretch>
            <a:fillRect/>
          </a:stretch>
        </p:blipFill>
        <p:spPr>
          <a:xfrm>
            <a:off x="5032858" y="3432658"/>
            <a:ext cx="358445" cy="358445"/>
          </a:xfrm>
          <a:prstGeom prst="rect">
            <a:avLst/>
          </a:prstGeom>
        </p:spPr>
      </p:pic>
      <p:sp>
        <p:nvSpPr>
          <p:cNvPr id="27" name="Text 22"/>
          <p:cNvSpPr txBox="1"/>
          <p:nvPr/>
        </p:nvSpPr>
        <p:spPr>
          <a:xfrm>
            <a:off x="5715000" y="2926080"/>
            <a:ext cx="2834640" cy="1417320"/>
          </a:xfrm>
          <a:prstGeom prst="rect">
            <a:avLst/>
          </a:prstGeom>
          <a:noFill/>
          <a:ln/>
        </p:spPr>
        <p:txBody>
          <a:bodyPr wrap="square" lIns="0" tIns="0" rIns="0" bIns="0" rtlCol="0" anchor="ctr"/>
          <a:lstStyle/>
          <a:p>
            <a:pPr indent="0" marL="0">
              <a:buNone/>
            </a:pPr>
            <a:r>
              <a:rPr lang="en-US" sz="1400" b="1" dirty="0">
                <a:solidFill>
                  <a:srgbClr val="C0392B"/>
                </a:solidFill>
              </a:rPr>
              <a:t>Root cause</a:t>
            </a:r>
            <a:endParaRPr lang="en-US" sz="1400" dirty="0"/>
          </a:p>
          <a:p>
            <a:pPr indent="0" marL="0">
              <a:buNone/>
            </a:pPr>
            <a:r>
              <a:rPr lang="en-US" sz="1200" dirty="0">
                <a:solidFill>
                  <a:srgbClr val="1F2937"/>
                </a:solidFill>
              </a:rPr>
              <a:t>JML stopped at the identity provider</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Risk assessment and access review</a:t>
            </a:r>
            <a:endParaRPr lang="en-US" sz="2400" dirty="0"/>
          </a:p>
        </p:txBody>
      </p:sp>
      <p:pic>
        <p:nvPicPr>
          <p:cNvPr id="4" name="Image 1" descr="/home/claude/deck/img/risk_register.jpg">    </p:cNvPr>
          <p:cNvPicPr>
            <a:picLocks noChangeAspect="1"/>
          </p:cNvPicPr>
          <p:nvPr/>
        </p:nvPicPr>
        <p:blipFill>
          <a:blip r:embed="rId2"/>
          <a:stretch>
            <a:fillRect/>
          </a:stretch>
        </p:blipFill>
        <p:spPr>
          <a:xfrm>
            <a:off x="457200" y="868680"/>
            <a:ext cx="4114800" cy="1608942"/>
          </a:xfrm>
          <a:prstGeom prst="rect">
            <a:avLst/>
          </a:prstGeom>
          <a:effectLst>
            <a:outerShdw sx="100000" sy="100000" kx="0" ky="0" algn="bl" rotWithShape="0" blurRad="76200" dist="25400" dir="5400000">
              <a:srgbClr val="000000">
                <a:alpha val="15000"/>
              </a:srgbClr>
            </a:outerShdw>
          </a:effectLst>
        </p:spPr>
      </p:pic>
      <p:graphicFrame>
        <p:nvGraphicFramePr>
          <p:cNvPr id="5" name="Chart 0" descr=""/>
          <p:cNvGraphicFramePr/>
          <p:nvPr/>
        </p:nvGraphicFramePr>
        <p:xfrm>
          <a:off x="4754880" y="822960"/>
          <a:ext cx="3931920" cy="1874520"/>
        </p:xfrm>
        <a:graphic xmlns:a="http://schemas.openxmlformats.org/drawingml/2006/main">
          <a:graphicData uri="http://schemas.openxmlformats.org/drawingml/2006/chart">
            <c:chart xmlns:c="http://schemas.openxmlformats.org/drawingml/2006/chart" r:id="rId3"/>
          </a:graphicData>
        </a:graphic>
      </p:graphicFrame>
      <p:sp>
        <p:nvSpPr>
          <p:cNvPr id="6" name="Text 1"/>
          <p:cNvSpPr txBox="1"/>
          <p:nvPr/>
        </p:nvSpPr>
        <p:spPr>
          <a:xfrm>
            <a:off x="457200" y="2880360"/>
            <a:ext cx="8229600" cy="274320"/>
          </a:xfrm>
          <a:prstGeom prst="rect">
            <a:avLst/>
          </a:prstGeom>
          <a:noFill/>
          <a:ln/>
        </p:spPr>
        <p:txBody>
          <a:bodyPr wrap="square" lIns="0" tIns="0" rIns="0" bIns="0" rtlCol="0" anchor="ctr"/>
          <a:lstStyle/>
          <a:p>
            <a:pPr indent="0" marL="0">
              <a:buNone/>
            </a:pPr>
            <a:r>
              <a:rPr lang="en-US" sz="1300" b="1" dirty="0">
                <a:solidFill>
                  <a:srgbClr val="1B2A4A"/>
                </a:solidFill>
              </a:rPr>
              <a:t>Access review: 6 of 9 accounts flagged</a:t>
            </a:r>
            <a:endParaRPr lang="en-US" sz="1300" dirty="0"/>
          </a:p>
        </p:txBody>
      </p:sp>
      <p:sp>
        <p:nvSpPr>
          <p:cNvPr id="7" name="Shape 2"/>
          <p:cNvSpPr/>
          <p:nvPr/>
        </p:nvSpPr>
        <p:spPr>
          <a:xfrm>
            <a:off x="45720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8" name="Text 3"/>
          <p:cNvSpPr txBox="1"/>
          <p:nvPr/>
        </p:nvSpPr>
        <p:spPr>
          <a:xfrm>
            <a:off x="457200" y="3310128"/>
            <a:ext cx="1920240" cy="566928"/>
          </a:xfrm>
          <a:prstGeom prst="rect">
            <a:avLst/>
          </a:prstGeom>
          <a:noFill/>
          <a:ln/>
        </p:spPr>
        <p:txBody>
          <a:bodyPr wrap="square" lIns="0" tIns="0" rIns="0" bIns="0" rtlCol="0" anchor="ctr"/>
          <a:lstStyle/>
          <a:p>
            <a:pPr algn="ctr" indent="0" marL="0">
              <a:buNone/>
            </a:pPr>
            <a:r>
              <a:rPr lang="en-US" sz="2800" b="1" dirty="0">
                <a:solidFill>
                  <a:srgbClr val="C0392B"/>
                </a:solidFill>
              </a:rPr>
              <a:t>4</a:t>
            </a:r>
            <a:endParaRPr lang="en-US" sz="2800" dirty="0"/>
          </a:p>
        </p:txBody>
      </p:sp>
      <p:sp>
        <p:nvSpPr>
          <p:cNvPr id="9" name="Text 4"/>
          <p:cNvSpPr txBox="1"/>
          <p:nvPr/>
        </p:nvSpPr>
        <p:spPr>
          <a:xfrm>
            <a:off x="45720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Privileged, no MFA</a:t>
            </a:r>
            <a:endParaRPr lang="en-US" sz="1050" dirty="0"/>
          </a:p>
        </p:txBody>
      </p:sp>
      <p:sp>
        <p:nvSpPr>
          <p:cNvPr id="10" name="Shape 5"/>
          <p:cNvSpPr/>
          <p:nvPr/>
        </p:nvSpPr>
        <p:spPr>
          <a:xfrm>
            <a:off x="256032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1" name="Text 6"/>
          <p:cNvSpPr txBox="1"/>
          <p:nvPr/>
        </p:nvSpPr>
        <p:spPr>
          <a:xfrm>
            <a:off x="2560320" y="3310128"/>
            <a:ext cx="1920240" cy="566928"/>
          </a:xfrm>
          <a:prstGeom prst="rect">
            <a:avLst/>
          </a:prstGeom>
          <a:noFill/>
          <a:ln/>
        </p:spPr>
        <p:txBody>
          <a:bodyPr wrap="square" lIns="0" tIns="0" rIns="0" bIns="0" rtlCol="0" anchor="ctr"/>
          <a:lstStyle/>
          <a:p>
            <a:pPr algn="ctr" indent="0" marL="0">
              <a:buNone/>
            </a:pPr>
            <a:r>
              <a:rPr lang="en-US" sz="2800" b="1" dirty="0">
                <a:solidFill>
                  <a:srgbClr val="F2A900"/>
                </a:solidFill>
              </a:rPr>
              <a:t>1</a:t>
            </a:r>
            <a:endParaRPr lang="en-US" sz="2800" dirty="0"/>
          </a:p>
        </p:txBody>
      </p:sp>
      <p:sp>
        <p:nvSpPr>
          <p:cNvPr id="12" name="Text 7"/>
          <p:cNvSpPr txBox="1"/>
          <p:nvPr/>
        </p:nvSpPr>
        <p:spPr>
          <a:xfrm>
            <a:off x="256032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Vendor, no end date</a:t>
            </a:r>
            <a:endParaRPr lang="en-US" sz="1050" dirty="0"/>
          </a:p>
        </p:txBody>
      </p:sp>
      <p:sp>
        <p:nvSpPr>
          <p:cNvPr id="13" name="Shape 8"/>
          <p:cNvSpPr/>
          <p:nvPr/>
        </p:nvSpPr>
        <p:spPr>
          <a:xfrm>
            <a:off x="466344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4" name="Text 9"/>
          <p:cNvSpPr txBox="1"/>
          <p:nvPr/>
        </p:nvSpPr>
        <p:spPr>
          <a:xfrm>
            <a:off x="4663440" y="3310128"/>
            <a:ext cx="1920240" cy="566928"/>
          </a:xfrm>
          <a:prstGeom prst="rect">
            <a:avLst/>
          </a:prstGeom>
          <a:noFill/>
          <a:ln/>
        </p:spPr>
        <p:txBody>
          <a:bodyPr wrap="square" lIns="0" tIns="0" rIns="0" bIns="0" rtlCol="0" anchor="ctr"/>
          <a:lstStyle/>
          <a:p>
            <a:pPr algn="ctr" indent="0" marL="0">
              <a:buNone/>
            </a:pPr>
            <a:r>
              <a:rPr lang="en-US" sz="2800" b="1" dirty="0">
                <a:solidFill>
                  <a:srgbClr val="C0392B"/>
                </a:solidFill>
              </a:rPr>
              <a:t>1</a:t>
            </a:r>
            <a:endParaRPr lang="en-US" sz="2800" dirty="0"/>
          </a:p>
        </p:txBody>
      </p:sp>
      <p:sp>
        <p:nvSpPr>
          <p:cNvPr id="15" name="Text 10"/>
          <p:cNvSpPr txBox="1"/>
          <p:nvPr/>
        </p:nvSpPr>
        <p:spPr>
          <a:xfrm>
            <a:off x="466344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Access past end date</a:t>
            </a:r>
            <a:endParaRPr lang="en-US" sz="1050" dirty="0"/>
          </a:p>
        </p:txBody>
      </p:sp>
      <p:sp>
        <p:nvSpPr>
          <p:cNvPr id="16" name="Shape 11"/>
          <p:cNvSpPr/>
          <p:nvPr/>
        </p:nvSpPr>
        <p:spPr>
          <a:xfrm>
            <a:off x="676656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7" name="Text 12"/>
          <p:cNvSpPr txBox="1"/>
          <p:nvPr/>
        </p:nvSpPr>
        <p:spPr>
          <a:xfrm>
            <a:off x="6766560" y="3310128"/>
            <a:ext cx="1920240" cy="566928"/>
          </a:xfrm>
          <a:prstGeom prst="rect">
            <a:avLst/>
          </a:prstGeom>
          <a:noFill/>
          <a:ln/>
        </p:spPr>
        <p:txBody>
          <a:bodyPr wrap="square" lIns="0" tIns="0" rIns="0" bIns="0" rtlCol="0" anchor="ctr"/>
          <a:lstStyle/>
          <a:p>
            <a:pPr algn="ctr" indent="0" marL="0">
              <a:buNone/>
            </a:pPr>
            <a:r>
              <a:rPr lang="en-US" sz="2800" b="1" dirty="0">
                <a:solidFill>
                  <a:srgbClr val="2E8B57"/>
                </a:solidFill>
              </a:rPr>
              <a:t>3</a:t>
            </a:r>
            <a:endParaRPr lang="en-US" sz="2800" dirty="0"/>
          </a:p>
        </p:txBody>
      </p:sp>
      <p:sp>
        <p:nvSpPr>
          <p:cNvPr id="18" name="Text 13"/>
          <p:cNvSpPr txBox="1"/>
          <p:nvPr/>
        </p:nvSpPr>
        <p:spPr>
          <a:xfrm>
            <a:off x="676656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No issue</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Governance: policy, controls and audit</a:t>
            </a:r>
            <a:endParaRPr lang="en-US" sz="2400" dirty="0"/>
          </a:p>
        </p:txBody>
      </p:sp>
      <p:graphicFrame>
        <p:nvGraphicFramePr>
          <p:cNvPr id="4" name="Chart 0" descr=""/>
          <p:cNvGraphicFramePr/>
          <p:nvPr/>
        </p:nvGraphicFramePr>
        <p:xfrm>
          <a:off x="365760" y="822960"/>
          <a:ext cx="2560320" cy="210312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02920" y="3017520"/>
            <a:ext cx="2331720" cy="384048"/>
          </a:xfrm>
          <a:prstGeom prst="roundRect">
            <a:avLst>
              <a:gd name="adj" fmla="val 14286"/>
            </a:avLst>
          </a:prstGeom>
          <a:solidFill>
            <a:srgbClr val="1B2A4A"/>
          </a:solidFill>
          <a:ln w="12700">
            <a:solidFill>
              <a:srgbClr val="1B2A4A"/>
            </a:solidFill>
            <a:prstDash val="solid"/>
          </a:ln>
        </p:spPr>
      </p:sp>
      <p:sp>
        <p:nvSpPr>
          <p:cNvPr id="6" name="Text 2"/>
          <p:cNvSpPr txBox="1"/>
          <p:nvPr/>
        </p:nvSpPr>
        <p:spPr>
          <a:xfrm>
            <a:off x="502920" y="3017520"/>
            <a:ext cx="2331720" cy="384048"/>
          </a:xfrm>
          <a:prstGeom prst="rect">
            <a:avLst/>
          </a:prstGeom>
          <a:noFill/>
          <a:ln/>
        </p:spPr>
        <p:txBody>
          <a:bodyPr wrap="square" lIns="0" tIns="0" rIns="0" bIns="0" rtlCol="0" anchor="ctr"/>
          <a:lstStyle/>
          <a:p>
            <a:pPr algn="ctr" indent="0" marL="0">
              <a:buNone/>
            </a:pPr>
            <a:r>
              <a:rPr lang="en-US" sz="1050" b="1" dirty="0">
                <a:solidFill>
                  <a:srgbClr val="FFFFFF"/>
                </a:solidFill>
              </a:rPr>
              <a:t>Policy CAN-POL-AC-001</a:t>
            </a:r>
            <a:endParaRPr lang="en-US" sz="1050" dirty="0"/>
          </a:p>
        </p:txBody>
      </p:sp>
      <p:sp>
        <p:nvSpPr>
          <p:cNvPr id="7" name="Text 3"/>
          <p:cNvSpPr txBox="1"/>
          <p:nvPr/>
        </p:nvSpPr>
        <p:spPr>
          <a:xfrm>
            <a:off x="3154680" y="841248"/>
            <a:ext cx="5486400" cy="274320"/>
          </a:xfrm>
          <a:prstGeom prst="rect">
            <a:avLst/>
          </a:prstGeom>
          <a:noFill/>
          <a:ln/>
        </p:spPr>
        <p:txBody>
          <a:bodyPr wrap="square" lIns="0" tIns="0" rIns="0" bIns="0" rtlCol="0" anchor="ctr"/>
          <a:lstStyle/>
          <a:p>
            <a:pPr indent="0" marL="0">
              <a:buNone/>
            </a:pPr>
            <a:r>
              <a:rPr lang="en-US" sz="1200" b="1" dirty="0">
                <a:solidFill>
                  <a:srgbClr val="1B2A4A"/>
                </a:solidFill>
              </a:rPr>
              <a:t>Audit findings</a:t>
            </a:r>
            <a:endParaRPr lang="en-US" sz="1200" dirty="0"/>
          </a:p>
        </p:txBody>
      </p:sp>
      <p:sp>
        <p:nvSpPr>
          <p:cNvPr id="8" name="Shape 4"/>
          <p:cNvSpPr/>
          <p:nvPr/>
        </p:nvSpPr>
        <p:spPr>
          <a:xfrm>
            <a:off x="3154680" y="1170432"/>
            <a:ext cx="1764792" cy="438912"/>
          </a:xfrm>
          <a:prstGeom prst="roundRect">
            <a:avLst>
              <a:gd name="adj" fmla="val 12500"/>
            </a:avLst>
          </a:prstGeom>
          <a:solidFill>
            <a:srgbClr val="F4F8FC"/>
          </a:solidFill>
          <a:ln w="15875">
            <a:solidFill>
              <a:srgbClr val="C0392B"/>
            </a:solidFill>
            <a:prstDash val="solid"/>
          </a:ln>
        </p:spPr>
      </p:sp>
      <p:sp>
        <p:nvSpPr>
          <p:cNvPr id="9" name="Text 5"/>
          <p:cNvSpPr txBox="1"/>
          <p:nvPr/>
        </p:nvSpPr>
        <p:spPr>
          <a:xfrm>
            <a:off x="3227832" y="1170432"/>
            <a:ext cx="1645920" cy="438912"/>
          </a:xfrm>
          <a:prstGeom prst="rect">
            <a:avLst/>
          </a:prstGeom>
          <a:noFill/>
          <a:ln/>
        </p:spPr>
        <p:txBody>
          <a:bodyPr wrap="square" lIns="0" tIns="0" rIns="0" bIns="0" rtlCol="0" anchor="ctr"/>
          <a:lstStyle/>
          <a:p>
            <a:pPr indent="0" marL="0">
              <a:buNone/>
            </a:pPr>
            <a:r>
              <a:rPr lang="en-US" sz="950" b="1" dirty="0">
                <a:solidFill>
                  <a:srgbClr val="C0392B"/>
                </a:solidFill>
              </a:rPr>
              <a:t>F-01  </a:t>
            </a:r>
            <a:pPr indent="0" marL="0">
              <a:buNone/>
            </a:pPr>
            <a:r>
              <a:rPr lang="en-US" sz="950" dirty="0">
                <a:solidFill>
                  <a:srgbClr val="1F2937"/>
                </a:solidFill>
              </a:rPr>
              <a:t>MFA</a:t>
            </a:r>
            <a:endParaRPr lang="en-US" sz="950" dirty="0"/>
          </a:p>
        </p:txBody>
      </p:sp>
      <p:sp>
        <p:nvSpPr>
          <p:cNvPr id="10" name="Shape 6"/>
          <p:cNvSpPr/>
          <p:nvPr/>
        </p:nvSpPr>
        <p:spPr>
          <a:xfrm>
            <a:off x="5010912" y="1170432"/>
            <a:ext cx="1764792" cy="438912"/>
          </a:xfrm>
          <a:prstGeom prst="roundRect">
            <a:avLst>
              <a:gd name="adj" fmla="val 12500"/>
            </a:avLst>
          </a:prstGeom>
          <a:solidFill>
            <a:srgbClr val="F4F8FC"/>
          </a:solidFill>
          <a:ln w="15875">
            <a:solidFill>
              <a:srgbClr val="C0392B"/>
            </a:solidFill>
            <a:prstDash val="solid"/>
          </a:ln>
        </p:spPr>
      </p:sp>
      <p:sp>
        <p:nvSpPr>
          <p:cNvPr id="11" name="Text 7"/>
          <p:cNvSpPr txBox="1"/>
          <p:nvPr/>
        </p:nvSpPr>
        <p:spPr>
          <a:xfrm>
            <a:off x="5084064" y="1170432"/>
            <a:ext cx="1645920" cy="438912"/>
          </a:xfrm>
          <a:prstGeom prst="rect">
            <a:avLst/>
          </a:prstGeom>
          <a:noFill/>
          <a:ln/>
        </p:spPr>
        <p:txBody>
          <a:bodyPr wrap="square" lIns="0" tIns="0" rIns="0" bIns="0" rtlCol="0" anchor="ctr"/>
          <a:lstStyle/>
          <a:p>
            <a:pPr indent="0" marL="0">
              <a:buNone/>
            </a:pPr>
            <a:r>
              <a:rPr lang="en-US" sz="950" b="1" dirty="0">
                <a:solidFill>
                  <a:srgbClr val="C0392B"/>
                </a:solidFill>
              </a:rPr>
              <a:t>F-02  </a:t>
            </a:r>
            <a:pPr indent="0" marL="0">
              <a:buNone/>
            </a:pPr>
            <a:r>
              <a:rPr lang="en-US" sz="950" dirty="0">
                <a:solidFill>
                  <a:srgbClr val="1F2937"/>
                </a:solidFill>
              </a:rPr>
              <a:t>Lockout</a:t>
            </a:r>
            <a:endParaRPr lang="en-US" sz="950" dirty="0"/>
          </a:p>
        </p:txBody>
      </p:sp>
      <p:sp>
        <p:nvSpPr>
          <p:cNvPr id="12" name="Shape 8"/>
          <p:cNvSpPr/>
          <p:nvPr/>
        </p:nvSpPr>
        <p:spPr>
          <a:xfrm>
            <a:off x="6867144" y="1170432"/>
            <a:ext cx="1764792" cy="438912"/>
          </a:xfrm>
          <a:prstGeom prst="roundRect">
            <a:avLst>
              <a:gd name="adj" fmla="val 12500"/>
            </a:avLst>
          </a:prstGeom>
          <a:solidFill>
            <a:srgbClr val="F4F8FC"/>
          </a:solidFill>
          <a:ln w="15875">
            <a:solidFill>
              <a:srgbClr val="C0392B"/>
            </a:solidFill>
            <a:prstDash val="solid"/>
          </a:ln>
        </p:spPr>
      </p:sp>
      <p:sp>
        <p:nvSpPr>
          <p:cNvPr id="13" name="Text 9"/>
          <p:cNvSpPr txBox="1"/>
          <p:nvPr/>
        </p:nvSpPr>
        <p:spPr>
          <a:xfrm>
            <a:off x="6940296" y="1170432"/>
            <a:ext cx="1645920" cy="438912"/>
          </a:xfrm>
          <a:prstGeom prst="rect">
            <a:avLst/>
          </a:prstGeom>
          <a:noFill/>
          <a:ln/>
        </p:spPr>
        <p:txBody>
          <a:bodyPr wrap="square" lIns="0" tIns="0" rIns="0" bIns="0" rtlCol="0" anchor="ctr"/>
          <a:lstStyle/>
          <a:p>
            <a:pPr indent="0" marL="0">
              <a:buNone/>
            </a:pPr>
            <a:r>
              <a:rPr lang="en-US" sz="950" b="1" dirty="0">
                <a:solidFill>
                  <a:srgbClr val="C0392B"/>
                </a:solidFill>
              </a:rPr>
              <a:t>F-03  </a:t>
            </a:r>
            <a:pPr indent="0" marL="0">
              <a:buNone/>
            </a:pPr>
            <a:r>
              <a:rPr lang="en-US" sz="950" dirty="0">
                <a:solidFill>
                  <a:srgbClr val="1F2937"/>
                </a:solidFill>
              </a:rPr>
              <a:t>Log retention</a:t>
            </a:r>
            <a:endParaRPr lang="en-US" sz="950" dirty="0"/>
          </a:p>
        </p:txBody>
      </p:sp>
      <p:sp>
        <p:nvSpPr>
          <p:cNvPr id="14" name="Shape 10"/>
          <p:cNvSpPr/>
          <p:nvPr/>
        </p:nvSpPr>
        <p:spPr>
          <a:xfrm>
            <a:off x="3154680" y="1700784"/>
            <a:ext cx="1764792" cy="438912"/>
          </a:xfrm>
          <a:prstGeom prst="roundRect">
            <a:avLst>
              <a:gd name="adj" fmla="val 12500"/>
            </a:avLst>
          </a:prstGeom>
          <a:solidFill>
            <a:srgbClr val="F4F8FC"/>
          </a:solidFill>
          <a:ln w="15875">
            <a:solidFill>
              <a:srgbClr val="F2A900"/>
            </a:solidFill>
            <a:prstDash val="solid"/>
          </a:ln>
        </p:spPr>
      </p:sp>
      <p:sp>
        <p:nvSpPr>
          <p:cNvPr id="15" name="Text 11"/>
          <p:cNvSpPr txBox="1"/>
          <p:nvPr/>
        </p:nvSpPr>
        <p:spPr>
          <a:xfrm>
            <a:off x="3227832" y="1700784"/>
            <a:ext cx="1645920" cy="438912"/>
          </a:xfrm>
          <a:prstGeom prst="rect">
            <a:avLst/>
          </a:prstGeom>
          <a:noFill/>
          <a:ln/>
        </p:spPr>
        <p:txBody>
          <a:bodyPr wrap="square" lIns="0" tIns="0" rIns="0" bIns="0" rtlCol="0" anchor="ctr"/>
          <a:lstStyle/>
          <a:p>
            <a:pPr indent="0" marL="0">
              <a:buNone/>
            </a:pPr>
            <a:r>
              <a:rPr lang="en-US" sz="950" b="1" dirty="0">
                <a:solidFill>
                  <a:srgbClr val="F2A900"/>
                </a:solidFill>
              </a:rPr>
              <a:t>F-04  </a:t>
            </a:r>
            <a:pPr indent="0" marL="0">
              <a:buNone/>
            </a:pPr>
            <a:r>
              <a:rPr lang="en-US" sz="950" dirty="0">
                <a:solidFill>
                  <a:srgbClr val="1F2937"/>
                </a:solidFill>
              </a:rPr>
              <a:t>Passwords</a:t>
            </a:r>
            <a:endParaRPr lang="en-US" sz="950" dirty="0"/>
          </a:p>
        </p:txBody>
      </p:sp>
      <p:sp>
        <p:nvSpPr>
          <p:cNvPr id="16" name="Shape 12"/>
          <p:cNvSpPr/>
          <p:nvPr/>
        </p:nvSpPr>
        <p:spPr>
          <a:xfrm>
            <a:off x="5010912" y="1700784"/>
            <a:ext cx="1764792" cy="438912"/>
          </a:xfrm>
          <a:prstGeom prst="roundRect">
            <a:avLst>
              <a:gd name="adj" fmla="val 12500"/>
            </a:avLst>
          </a:prstGeom>
          <a:solidFill>
            <a:srgbClr val="F4F8FC"/>
          </a:solidFill>
          <a:ln w="15875">
            <a:solidFill>
              <a:srgbClr val="F2A900"/>
            </a:solidFill>
            <a:prstDash val="solid"/>
          </a:ln>
        </p:spPr>
      </p:sp>
      <p:sp>
        <p:nvSpPr>
          <p:cNvPr id="17" name="Text 13"/>
          <p:cNvSpPr txBox="1"/>
          <p:nvPr/>
        </p:nvSpPr>
        <p:spPr>
          <a:xfrm>
            <a:off x="5084064" y="1700784"/>
            <a:ext cx="1645920" cy="438912"/>
          </a:xfrm>
          <a:prstGeom prst="rect">
            <a:avLst/>
          </a:prstGeom>
          <a:noFill/>
          <a:ln/>
        </p:spPr>
        <p:txBody>
          <a:bodyPr wrap="square" lIns="0" tIns="0" rIns="0" bIns="0" rtlCol="0" anchor="ctr"/>
          <a:lstStyle/>
          <a:p>
            <a:pPr indent="0" marL="0">
              <a:buNone/>
            </a:pPr>
            <a:r>
              <a:rPr lang="en-US" sz="950" b="1" dirty="0">
                <a:solidFill>
                  <a:srgbClr val="F2A900"/>
                </a:solidFill>
              </a:rPr>
              <a:t>F-05  </a:t>
            </a:r>
            <a:pPr indent="0" marL="0">
              <a:buNone/>
            </a:pPr>
            <a:r>
              <a:rPr lang="en-US" sz="950" dirty="0">
                <a:solidFill>
                  <a:srgbClr val="1F2937"/>
                </a:solidFill>
              </a:rPr>
              <a:t>Review sign-off</a:t>
            </a:r>
            <a:endParaRPr lang="en-US" sz="950" dirty="0"/>
          </a:p>
        </p:txBody>
      </p:sp>
      <p:sp>
        <p:nvSpPr>
          <p:cNvPr id="18" name="Shape 14"/>
          <p:cNvSpPr/>
          <p:nvPr/>
        </p:nvSpPr>
        <p:spPr>
          <a:xfrm>
            <a:off x="6867144" y="1700784"/>
            <a:ext cx="1764792" cy="438912"/>
          </a:xfrm>
          <a:prstGeom prst="roundRect">
            <a:avLst>
              <a:gd name="adj" fmla="val 12500"/>
            </a:avLst>
          </a:prstGeom>
          <a:solidFill>
            <a:srgbClr val="F4F8FC"/>
          </a:solidFill>
          <a:ln w="15875">
            <a:solidFill>
              <a:srgbClr val="5A6B85"/>
            </a:solidFill>
            <a:prstDash val="solid"/>
          </a:ln>
        </p:spPr>
      </p:sp>
      <p:sp>
        <p:nvSpPr>
          <p:cNvPr id="19" name="Text 15"/>
          <p:cNvSpPr txBox="1"/>
          <p:nvPr/>
        </p:nvSpPr>
        <p:spPr>
          <a:xfrm>
            <a:off x="6940296" y="1700784"/>
            <a:ext cx="1645920" cy="438912"/>
          </a:xfrm>
          <a:prstGeom prst="rect">
            <a:avLst/>
          </a:prstGeom>
          <a:noFill/>
          <a:ln/>
        </p:spPr>
        <p:txBody>
          <a:bodyPr wrap="square" lIns="0" tIns="0" rIns="0" bIns="0" rtlCol="0" anchor="ctr"/>
          <a:lstStyle/>
          <a:p>
            <a:pPr indent="0" marL="0">
              <a:buNone/>
            </a:pPr>
            <a:r>
              <a:rPr lang="en-US" sz="950" b="1" dirty="0">
                <a:solidFill>
                  <a:srgbClr val="5A6B85"/>
                </a:solidFill>
              </a:rPr>
              <a:t>F-06  </a:t>
            </a:r>
            <a:pPr indent="0" marL="0">
              <a:buNone/>
            </a:pPr>
            <a:r>
              <a:rPr lang="en-US" sz="950" dirty="0">
                <a:solidFill>
                  <a:srgbClr val="1F2937"/>
                </a:solidFill>
              </a:rPr>
              <a:t>Lab HTTP</a:t>
            </a:r>
            <a:endParaRPr lang="en-US" sz="950" dirty="0"/>
          </a:p>
        </p:txBody>
      </p:sp>
      <p:sp>
        <p:nvSpPr>
          <p:cNvPr id="20" name="Text 16"/>
          <p:cNvSpPr txBox="1"/>
          <p:nvPr/>
        </p:nvSpPr>
        <p:spPr>
          <a:xfrm>
            <a:off x="3154680" y="2286000"/>
            <a:ext cx="5486400" cy="274320"/>
          </a:xfrm>
          <a:prstGeom prst="rect">
            <a:avLst/>
          </a:prstGeom>
          <a:noFill/>
          <a:ln/>
        </p:spPr>
        <p:txBody>
          <a:bodyPr wrap="square" lIns="0" tIns="0" rIns="0" bIns="0" rtlCol="0" anchor="ctr"/>
          <a:lstStyle/>
          <a:p>
            <a:pPr indent="0" marL="0">
              <a:buNone/>
            </a:pPr>
            <a:r>
              <a:rPr lang="en-US" sz="1200" b="1" dirty="0">
                <a:solidFill>
                  <a:srgbClr val="1B2A4A"/>
                </a:solidFill>
              </a:rPr>
              <a:t>Control → HIPAA → evidence</a:t>
            </a:r>
            <a:endParaRPr lang="en-US" sz="1200" dirty="0"/>
          </a:p>
        </p:txBody>
      </p:sp>
      <p:sp>
        <p:nvSpPr>
          <p:cNvPr id="21" name="Shape 17"/>
          <p:cNvSpPr/>
          <p:nvPr/>
        </p:nvSpPr>
        <p:spPr>
          <a:xfrm>
            <a:off x="3154680" y="2615184"/>
            <a:ext cx="1691640" cy="329184"/>
          </a:xfrm>
          <a:prstGeom prst="roundRect">
            <a:avLst>
              <a:gd name="adj" fmla="val 16667"/>
            </a:avLst>
          </a:prstGeom>
          <a:solidFill>
            <a:srgbClr val="1B2A4A"/>
          </a:solidFill>
          <a:ln w="12700">
            <a:solidFill>
              <a:srgbClr val="1B2A4A"/>
            </a:solidFill>
            <a:prstDash val="solid"/>
          </a:ln>
        </p:spPr>
      </p:sp>
      <p:sp>
        <p:nvSpPr>
          <p:cNvPr id="22" name="Text 18"/>
          <p:cNvSpPr txBox="1"/>
          <p:nvPr/>
        </p:nvSpPr>
        <p:spPr>
          <a:xfrm>
            <a:off x="3154680" y="261518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rPr>
              <a:t>Access</a:t>
            </a:r>
            <a:endParaRPr lang="en-US" sz="950" dirty="0"/>
          </a:p>
        </p:txBody>
      </p:sp>
      <p:sp>
        <p:nvSpPr>
          <p:cNvPr id="23" name="Shape 19"/>
          <p:cNvSpPr/>
          <p:nvPr/>
        </p:nvSpPr>
        <p:spPr>
          <a:xfrm>
            <a:off x="5074920" y="2615184"/>
            <a:ext cx="1783080" cy="329184"/>
          </a:xfrm>
          <a:prstGeom prst="roundRect">
            <a:avLst>
              <a:gd name="adj" fmla="val 16667"/>
            </a:avLst>
          </a:prstGeom>
          <a:solidFill>
            <a:srgbClr val="DCE8F5"/>
          </a:solidFill>
          <a:ln w="12700">
            <a:solidFill>
              <a:srgbClr val="DCE8F5"/>
            </a:solidFill>
            <a:prstDash val="solid"/>
          </a:ln>
        </p:spPr>
      </p:sp>
      <p:sp>
        <p:nvSpPr>
          <p:cNvPr id="24" name="Text 20"/>
          <p:cNvSpPr txBox="1"/>
          <p:nvPr/>
        </p:nvSpPr>
        <p:spPr>
          <a:xfrm>
            <a:off x="5074920" y="2615184"/>
            <a:ext cx="1783080" cy="329184"/>
          </a:xfrm>
          <a:prstGeom prst="rect">
            <a:avLst/>
          </a:prstGeom>
          <a:noFill/>
          <a:ln/>
        </p:spPr>
        <p:txBody>
          <a:bodyPr wrap="square" lIns="0" tIns="0" rIns="0" bIns="0" rtlCol="0" anchor="ctr"/>
          <a:lstStyle/>
          <a:p>
            <a:pPr algn="ctr" indent="0" marL="0">
              <a:buNone/>
            </a:pPr>
            <a:r>
              <a:rPr lang="en-US" sz="950" b="1" dirty="0">
                <a:solidFill>
                  <a:srgbClr val="1B2A4A"/>
                </a:solidFill>
              </a:rPr>
              <a:t>§164.308(a)(4)</a:t>
            </a:r>
            <a:endParaRPr lang="en-US" sz="950" dirty="0"/>
          </a:p>
        </p:txBody>
      </p:sp>
      <p:sp>
        <p:nvSpPr>
          <p:cNvPr id="25" name="Shape 21"/>
          <p:cNvSpPr/>
          <p:nvPr/>
        </p:nvSpPr>
        <p:spPr>
          <a:xfrm>
            <a:off x="7086600" y="2615184"/>
            <a:ext cx="1600200" cy="329184"/>
          </a:xfrm>
          <a:prstGeom prst="roundRect">
            <a:avLst>
              <a:gd name="adj" fmla="val 16667"/>
            </a:avLst>
          </a:prstGeom>
          <a:solidFill>
            <a:srgbClr val="2E8B57"/>
          </a:solidFill>
          <a:ln w="12700">
            <a:solidFill>
              <a:srgbClr val="2E8B57"/>
            </a:solidFill>
            <a:prstDash val="solid"/>
          </a:ln>
        </p:spPr>
      </p:sp>
      <p:sp>
        <p:nvSpPr>
          <p:cNvPr id="26" name="Text 22"/>
          <p:cNvSpPr txBox="1"/>
          <p:nvPr/>
        </p:nvSpPr>
        <p:spPr>
          <a:xfrm>
            <a:off x="7086600" y="2615184"/>
            <a:ext cx="1600200" cy="329184"/>
          </a:xfrm>
          <a:prstGeom prst="rect">
            <a:avLst/>
          </a:prstGeom>
          <a:noFill/>
          <a:ln/>
        </p:spPr>
        <p:txBody>
          <a:bodyPr wrap="square" lIns="0" tIns="0" rIns="0" bIns="0" rtlCol="0" anchor="ctr"/>
          <a:lstStyle/>
          <a:p>
            <a:pPr algn="ctr" indent="0" marL="0">
              <a:buNone/>
            </a:pPr>
            <a:r>
              <a:rPr lang="en-US" sz="950" b="1" dirty="0">
                <a:solidFill>
                  <a:srgbClr val="FFFFFF"/>
                </a:solidFill>
              </a:rPr>
              <a:t>E-AC-01</a:t>
            </a:r>
            <a:endParaRPr lang="en-US" sz="950" dirty="0"/>
          </a:p>
        </p:txBody>
      </p:sp>
      <p:sp>
        <p:nvSpPr>
          <p:cNvPr id="27" name="Shape 23"/>
          <p:cNvSpPr/>
          <p:nvPr/>
        </p:nvSpPr>
        <p:spPr>
          <a:xfrm>
            <a:off x="4873752" y="2715768"/>
            <a:ext cx="164592" cy="128016"/>
          </a:xfrm>
          <a:prstGeom prst="rightArrow">
            <a:avLst/>
          </a:prstGeom>
          <a:solidFill>
            <a:srgbClr val="5A6B85"/>
          </a:solidFill>
          <a:ln w="12700">
            <a:solidFill>
              <a:srgbClr val="5A6B85"/>
            </a:solidFill>
            <a:prstDash val="solid"/>
          </a:ln>
        </p:spPr>
      </p:sp>
      <p:sp>
        <p:nvSpPr>
          <p:cNvPr id="28" name="Shape 24"/>
          <p:cNvSpPr/>
          <p:nvPr/>
        </p:nvSpPr>
        <p:spPr>
          <a:xfrm>
            <a:off x="6885432" y="2715768"/>
            <a:ext cx="164592" cy="128016"/>
          </a:xfrm>
          <a:prstGeom prst="rightArrow">
            <a:avLst/>
          </a:prstGeom>
          <a:solidFill>
            <a:srgbClr val="5A6B85"/>
          </a:solidFill>
          <a:ln w="12700">
            <a:solidFill>
              <a:srgbClr val="5A6B85"/>
            </a:solidFill>
            <a:prstDash val="solid"/>
          </a:ln>
        </p:spPr>
      </p:sp>
      <p:sp>
        <p:nvSpPr>
          <p:cNvPr id="29" name="Shape 25"/>
          <p:cNvSpPr/>
          <p:nvPr/>
        </p:nvSpPr>
        <p:spPr>
          <a:xfrm>
            <a:off x="3154680" y="3026664"/>
            <a:ext cx="1691640" cy="329184"/>
          </a:xfrm>
          <a:prstGeom prst="roundRect">
            <a:avLst>
              <a:gd name="adj" fmla="val 16667"/>
            </a:avLst>
          </a:prstGeom>
          <a:solidFill>
            <a:srgbClr val="1B2A4A"/>
          </a:solidFill>
          <a:ln w="12700">
            <a:solidFill>
              <a:srgbClr val="1B2A4A"/>
            </a:solidFill>
            <a:prstDash val="solid"/>
          </a:ln>
        </p:spPr>
      </p:sp>
      <p:sp>
        <p:nvSpPr>
          <p:cNvPr id="30" name="Text 26"/>
          <p:cNvSpPr txBox="1"/>
          <p:nvPr/>
        </p:nvSpPr>
        <p:spPr>
          <a:xfrm>
            <a:off x="3154680" y="302666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rPr>
              <a:t>Logging</a:t>
            </a:r>
            <a:endParaRPr lang="en-US" sz="950" dirty="0"/>
          </a:p>
        </p:txBody>
      </p:sp>
      <p:sp>
        <p:nvSpPr>
          <p:cNvPr id="31" name="Shape 27"/>
          <p:cNvSpPr/>
          <p:nvPr/>
        </p:nvSpPr>
        <p:spPr>
          <a:xfrm>
            <a:off x="5074920" y="3026664"/>
            <a:ext cx="1783080" cy="329184"/>
          </a:xfrm>
          <a:prstGeom prst="roundRect">
            <a:avLst>
              <a:gd name="adj" fmla="val 16667"/>
            </a:avLst>
          </a:prstGeom>
          <a:solidFill>
            <a:srgbClr val="DCE8F5"/>
          </a:solidFill>
          <a:ln w="12700">
            <a:solidFill>
              <a:srgbClr val="DCE8F5"/>
            </a:solidFill>
            <a:prstDash val="solid"/>
          </a:ln>
        </p:spPr>
      </p:sp>
      <p:sp>
        <p:nvSpPr>
          <p:cNvPr id="32" name="Text 28"/>
          <p:cNvSpPr txBox="1"/>
          <p:nvPr/>
        </p:nvSpPr>
        <p:spPr>
          <a:xfrm>
            <a:off x="5074920" y="3026664"/>
            <a:ext cx="1783080" cy="329184"/>
          </a:xfrm>
          <a:prstGeom prst="rect">
            <a:avLst/>
          </a:prstGeom>
          <a:noFill/>
          <a:ln/>
        </p:spPr>
        <p:txBody>
          <a:bodyPr wrap="square" lIns="0" tIns="0" rIns="0" bIns="0" rtlCol="0" anchor="ctr"/>
          <a:lstStyle/>
          <a:p>
            <a:pPr algn="ctr" indent="0" marL="0">
              <a:buNone/>
            </a:pPr>
            <a:r>
              <a:rPr lang="en-US" sz="950" b="1" dirty="0">
                <a:solidFill>
                  <a:srgbClr val="1B2A4A"/>
                </a:solidFill>
              </a:rPr>
              <a:t>§164.312(b)</a:t>
            </a:r>
            <a:endParaRPr lang="en-US" sz="950" dirty="0"/>
          </a:p>
        </p:txBody>
      </p:sp>
      <p:sp>
        <p:nvSpPr>
          <p:cNvPr id="33" name="Shape 29"/>
          <p:cNvSpPr/>
          <p:nvPr/>
        </p:nvSpPr>
        <p:spPr>
          <a:xfrm>
            <a:off x="7086600" y="3026664"/>
            <a:ext cx="1600200" cy="329184"/>
          </a:xfrm>
          <a:prstGeom prst="roundRect">
            <a:avLst>
              <a:gd name="adj" fmla="val 16667"/>
            </a:avLst>
          </a:prstGeom>
          <a:solidFill>
            <a:srgbClr val="2E8B57"/>
          </a:solidFill>
          <a:ln w="12700">
            <a:solidFill>
              <a:srgbClr val="2E8B57"/>
            </a:solidFill>
            <a:prstDash val="solid"/>
          </a:ln>
        </p:spPr>
      </p:sp>
      <p:sp>
        <p:nvSpPr>
          <p:cNvPr id="34" name="Text 30"/>
          <p:cNvSpPr txBox="1"/>
          <p:nvPr/>
        </p:nvSpPr>
        <p:spPr>
          <a:xfrm>
            <a:off x="7086600" y="3026664"/>
            <a:ext cx="1600200" cy="329184"/>
          </a:xfrm>
          <a:prstGeom prst="rect">
            <a:avLst/>
          </a:prstGeom>
          <a:noFill/>
          <a:ln/>
        </p:spPr>
        <p:txBody>
          <a:bodyPr wrap="square" lIns="0" tIns="0" rIns="0" bIns="0" rtlCol="0" anchor="ctr"/>
          <a:lstStyle/>
          <a:p>
            <a:pPr algn="ctr" indent="0" marL="0">
              <a:buNone/>
            </a:pPr>
            <a:r>
              <a:rPr lang="en-US" sz="950" b="1" dirty="0">
                <a:solidFill>
                  <a:srgbClr val="FFFFFF"/>
                </a:solidFill>
              </a:rPr>
              <a:t>E-LOG-01</a:t>
            </a:r>
            <a:endParaRPr lang="en-US" sz="950" dirty="0"/>
          </a:p>
        </p:txBody>
      </p:sp>
      <p:sp>
        <p:nvSpPr>
          <p:cNvPr id="35" name="Shape 31"/>
          <p:cNvSpPr/>
          <p:nvPr/>
        </p:nvSpPr>
        <p:spPr>
          <a:xfrm>
            <a:off x="4873752" y="3127248"/>
            <a:ext cx="164592" cy="128016"/>
          </a:xfrm>
          <a:prstGeom prst="rightArrow">
            <a:avLst/>
          </a:prstGeom>
          <a:solidFill>
            <a:srgbClr val="5A6B85"/>
          </a:solidFill>
          <a:ln w="12700">
            <a:solidFill>
              <a:srgbClr val="5A6B85"/>
            </a:solidFill>
            <a:prstDash val="solid"/>
          </a:ln>
        </p:spPr>
      </p:sp>
      <p:sp>
        <p:nvSpPr>
          <p:cNvPr id="36" name="Shape 32"/>
          <p:cNvSpPr/>
          <p:nvPr/>
        </p:nvSpPr>
        <p:spPr>
          <a:xfrm>
            <a:off x="6885432" y="3127248"/>
            <a:ext cx="164592" cy="128016"/>
          </a:xfrm>
          <a:prstGeom prst="rightArrow">
            <a:avLst/>
          </a:prstGeom>
          <a:solidFill>
            <a:srgbClr val="5A6B85"/>
          </a:solidFill>
          <a:ln w="12700">
            <a:solidFill>
              <a:srgbClr val="5A6B85"/>
            </a:solidFill>
            <a:prstDash val="solid"/>
          </a:ln>
        </p:spPr>
      </p:sp>
      <p:sp>
        <p:nvSpPr>
          <p:cNvPr id="37" name="Shape 33"/>
          <p:cNvSpPr/>
          <p:nvPr/>
        </p:nvSpPr>
        <p:spPr>
          <a:xfrm>
            <a:off x="3154680" y="3438144"/>
            <a:ext cx="1691640" cy="329184"/>
          </a:xfrm>
          <a:prstGeom prst="roundRect">
            <a:avLst>
              <a:gd name="adj" fmla="val 16667"/>
            </a:avLst>
          </a:prstGeom>
          <a:solidFill>
            <a:srgbClr val="1B2A4A"/>
          </a:solidFill>
          <a:ln w="12700">
            <a:solidFill>
              <a:srgbClr val="1B2A4A"/>
            </a:solidFill>
            <a:prstDash val="solid"/>
          </a:ln>
        </p:spPr>
      </p:sp>
      <p:sp>
        <p:nvSpPr>
          <p:cNvPr id="38" name="Text 34"/>
          <p:cNvSpPr txBox="1"/>
          <p:nvPr/>
        </p:nvSpPr>
        <p:spPr>
          <a:xfrm>
            <a:off x="3154680" y="343814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rPr>
              <a:t>Encryption</a:t>
            </a:r>
            <a:endParaRPr lang="en-US" sz="950" dirty="0"/>
          </a:p>
        </p:txBody>
      </p:sp>
      <p:sp>
        <p:nvSpPr>
          <p:cNvPr id="39" name="Shape 35"/>
          <p:cNvSpPr/>
          <p:nvPr/>
        </p:nvSpPr>
        <p:spPr>
          <a:xfrm>
            <a:off x="5074920" y="3438144"/>
            <a:ext cx="1783080" cy="329184"/>
          </a:xfrm>
          <a:prstGeom prst="roundRect">
            <a:avLst>
              <a:gd name="adj" fmla="val 16667"/>
            </a:avLst>
          </a:prstGeom>
          <a:solidFill>
            <a:srgbClr val="DCE8F5"/>
          </a:solidFill>
          <a:ln w="12700">
            <a:solidFill>
              <a:srgbClr val="DCE8F5"/>
            </a:solidFill>
            <a:prstDash val="solid"/>
          </a:ln>
        </p:spPr>
      </p:sp>
      <p:sp>
        <p:nvSpPr>
          <p:cNvPr id="40" name="Text 36"/>
          <p:cNvSpPr txBox="1"/>
          <p:nvPr/>
        </p:nvSpPr>
        <p:spPr>
          <a:xfrm>
            <a:off x="5074920" y="3438144"/>
            <a:ext cx="1783080" cy="329184"/>
          </a:xfrm>
          <a:prstGeom prst="rect">
            <a:avLst/>
          </a:prstGeom>
          <a:noFill/>
          <a:ln/>
        </p:spPr>
        <p:txBody>
          <a:bodyPr wrap="square" lIns="0" tIns="0" rIns="0" bIns="0" rtlCol="0" anchor="ctr"/>
          <a:lstStyle/>
          <a:p>
            <a:pPr algn="ctr" indent="0" marL="0">
              <a:buNone/>
            </a:pPr>
            <a:r>
              <a:rPr lang="en-US" sz="950" b="1" dirty="0">
                <a:solidFill>
                  <a:srgbClr val="1B2A4A"/>
                </a:solidFill>
              </a:rPr>
              <a:t>§164.312(e)(1)</a:t>
            </a:r>
            <a:endParaRPr lang="en-US" sz="950" dirty="0"/>
          </a:p>
        </p:txBody>
      </p:sp>
      <p:sp>
        <p:nvSpPr>
          <p:cNvPr id="41" name="Shape 37"/>
          <p:cNvSpPr/>
          <p:nvPr/>
        </p:nvSpPr>
        <p:spPr>
          <a:xfrm>
            <a:off x="7086600" y="3438144"/>
            <a:ext cx="1600200" cy="329184"/>
          </a:xfrm>
          <a:prstGeom prst="roundRect">
            <a:avLst>
              <a:gd name="adj" fmla="val 16667"/>
            </a:avLst>
          </a:prstGeom>
          <a:solidFill>
            <a:srgbClr val="2E8B57"/>
          </a:solidFill>
          <a:ln w="12700">
            <a:solidFill>
              <a:srgbClr val="2E8B57"/>
            </a:solidFill>
            <a:prstDash val="solid"/>
          </a:ln>
        </p:spPr>
      </p:sp>
      <p:sp>
        <p:nvSpPr>
          <p:cNvPr id="42" name="Text 38"/>
          <p:cNvSpPr txBox="1"/>
          <p:nvPr/>
        </p:nvSpPr>
        <p:spPr>
          <a:xfrm>
            <a:off x="7086600" y="3438144"/>
            <a:ext cx="1600200" cy="329184"/>
          </a:xfrm>
          <a:prstGeom prst="rect">
            <a:avLst/>
          </a:prstGeom>
          <a:noFill/>
          <a:ln/>
        </p:spPr>
        <p:txBody>
          <a:bodyPr wrap="square" lIns="0" tIns="0" rIns="0" bIns="0" rtlCol="0" anchor="ctr"/>
          <a:lstStyle/>
          <a:p>
            <a:pPr algn="ctr" indent="0" marL="0">
              <a:buNone/>
            </a:pPr>
            <a:r>
              <a:rPr lang="en-US" sz="950" b="1" dirty="0">
                <a:solidFill>
                  <a:srgbClr val="FFFFFF"/>
                </a:solidFill>
              </a:rPr>
              <a:t>E-ENC-01</a:t>
            </a:r>
            <a:endParaRPr lang="en-US" sz="950" dirty="0"/>
          </a:p>
        </p:txBody>
      </p:sp>
      <p:sp>
        <p:nvSpPr>
          <p:cNvPr id="43" name="Shape 39"/>
          <p:cNvSpPr/>
          <p:nvPr/>
        </p:nvSpPr>
        <p:spPr>
          <a:xfrm>
            <a:off x="4873752" y="3538728"/>
            <a:ext cx="164592" cy="128016"/>
          </a:xfrm>
          <a:prstGeom prst="rightArrow">
            <a:avLst/>
          </a:prstGeom>
          <a:solidFill>
            <a:srgbClr val="5A6B85"/>
          </a:solidFill>
          <a:ln w="12700">
            <a:solidFill>
              <a:srgbClr val="5A6B85"/>
            </a:solidFill>
            <a:prstDash val="solid"/>
          </a:ln>
        </p:spPr>
      </p:sp>
      <p:sp>
        <p:nvSpPr>
          <p:cNvPr id="44" name="Shape 40"/>
          <p:cNvSpPr/>
          <p:nvPr/>
        </p:nvSpPr>
        <p:spPr>
          <a:xfrm>
            <a:off x="6885432" y="3538728"/>
            <a:ext cx="164592" cy="128016"/>
          </a:xfrm>
          <a:prstGeom prst="rightArrow">
            <a:avLst/>
          </a:prstGeom>
          <a:solidFill>
            <a:srgbClr val="5A6B85"/>
          </a:solidFill>
          <a:ln w="12700">
            <a:solidFill>
              <a:srgbClr val="5A6B85"/>
            </a:solidFill>
            <a:prstDash val="solid"/>
          </a:ln>
        </p:spPr>
      </p:sp>
      <p:sp>
        <p:nvSpPr>
          <p:cNvPr id="45" name="Shape 41"/>
          <p:cNvSpPr/>
          <p:nvPr/>
        </p:nvSpPr>
        <p:spPr>
          <a:xfrm>
            <a:off x="45720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46" name="Text 42"/>
          <p:cNvSpPr txBox="1"/>
          <p:nvPr/>
        </p:nvSpPr>
        <p:spPr>
          <a:xfrm>
            <a:off x="502920" y="3886200"/>
            <a:ext cx="777240" cy="685800"/>
          </a:xfrm>
          <a:prstGeom prst="rect">
            <a:avLst/>
          </a:prstGeom>
          <a:noFill/>
          <a:ln/>
        </p:spPr>
        <p:txBody>
          <a:bodyPr wrap="square" lIns="0" tIns="0" rIns="0" bIns="0" rtlCol="0" anchor="ctr"/>
          <a:lstStyle/>
          <a:p>
            <a:pPr algn="ctr" indent="0" marL="0">
              <a:buNone/>
            </a:pPr>
            <a:r>
              <a:rPr lang="en-US" sz="1800" b="1" dirty="0">
                <a:solidFill>
                  <a:srgbClr val="2E8B57"/>
                </a:solidFill>
              </a:rPr>
              <a:t>100%</a:t>
            </a:r>
            <a:endParaRPr lang="en-US" sz="1800" dirty="0"/>
          </a:p>
        </p:txBody>
      </p:sp>
      <p:sp>
        <p:nvSpPr>
          <p:cNvPr id="47" name="Text 43"/>
          <p:cNvSpPr txBox="1"/>
          <p:nvPr/>
        </p:nvSpPr>
        <p:spPr>
          <a:xfrm>
            <a:off x="129844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Leavers off same day</a:t>
            </a:r>
            <a:endParaRPr lang="en-US" sz="950" dirty="0"/>
          </a:p>
        </p:txBody>
      </p:sp>
      <p:sp>
        <p:nvSpPr>
          <p:cNvPr id="48" name="Shape 44"/>
          <p:cNvSpPr/>
          <p:nvPr/>
        </p:nvSpPr>
        <p:spPr>
          <a:xfrm>
            <a:off x="256032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49" name="Text 45"/>
          <p:cNvSpPr txBox="1"/>
          <p:nvPr/>
        </p:nvSpPr>
        <p:spPr>
          <a:xfrm>
            <a:off x="2606040" y="3886200"/>
            <a:ext cx="777240" cy="685800"/>
          </a:xfrm>
          <a:prstGeom prst="rect">
            <a:avLst/>
          </a:prstGeom>
          <a:noFill/>
          <a:ln/>
        </p:spPr>
        <p:txBody>
          <a:bodyPr wrap="square" lIns="0" tIns="0" rIns="0" bIns="0" rtlCol="0" anchor="ctr"/>
          <a:lstStyle/>
          <a:p>
            <a:pPr algn="ctr" indent="0" marL="0">
              <a:buNone/>
            </a:pPr>
            <a:r>
              <a:rPr lang="en-US" sz="1800" b="1" dirty="0">
                <a:solidFill>
                  <a:srgbClr val="C0392B"/>
                </a:solidFill>
              </a:rPr>
              <a:t>57%</a:t>
            </a:r>
            <a:endParaRPr lang="en-US" sz="1800" dirty="0"/>
          </a:p>
        </p:txBody>
      </p:sp>
      <p:sp>
        <p:nvSpPr>
          <p:cNvPr id="50" name="Text 46"/>
          <p:cNvSpPr txBox="1"/>
          <p:nvPr/>
        </p:nvSpPr>
        <p:spPr>
          <a:xfrm>
            <a:off x="340156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Tests passed</a:t>
            </a:r>
            <a:endParaRPr lang="en-US" sz="950" dirty="0"/>
          </a:p>
        </p:txBody>
      </p:sp>
      <p:sp>
        <p:nvSpPr>
          <p:cNvPr id="51" name="Shape 47"/>
          <p:cNvSpPr/>
          <p:nvPr/>
        </p:nvSpPr>
        <p:spPr>
          <a:xfrm>
            <a:off x="466344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2" name="Text 48"/>
          <p:cNvSpPr txBox="1"/>
          <p:nvPr/>
        </p:nvSpPr>
        <p:spPr>
          <a:xfrm>
            <a:off x="4709160" y="3886200"/>
            <a:ext cx="777240" cy="685800"/>
          </a:xfrm>
          <a:prstGeom prst="rect">
            <a:avLst/>
          </a:prstGeom>
          <a:noFill/>
          <a:ln/>
        </p:spPr>
        <p:txBody>
          <a:bodyPr wrap="square" lIns="0" tIns="0" rIns="0" bIns="0" rtlCol="0" anchor="ctr"/>
          <a:lstStyle/>
          <a:p>
            <a:pPr algn="ctr" indent="0" marL="0">
              <a:buNone/>
            </a:pPr>
            <a:r>
              <a:rPr lang="en-US" sz="1800" b="1" dirty="0">
                <a:solidFill>
                  <a:srgbClr val="F2A900"/>
                </a:solidFill>
              </a:rPr>
              <a:t>3</a:t>
            </a:r>
            <a:endParaRPr lang="en-US" sz="1800" dirty="0"/>
          </a:p>
        </p:txBody>
      </p:sp>
      <p:sp>
        <p:nvSpPr>
          <p:cNvPr id="53" name="Text 49"/>
          <p:cNvSpPr txBox="1"/>
          <p:nvPr/>
        </p:nvSpPr>
        <p:spPr>
          <a:xfrm>
            <a:off x="550468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High findings</a:t>
            </a:r>
            <a:endParaRPr lang="en-US" sz="950" dirty="0"/>
          </a:p>
        </p:txBody>
      </p:sp>
      <p:sp>
        <p:nvSpPr>
          <p:cNvPr id="54" name="Shape 50"/>
          <p:cNvSpPr/>
          <p:nvPr/>
        </p:nvSpPr>
        <p:spPr>
          <a:xfrm>
            <a:off x="676656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5" name="Text 51"/>
          <p:cNvSpPr txBox="1"/>
          <p:nvPr/>
        </p:nvSpPr>
        <p:spPr>
          <a:xfrm>
            <a:off x="6812280" y="3886200"/>
            <a:ext cx="777240" cy="685800"/>
          </a:xfrm>
          <a:prstGeom prst="rect">
            <a:avLst/>
          </a:prstGeom>
          <a:noFill/>
          <a:ln/>
        </p:spPr>
        <p:txBody>
          <a:bodyPr wrap="square" lIns="0" tIns="0" rIns="0" bIns="0" rtlCol="0" anchor="ctr"/>
          <a:lstStyle/>
          <a:p>
            <a:pPr algn="ctr" indent="0" marL="0">
              <a:buNone/>
            </a:pPr>
            <a:r>
              <a:rPr lang="en-US" sz="1800" b="1" dirty="0">
                <a:solidFill>
                  <a:srgbClr val="F2A900"/>
                </a:solidFill>
              </a:rPr>
              <a:t>3</a:t>
            </a:r>
            <a:endParaRPr lang="en-US" sz="1800" dirty="0"/>
          </a:p>
        </p:txBody>
      </p:sp>
      <p:sp>
        <p:nvSpPr>
          <p:cNvPr id="56" name="Text 52"/>
          <p:cNvSpPr txBox="1"/>
          <p:nvPr/>
        </p:nvSpPr>
        <p:spPr>
          <a:xfrm>
            <a:off x="760780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High risks</a:t>
            </a:r>
            <a:endParaRPr lang="en-US" sz="9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Challenges, lessons and next steps</a:t>
            </a:r>
            <a:endParaRPr lang="en-US" sz="2400" dirty="0"/>
          </a:p>
        </p:txBody>
      </p:sp>
      <p:sp>
        <p:nvSpPr>
          <p:cNvPr id="4" name="Shape 1"/>
          <p:cNvSpPr/>
          <p:nvPr/>
        </p:nvSpPr>
        <p:spPr>
          <a:xfrm>
            <a:off x="457200" y="868680"/>
            <a:ext cx="3108960" cy="3611880"/>
          </a:xfrm>
          <a:prstGeom prst="roundRect">
            <a:avLst>
              <a:gd name="adj" fmla="val 2941"/>
            </a:avLst>
          </a:prstGeom>
          <a:solidFill>
            <a:srgbClr val="1B2A4A"/>
          </a:solidFill>
          <a:ln w="12700">
            <a:solidFill>
              <a:srgbClr val="1B2A4A"/>
            </a:solidFill>
            <a:prstDash val="solid"/>
          </a:ln>
        </p:spPr>
      </p:sp>
      <p:sp>
        <p:nvSpPr>
          <p:cNvPr id="5" name="Shape 2"/>
          <p:cNvSpPr/>
          <p:nvPr/>
        </p:nvSpPr>
        <p:spPr>
          <a:xfrm>
            <a:off x="658368" y="1024128"/>
            <a:ext cx="457200" cy="457200"/>
          </a:xfrm>
          <a:prstGeom prst="ellipse">
            <a:avLst/>
          </a:prstGeom>
          <a:solidFill>
            <a:srgbClr val="F2A900"/>
          </a:solidFill>
          <a:ln w="12700">
            <a:solidFill>
              <a:srgbClr val="F2A900"/>
            </a:solidFill>
            <a:prstDash val="solid"/>
          </a:ln>
        </p:spPr>
      </p:sp>
      <p:pic>
        <p:nvPicPr>
          <p:cNvPr id="6" name="Image 1" descr="preencoded.png">    </p:cNvPr>
          <p:cNvPicPr>
            <a:picLocks noChangeAspect="1"/>
          </p:cNvPicPr>
          <p:nvPr/>
        </p:nvPicPr>
        <p:blipFill>
          <a:blip r:embed="rId2"/>
          <a:stretch>
            <a:fillRect/>
          </a:stretch>
        </p:blipFill>
        <p:spPr>
          <a:xfrm>
            <a:off x="758952" y="1124712"/>
            <a:ext cx="256032" cy="256032"/>
          </a:xfrm>
          <a:prstGeom prst="rect">
            <a:avLst/>
          </a:prstGeom>
        </p:spPr>
      </p:pic>
      <p:sp>
        <p:nvSpPr>
          <p:cNvPr id="7" name="Text 3"/>
          <p:cNvSpPr txBox="1"/>
          <p:nvPr/>
        </p:nvSpPr>
        <p:spPr>
          <a:xfrm>
            <a:off x="1234440" y="1024128"/>
            <a:ext cx="2194560" cy="457200"/>
          </a:xfrm>
          <a:prstGeom prst="rect">
            <a:avLst/>
          </a:prstGeom>
          <a:noFill/>
          <a:ln/>
        </p:spPr>
        <p:txBody>
          <a:bodyPr wrap="square" lIns="0" tIns="0" rIns="0" bIns="0" rtlCol="0" anchor="ctr"/>
          <a:lstStyle/>
          <a:p>
            <a:pPr indent="0" marL="0">
              <a:buNone/>
            </a:pPr>
            <a:r>
              <a:rPr lang="en-US" sz="1500" b="1" dirty="0">
                <a:solidFill>
                  <a:srgbClr val="FFFFFF"/>
                </a:solidFill>
              </a:rPr>
              <a:t>What I learned</a:t>
            </a:r>
            <a:endParaRPr lang="en-US" sz="1500" dirty="0"/>
          </a:p>
        </p:txBody>
      </p:sp>
      <p:sp>
        <p:nvSpPr>
          <p:cNvPr id="8" name="Shape 4"/>
          <p:cNvSpPr/>
          <p:nvPr/>
        </p:nvSpPr>
        <p:spPr>
          <a:xfrm>
            <a:off x="685800" y="1783080"/>
            <a:ext cx="457200" cy="457200"/>
          </a:xfrm>
          <a:prstGeom prst="ellipse">
            <a:avLst/>
          </a:prstGeom>
          <a:solidFill>
            <a:srgbClr val="2E6FB7"/>
          </a:solidFill>
          <a:ln w="12700">
            <a:solidFill>
              <a:srgbClr val="2E6FB7"/>
            </a:solidFill>
            <a:prstDash val="solid"/>
          </a:ln>
        </p:spPr>
      </p:sp>
      <p:pic>
        <p:nvPicPr>
          <p:cNvPr id="9" name="Image 2" descr="preencoded.png">    </p:cNvPr>
          <p:cNvPicPr>
            <a:picLocks noChangeAspect="1"/>
          </p:cNvPicPr>
          <p:nvPr/>
        </p:nvPicPr>
        <p:blipFill>
          <a:blip r:embed="rId3"/>
          <a:stretch>
            <a:fillRect/>
          </a:stretch>
        </p:blipFill>
        <p:spPr>
          <a:xfrm>
            <a:off x="786384" y="1883664"/>
            <a:ext cx="256032" cy="256032"/>
          </a:xfrm>
          <a:prstGeom prst="rect">
            <a:avLst/>
          </a:prstGeom>
        </p:spPr>
      </p:pic>
      <p:sp>
        <p:nvSpPr>
          <p:cNvPr id="10" name="Text 5"/>
          <p:cNvSpPr txBox="1"/>
          <p:nvPr/>
        </p:nvSpPr>
        <p:spPr>
          <a:xfrm>
            <a:off x="1280160" y="1691640"/>
            <a:ext cx="2148840" cy="640080"/>
          </a:xfrm>
          <a:prstGeom prst="rect">
            <a:avLst/>
          </a:prstGeom>
          <a:noFill/>
          <a:ln/>
        </p:spPr>
        <p:txBody>
          <a:bodyPr wrap="square" lIns="0" tIns="0" rIns="0" bIns="0" rtlCol="0" anchor="ctr"/>
          <a:lstStyle/>
          <a:p>
            <a:pPr indent="0" marL="0">
              <a:buNone/>
            </a:pPr>
            <a:r>
              <a:rPr lang="en-US" sz="1300" b="1" dirty="0">
                <a:solidFill>
                  <a:srgbClr val="FFFFFF"/>
                </a:solidFill>
              </a:rPr>
              <a:t>JML must reach every system</a:t>
            </a:r>
            <a:endParaRPr lang="en-US" sz="1300" dirty="0"/>
          </a:p>
        </p:txBody>
      </p:sp>
      <p:sp>
        <p:nvSpPr>
          <p:cNvPr id="11" name="Shape 6"/>
          <p:cNvSpPr/>
          <p:nvPr/>
        </p:nvSpPr>
        <p:spPr>
          <a:xfrm>
            <a:off x="685800" y="2651760"/>
            <a:ext cx="457200" cy="457200"/>
          </a:xfrm>
          <a:prstGeom prst="ellipse">
            <a:avLst/>
          </a:prstGeom>
          <a:solidFill>
            <a:srgbClr val="2E6FB7"/>
          </a:solidFill>
          <a:ln w="12700">
            <a:solidFill>
              <a:srgbClr val="2E6FB7"/>
            </a:solidFill>
            <a:prstDash val="solid"/>
          </a:ln>
        </p:spPr>
      </p:sp>
      <p:pic>
        <p:nvPicPr>
          <p:cNvPr id="12" name="Image 3" descr="preencoded.png">    </p:cNvPr>
          <p:cNvPicPr>
            <a:picLocks noChangeAspect="1"/>
          </p:cNvPicPr>
          <p:nvPr/>
        </p:nvPicPr>
        <p:blipFill>
          <a:blip r:embed="rId4"/>
          <a:stretch>
            <a:fillRect/>
          </a:stretch>
        </p:blipFill>
        <p:spPr>
          <a:xfrm>
            <a:off x="786384" y="2752344"/>
            <a:ext cx="256032" cy="256032"/>
          </a:xfrm>
          <a:prstGeom prst="rect">
            <a:avLst/>
          </a:prstGeom>
        </p:spPr>
      </p:pic>
      <p:sp>
        <p:nvSpPr>
          <p:cNvPr id="13" name="Text 7"/>
          <p:cNvSpPr txBox="1"/>
          <p:nvPr/>
        </p:nvSpPr>
        <p:spPr>
          <a:xfrm>
            <a:off x="1280160" y="2560320"/>
            <a:ext cx="2148840" cy="640080"/>
          </a:xfrm>
          <a:prstGeom prst="rect">
            <a:avLst/>
          </a:prstGeom>
          <a:noFill/>
          <a:ln/>
        </p:spPr>
        <p:txBody>
          <a:bodyPr wrap="square" lIns="0" tIns="0" rIns="0" bIns="0" rtlCol="0" anchor="ctr"/>
          <a:lstStyle/>
          <a:p>
            <a:pPr indent="0" marL="0">
              <a:buNone/>
            </a:pPr>
            <a:r>
              <a:rPr lang="en-US" sz="1300" b="1" dirty="0">
                <a:solidFill>
                  <a:srgbClr val="FFFFFF"/>
                </a:solidFill>
              </a:rPr>
              <a:t>Test on a copy first</a:t>
            </a:r>
            <a:endParaRPr lang="en-US" sz="1300" dirty="0"/>
          </a:p>
        </p:txBody>
      </p:sp>
      <p:sp>
        <p:nvSpPr>
          <p:cNvPr id="14" name="Shape 8"/>
          <p:cNvSpPr/>
          <p:nvPr/>
        </p:nvSpPr>
        <p:spPr>
          <a:xfrm>
            <a:off x="685800" y="3520440"/>
            <a:ext cx="457200" cy="457200"/>
          </a:xfrm>
          <a:prstGeom prst="ellipse">
            <a:avLst/>
          </a:prstGeom>
          <a:solidFill>
            <a:srgbClr val="2E6FB7"/>
          </a:solidFill>
          <a:ln w="12700">
            <a:solidFill>
              <a:srgbClr val="2E6FB7"/>
            </a:solidFill>
            <a:prstDash val="solid"/>
          </a:ln>
        </p:spPr>
      </p:sp>
      <p:pic>
        <p:nvPicPr>
          <p:cNvPr id="15" name="Image 4" descr="preencoded.png">    </p:cNvPr>
          <p:cNvPicPr>
            <a:picLocks noChangeAspect="1"/>
          </p:cNvPicPr>
          <p:nvPr/>
        </p:nvPicPr>
        <p:blipFill>
          <a:blip r:embed="rId5"/>
          <a:stretch>
            <a:fillRect/>
          </a:stretch>
        </p:blipFill>
        <p:spPr>
          <a:xfrm>
            <a:off x="786384" y="3621024"/>
            <a:ext cx="256032" cy="256032"/>
          </a:xfrm>
          <a:prstGeom prst="rect">
            <a:avLst/>
          </a:prstGeom>
        </p:spPr>
      </p:pic>
      <p:sp>
        <p:nvSpPr>
          <p:cNvPr id="16" name="Text 9"/>
          <p:cNvSpPr txBox="1"/>
          <p:nvPr/>
        </p:nvSpPr>
        <p:spPr>
          <a:xfrm>
            <a:off x="1280160" y="3429000"/>
            <a:ext cx="2148840" cy="640080"/>
          </a:xfrm>
          <a:prstGeom prst="rect">
            <a:avLst/>
          </a:prstGeom>
          <a:noFill/>
          <a:ln/>
        </p:spPr>
        <p:txBody>
          <a:bodyPr wrap="square" lIns="0" tIns="0" rIns="0" bIns="0" rtlCol="0" anchor="ctr"/>
          <a:lstStyle/>
          <a:p>
            <a:pPr indent="0" marL="0">
              <a:buNone/>
            </a:pPr>
            <a:r>
              <a:rPr lang="en-US" sz="1300" b="1" dirty="0">
                <a:solidFill>
                  <a:srgbClr val="FFFFFF"/>
                </a:solidFill>
              </a:rPr>
              <a:t>Adapt, then document</a:t>
            </a:r>
            <a:endParaRPr lang="en-US" sz="1300" dirty="0"/>
          </a:p>
        </p:txBody>
      </p:sp>
      <p:sp>
        <p:nvSpPr>
          <p:cNvPr id="17" name="Text 10"/>
          <p:cNvSpPr txBox="1"/>
          <p:nvPr/>
        </p:nvSpPr>
        <p:spPr>
          <a:xfrm>
            <a:off x="3840480" y="868680"/>
            <a:ext cx="1463040" cy="292608"/>
          </a:xfrm>
          <a:prstGeom prst="rect">
            <a:avLst/>
          </a:prstGeom>
          <a:noFill/>
          <a:ln/>
        </p:spPr>
        <p:txBody>
          <a:bodyPr wrap="square" lIns="0" tIns="0" rIns="0" bIns="0" rtlCol="0" anchor="ctr"/>
          <a:lstStyle/>
          <a:p>
            <a:pPr algn="ctr" indent="0" marL="0">
              <a:buNone/>
            </a:pPr>
            <a:r>
              <a:rPr lang="en-US" sz="1200" b="1" dirty="0">
                <a:solidFill>
                  <a:srgbClr val="C0392B"/>
                </a:solidFill>
              </a:rPr>
              <a:t>Challenge</a:t>
            </a:r>
            <a:endParaRPr lang="en-US" sz="1200" dirty="0"/>
          </a:p>
        </p:txBody>
      </p:sp>
      <p:sp>
        <p:nvSpPr>
          <p:cNvPr id="18" name="Text 11"/>
          <p:cNvSpPr txBox="1"/>
          <p:nvPr/>
        </p:nvSpPr>
        <p:spPr>
          <a:xfrm>
            <a:off x="5532120" y="868680"/>
            <a:ext cx="1463040" cy="292608"/>
          </a:xfrm>
          <a:prstGeom prst="rect">
            <a:avLst/>
          </a:prstGeom>
          <a:noFill/>
          <a:ln/>
        </p:spPr>
        <p:txBody>
          <a:bodyPr wrap="square" lIns="0" tIns="0" rIns="0" bIns="0" rtlCol="0" anchor="ctr"/>
          <a:lstStyle/>
          <a:p>
            <a:pPr algn="ctr" indent="0" marL="0">
              <a:buNone/>
            </a:pPr>
            <a:r>
              <a:rPr lang="en-US" sz="1200" b="1" dirty="0">
                <a:solidFill>
                  <a:srgbClr val="2E6FB7"/>
                </a:solidFill>
              </a:rPr>
              <a:t>How I solved it</a:t>
            </a:r>
            <a:endParaRPr lang="en-US" sz="1200" dirty="0"/>
          </a:p>
        </p:txBody>
      </p:sp>
      <p:sp>
        <p:nvSpPr>
          <p:cNvPr id="19" name="Text 12"/>
          <p:cNvSpPr txBox="1"/>
          <p:nvPr/>
        </p:nvSpPr>
        <p:spPr>
          <a:xfrm>
            <a:off x="7223760" y="868680"/>
            <a:ext cx="1463040" cy="292608"/>
          </a:xfrm>
          <a:prstGeom prst="rect">
            <a:avLst/>
          </a:prstGeom>
          <a:noFill/>
          <a:ln/>
        </p:spPr>
        <p:txBody>
          <a:bodyPr wrap="square" lIns="0" tIns="0" rIns="0" bIns="0" rtlCol="0" anchor="ctr"/>
          <a:lstStyle/>
          <a:p>
            <a:pPr algn="ctr" indent="0" marL="0">
              <a:buNone/>
            </a:pPr>
            <a:r>
              <a:rPr lang="en-US" sz="1200" b="1" dirty="0">
                <a:solidFill>
                  <a:srgbClr val="F2A900"/>
                </a:solidFill>
              </a:rPr>
              <a:t>Next step</a:t>
            </a:r>
            <a:endParaRPr lang="en-US" sz="1200" dirty="0"/>
          </a:p>
        </p:txBody>
      </p:sp>
      <p:sp>
        <p:nvSpPr>
          <p:cNvPr id="20" name="Shape 13"/>
          <p:cNvSpPr/>
          <p:nvPr/>
        </p:nvSpPr>
        <p:spPr>
          <a:xfrm>
            <a:off x="3840480" y="1280160"/>
            <a:ext cx="1463040" cy="475488"/>
          </a:xfrm>
          <a:prstGeom prst="roundRect">
            <a:avLst>
              <a:gd name="adj" fmla="val 11538"/>
            </a:avLst>
          </a:prstGeom>
          <a:solidFill>
            <a:srgbClr val="FBE9E7"/>
          </a:solidFill>
          <a:ln w="12700">
            <a:solidFill>
              <a:srgbClr val="FBE9E7"/>
            </a:solidFill>
            <a:prstDash val="solid"/>
          </a:ln>
        </p:spPr>
      </p:sp>
      <p:sp>
        <p:nvSpPr>
          <p:cNvPr id="21" name="Text 14"/>
          <p:cNvSpPr txBox="1"/>
          <p:nvPr/>
        </p:nvSpPr>
        <p:spPr>
          <a:xfrm>
            <a:off x="3840480" y="128016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Azure vCPU quota</a:t>
            </a:r>
            <a:endParaRPr lang="en-US" sz="1000" dirty="0"/>
          </a:p>
        </p:txBody>
      </p:sp>
      <p:sp>
        <p:nvSpPr>
          <p:cNvPr id="22" name="Shape 15"/>
          <p:cNvSpPr/>
          <p:nvPr/>
        </p:nvSpPr>
        <p:spPr>
          <a:xfrm>
            <a:off x="5532120" y="1280160"/>
            <a:ext cx="1463040" cy="475488"/>
          </a:xfrm>
          <a:prstGeom prst="roundRect">
            <a:avLst>
              <a:gd name="adj" fmla="val 11538"/>
            </a:avLst>
          </a:prstGeom>
          <a:solidFill>
            <a:srgbClr val="DCE8F5"/>
          </a:solidFill>
          <a:ln w="12700">
            <a:solidFill>
              <a:srgbClr val="DCE8F5"/>
            </a:solidFill>
            <a:prstDash val="solid"/>
          </a:ln>
        </p:spPr>
      </p:sp>
      <p:sp>
        <p:nvSpPr>
          <p:cNvPr id="23" name="Text 16"/>
          <p:cNvSpPr txBox="1"/>
          <p:nvPr/>
        </p:nvSpPr>
        <p:spPr>
          <a:xfrm>
            <a:off x="5532120" y="128016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ACI + Bastion</a:t>
            </a:r>
            <a:endParaRPr lang="en-US" sz="1000" dirty="0"/>
          </a:p>
        </p:txBody>
      </p:sp>
      <p:sp>
        <p:nvSpPr>
          <p:cNvPr id="24" name="Shape 17"/>
          <p:cNvSpPr/>
          <p:nvPr/>
        </p:nvSpPr>
        <p:spPr>
          <a:xfrm>
            <a:off x="7223760" y="1280160"/>
            <a:ext cx="1463040" cy="475488"/>
          </a:xfrm>
          <a:prstGeom prst="roundRect">
            <a:avLst>
              <a:gd name="adj" fmla="val 11538"/>
            </a:avLst>
          </a:prstGeom>
          <a:solidFill>
            <a:srgbClr val="FFF4D6"/>
          </a:solidFill>
          <a:ln w="12700">
            <a:solidFill>
              <a:srgbClr val="FFF4D6"/>
            </a:solidFill>
            <a:prstDash val="solid"/>
          </a:ln>
        </p:spPr>
      </p:sp>
      <p:sp>
        <p:nvSpPr>
          <p:cNvPr id="25" name="Text 18"/>
          <p:cNvSpPr txBox="1"/>
          <p:nvPr/>
        </p:nvSpPr>
        <p:spPr>
          <a:xfrm>
            <a:off x="7223760" y="128016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Instructor sign-off</a:t>
            </a:r>
            <a:endParaRPr lang="en-US" sz="1000" dirty="0"/>
          </a:p>
        </p:txBody>
      </p:sp>
      <p:sp>
        <p:nvSpPr>
          <p:cNvPr id="26" name="Shape 19"/>
          <p:cNvSpPr/>
          <p:nvPr/>
        </p:nvSpPr>
        <p:spPr>
          <a:xfrm>
            <a:off x="5340096" y="1444752"/>
            <a:ext cx="164592" cy="146304"/>
          </a:xfrm>
          <a:prstGeom prst="rightArrow">
            <a:avLst/>
          </a:prstGeom>
          <a:solidFill>
            <a:srgbClr val="5A6B85"/>
          </a:solidFill>
          <a:ln w="12700">
            <a:solidFill>
              <a:srgbClr val="5A6B85"/>
            </a:solidFill>
            <a:prstDash val="solid"/>
          </a:ln>
        </p:spPr>
      </p:sp>
      <p:sp>
        <p:nvSpPr>
          <p:cNvPr id="27" name="Shape 20"/>
          <p:cNvSpPr/>
          <p:nvPr/>
        </p:nvSpPr>
        <p:spPr>
          <a:xfrm>
            <a:off x="7031736" y="1444752"/>
            <a:ext cx="164592" cy="146304"/>
          </a:xfrm>
          <a:prstGeom prst="rightArrow">
            <a:avLst/>
          </a:prstGeom>
          <a:solidFill>
            <a:srgbClr val="5A6B85"/>
          </a:solidFill>
          <a:ln w="12700">
            <a:solidFill>
              <a:srgbClr val="5A6B85"/>
            </a:solidFill>
            <a:prstDash val="solid"/>
          </a:ln>
        </p:spPr>
      </p:sp>
      <p:sp>
        <p:nvSpPr>
          <p:cNvPr id="28" name="Shape 21"/>
          <p:cNvSpPr/>
          <p:nvPr/>
        </p:nvSpPr>
        <p:spPr>
          <a:xfrm>
            <a:off x="3840480" y="1920240"/>
            <a:ext cx="1463040" cy="475488"/>
          </a:xfrm>
          <a:prstGeom prst="roundRect">
            <a:avLst>
              <a:gd name="adj" fmla="val 11538"/>
            </a:avLst>
          </a:prstGeom>
          <a:solidFill>
            <a:srgbClr val="FBE9E7"/>
          </a:solidFill>
          <a:ln w="12700">
            <a:solidFill>
              <a:srgbClr val="FBE9E7"/>
            </a:solidFill>
            <a:prstDash val="solid"/>
          </a:ln>
        </p:spPr>
      </p:sp>
      <p:sp>
        <p:nvSpPr>
          <p:cNvPr id="29" name="Text 22"/>
          <p:cNvSpPr txBox="1"/>
          <p:nvPr/>
        </p:nvSpPr>
        <p:spPr>
          <a:xfrm>
            <a:off x="3840480" y="192024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No admin rights</a:t>
            </a:r>
            <a:endParaRPr lang="en-US" sz="1000" dirty="0"/>
          </a:p>
        </p:txBody>
      </p:sp>
      <p:sp>
        <p:nvSpPr>
          <p:cNvPr id="30" name="Shape 23"/>
          <p:cNvSpPr/>
          <p:nvPr/>
        </p:nvSpPr>
        <p:spPr>
          <a:xfrm>
            <a:off x="5532120" y="1920240"/>
            <a:ext cx="1463040" cy="475488"/>
          </a:xfrm>
          <a:prstGeom prst="roundRect">
            <a:avLst>
              <a:gd name="adj" fmla="val 11538"/>
            </a:avLst>
          </a:prstGeom>
          <a:solidFill>
            <a:srgbClr val="DCE8F5"/>
          </a:solidFill>
          <a:ln w="12700">
            <a:solidFill>
              <a:srgbClr val="DCE8F5"/>
            </a:solidFill>
            <a:prstDash val="solid"/>
          </a:ln>
        </p:spPr>
      </p:sp>
      <p:sp>
        <p:nvSpPr>
          <p:cNvPr id="31" name="Text 24"/>
          <p:cNvSpPr txBox="1"/>
          <p:nvPr/>
        </p:nvSpPr>
        <p:spPr>
          <a:xfrm>
            <a:off x="5532120" y="192024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Wazuh in Docker</a:t>
            </a:r>
            <a:endParaRPr lang="en-US" sz="1000" dirty="0"/>
          </a:p>
        </p:txBody>
      </p:sp>
      <p:sp>
        <p:nvSpPr>
          <p:cNvPr id="32" name="Shape 25"/>
          <p:cNvSpPr/>
          <p:nvPr/>
        </p:nvSpPr>
        <p:spPr>
          <a:xfrm>
            <a:off x="7223760" y="1920240"/>
            <a:ext cx="1463040" cy="475488"/>
          </a:xfrm>
          <a:prstGeom prst="roundRect">
            <a:avLst>
              <a:gd name="adj" fmla="val 11538"/>
            </a:avLst>
          </a:prstGeom>
          <a:solidFill>
            <a:srgbClr val="FFF4D6"/>
          </a:solidFill>
          <a:ln w="12700">
            <a:solidFill>
              <a:srgbClr val="FFF4D6"/>
            </a:solidFill>
            <a:prstDash val="solid"/>
          </a:ln>
        </p:spPr>
      </p:sp>
      <p:sp>
        <p:nvSpPr>
          <p:cNvPr id="33" name="Text 26"/>
          <p:cNvSpPr txBox="1"/>
          <p:nvPr/>
        </p:nvSpPr>
        <p:spPr>
          <a:xfrm>
            <a:off x="7223760" y="192024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Endpoint agent</a:t>
            </a:r>
            <a:endParaRPr lang="en-US" sz="1000" dirty="0"/>
          </a:p>
        </p:txBody>
      </p:sp>
      <p:sp>
        <p:nvSpPr>
          <p:cNvPr id="34" name="Shape 27"/>
          <p:cNvSpPr/>
          <p:nvPr/>
        </p:nvSpPr>
        <p:spPr>
          <a:xfrm>
            <a:off x="5340096" y="2084832"/>
            <a:ext cx="164592" cy="146304"/>
          </a:xfrm>
          <a:prstGeom prst="rightArrow">
            <a:avLst/>
          </a:prstGeom>
          <a:solidFill>
            <a:srgbClr val="5A6B85"/>
          </a:solidFill>
          <a:ln w="12700">
            <a:solidFill>
              <a:srgbClr val="5A6B85"/>
            </a:solidFill>
            <a:prstDash val="solid"/>
          </a:ln>
        </p:spPr>
      </p:sp>
      <p:sp>
        <p:nvSpPr>
          <p:cNvPr id="35" name="Shape 28"/>
          <p:cNvSpPr/>
          <p:nvPr/>
        </p:nvSpPr>
        <p:spPr>
          <a:xfrm>
            <a:off x="7031736" y="2084832"/>
            <a:ext cx="164592" cy="146304"/>
          </a:xfrm>
          <a:prstGeom prst="rightArrow">
            <a:avLst/>
          </a:prstGeom>
          <a:solidFill>
            <a:srgbClr val="5A6B85"/>
          </a:solidFill>
          <a:ln w="12700">
            <a:solidFill>
              <a:srgbClr val="5A6B85"/>
            </a:solidFill>
            <a:prstDash val="solid"/>
          </a:ln>
        </p:spPr>
      </p:sp>
      <p:sp>
        <p:nvSpPr>
          <p:cNvPr id="36" name="Shape 29"/>
          <p:cNvSpPr/>
          <p:nvPr/>
        </p:nvSpPr>
        <p:spPr>
          <a:xfrm>
            <a:off x="3840480" y="2560320"/>
            <a:ext cx="1463040" cy="475488"/>
          </a:xfrm>
          <a:prstGeom prst="roundRect">
            <a:avLst>
              <a:gd name="adj" fmla="val 11538"/>
            </a:avLst>
          </a:prstGeom>
          <a:solidFill>
            <a:srgbClr val="FBE9E7"/>
          </a:solidFill>
          <a:ln w="12700">
            <a:solidFill>
              <a:srgbClr val="FBE9E7"/>
            </a:solidFill>
            <a:prstDash val="solid"/>
          </a:ln>
        </p:spPr>
      </p:sp>
      <p:sp>
        <p:nvSpPr>
          <p:cNvPr id="37" name="Text 30"/>
          <p:cNvSpPr txBox="1"/>
          <p:nvPr/>
        </p:nvSpPr>
        <p:spPr>
          <a:xfrm>
            <a:off x="3840480" y="256032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Keycloak misses leavers</a:t>
            </a:r>
            <a:endParaRPr lang="en-US" sz="1000" dirty="0"/>
          </a:p>
        </p:txBody>
      </p:sp>
      <p:sp>
        <p:nvSpPr>
          <p:cNvPr id="38" name="Shape 31"/>
          <p:cNvSpPr/>
          <p:nvPr/>
        </p:nvSpPr>
        <p:spPr>
          <a:xfrm>
            <a:off x="5532120" y="2560320"/>
            <a:ext cx="1463040" cy="475488"/>
          </a:xfrm>
          <a:prstGeom prst="roundRect">
            <a:avLst>
              <a:gd name="adj" fmla="val 11538"/>
            </a:avLst>
          </a:prstGeom>
          <a:solidFill>
            <a:srgbClr val="DCE8F5"/>
          </a:solidFill>
          <a:ln w="12700">
            <a:solidFill>
              <a:srgbClr val="DCE8F5"/>
            </a:solidFill>
            <a:prstDash val="solid"/>
          </a:ln>
        </p:spPr>
      </p:sp>
      <p:sp>
        <p:nvSpPr>
          <p:cNvPr id="39" name="Text 32"/>
          <p:cNvSpPr txBox="1"/>
          <p:nvPr/>
        </p:nvSpPr>
        <p:spPr>
          <a:xfrm>
            <a:off x="5532120" y="256032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Manual disable step</a:t>
            </a:r>
            <a:endParaRPr lang="en-US" sz="1000" dirty="0"/>
          </a:p>
        </p:txBody>
      </p:sp>
      <p:sp>
        <p:nvSpPr>
          <p:cNvPr id="40" name="Shape 33"/>
          <p:cNvSpPr/>
          <p:nvPr/>
        </p:nvSpPr>
        <p:spPr>
          <a:xfrm>
            <a:off x="7223760" y="2560320"/>
            <a:ext cx="1463040" cy="475488"/>
          </a:xfrm>
          <a:prstGeom prst="roundRect">
            <a:avLst>
              <a:gd name="adj" fmla="val 11538"/>
            </a:avLst>
          </a:prstGeom>
          <a:solidFill>
            <a:srgbClr val="FFF4D6"/>
          </a:solidFill>
          <a:ln w="12700">
            <a:solidFill>
              <a:srgbClr val="FFF4D6"/>
            </a:solidFill>
            <a:prstDash val="solid"/>
          </a:ln>
        </p:spPr>
      </p:sp>
      <p:sp>
        <p:nvSpPr>
          <p:cNvPr id="41" name="Text 34"/>
          <p:cNvSpPr txBox="1"/>
          <p:nvPr/>
        </p:nvSpPr>
        <p:spPr>
          <a:xfrm>
            <a:off x="7223760" y="256032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SCIM automation</a:t>
            </a:r>
            <a:endParaRPr lang="en-US" sz="1000" dirty="0"/>
          </a:p>
        </p:txBody>
      </p:sp>
      <p:sp>
        <p:nvSpPr>
          <p:cNvPr id="42" name="Shape 35"/>
          <p:cNvSpPr/>
          <p:nvPr/>
        </p:nvSpPr>
        <p:spPr>
          <a:xfrm>
            <a:off x="5340096" y="2724912"/>
            <a:ext cx="164592" cy="146304"/>
          </a:xfrm>
          <a:prstGeom prst="rightArrow">
            <a:avLst/>
          </a:prstGeom>
          <a:solidFill>
            <a:srgbClr val="5A6B85"/>
          </a:solidFill>
          <a:ln w="12700">
            <a:solidFill>
              <a:srgbClr val="5A6B85"/>
            </a:solidFill>
            <a:prstDash val="solid"/>
          </a:ln>
        </p:spPr>
      </p:sp>
      <p:sp>
        <p:nvSpPr>
          <p:cNvPr id="43" name="Shape 36"/>
          <p:cNvSpPr/>
          <p:nvPr/>
        </p:nvSpPr>
        <p:spPr>
          <a:xfrm>
            <a:off x="7031736" y="2724912"/>
            <a:ext cx="164592" cy="146304"/>
          </a:xfrm>
          <a:prstGeom prst="rightArrow">
            <a:avLst/>
          </a:prstGeom>
          <a:solidFill>
            <a:srgbClr val="5A6B85"/>
          </a:solidFill>
          <a:ln w="12700">
            <a:solidFill>
              <a:srgbClr val="5A6B85"/>
            </a:solidFill>
            <a:prstDash val="solid"/>
          </a:ln>
        </p:spPr>
      </p:sp>
      <p:sp>
        <p:nvSpPr>
          <p:cNvPr id="44" name="Shape 37"/>
          <p:cNvSpPr/>
          <p:nvPr/>
        </p:nvSpPr>
        <p:spPr>
          <a:xfrm>
            <a:off x="3840480" y="3200400"/>
            <a:ext cx="1463040" cy="475488"/>
          </a:xfrm>
          <a:prstGeom prst="roundRect">
            <a:avLst>
              <a:gd name="adj" fmla="val 11538"/>
            </a:avLst>
          </a:prstGeom>
          <a:solidFill>
            <a:srgbClr val="FBE9E7"/>
          </a:solidFill>
          <a:ln w="12700">
            <a:solidFill>
              <a:srgbClr val="FBE9E7"/>
            </a:solidFill>
            <a:prstDash val="solid"/>
          </a:ln>
        </p:spPr>
      </p:sp>
      <p:sp>
        <p:nvSpPr>
          <p:cNvPr id="45" name="Text 38"/>
          <p:cNvSpPr txBox="1"/>
          <p:nvPr/>
        </p:nvSpPr>
        <p:spPr>
          <a:xfrm>
            <a:off x="3840480" y="320040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MFA + SAML pending</a:t>
            </a:r>
            <a:endParaRPr lang="en-US" sz="1000" dirty="0"/>
          </a:p>
        </p:txBody>
      </p:sp>
      <p:sp>
        <p:nvSpPr>
          <p:cNvPr id="46" name="Shape 39"/>
          <p:cNvSpPr/>
          <p:nvPr/>
        </p:nvSpPr>
        <p:spPr>
          <a:xfrm>
            <a:off x="5532120" y="3200400"/>
            <a:ext cx="1463040" cy="475488"/>
          </a:xfrm>
          <a:prstGeom prst="roundRect">
            <a:avLst>
              <a:gd name="adj" fmla="val 11538"/>
            </a:avLst>
          </a:prstGeom>
          <a:solidFill>
            <a:srgbClr val="DCE8F5"/>
          </a:solidFill>
          <a:ln w="12700">
            <a:solidFill>
              <a:srgbClr val="DCE8F5"/>
            </a:solidFill>
            <a:prstDash val="solid"/>
          </a:ln>
        </p:spPr>
      </p:sp>
      <p:sp>
        <p:nvSpPr>
          <p:cNvPr id="47" name="Text 40"/>
          <p:cNvSpPr txBox="1"/>
          <p:nvPr/>
        </p:nvSpPr>
        <p:spPr>
          <a:xfrm>
            <a:off x="5532120" y="320040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Tested on a replica</a:t>
            </a:r>
            <a:endParaRPr lang="en-US" sz="1000" dirty="0"/>
          </a:p>
        </p:txBody>
      </p:sp>
      <p:sp>
        <p:nvSpPr>
          <p:cNvPr id="48" name="Shape 41"/>
          <p:cNvSpPr/>
          <p:nvPr/>
        </p:nvSpPr>
        <p:spPr>
          <a:xfrm>
            <a:off x="7223760" y="3200400"/>
            <a:ext cx="1463040" cy="475488"/>
          </a:xfrm>
          <a:prstGeom prst="roundRect">
            <a:avLst>
              <a:gd name="adj" fmla="val 11538"/>
            </a:avLst>
          </a:prstGeom>
          <a:solidFill>
            <a:srgbClr val="FFF4D6"/>
          </a:solidFill>
          <a:ln w="12700">
            <a:solidFill>
              <a:srgbClr val="FFF4D6"/>
            </a:solidFill>
            <a:prstDash val="solid"/>
          </a:ln>
        </p:spPr>
      </p:sp>
      <p:sp>
        <p:nvSpPr>
          <p:cNvPr id="49" name="Text 42"/>
          <p:cNvSpPr txBox="1"/>
          <p:nvPr/>
        </p:nvSpPr>
        <p:spPr>
          <a:xfrm>
            <a:off x="7223760" y="320040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Run on live lab</a:t>
            </a:r>
            <a:endParaRPr lang="en-US" sz="1000" dirty="0"/>
          </a:p>
        </p:txBody>
      </p:sp>
      <p:sp>
        <p:nvSpPr>
          <p:cNvPr id="50" name="Shape 43"/>
          <p:cNvSpPr/>
          <p:nvPr/>
        </p:nvSpPr>
        <p:spPr>
          <a:xfrm>
            <a:off x="5340096" y="3364992"/>
            <a:ext cx="164592" cy="146304"/>
          </a:xfrm>
          <a:prstGeom prst="rightArrow">
            <a:avLst/>
          </a:prstGeom>
          <a:solidFill>
            <a:srgbClr val="5A6B85"/>
          </a:solidFill>
          <a:ln w="12700">
            <a:solidFill>
              <a:srgbClr val="5A6B85"/>
            </a:solidFill>
            <a:prstDash val="solid"/>
          </a:ln>
        </p:spPr>
      </p:sp>
      <p:sp>
        <p:nvSpPr>
          <p:cNvPr id="51" name="Shape 44"/>
          <p:cNvSpPr/>
          <p:nvPr/>
        </p:nvSpPr>
        <p:spPr>
          <a:xfrm>
            <a:off x="7031736" y="3364992"/>
            <a:ext cx="164592" cy="146304"/>
          </a:xfrm>
          <a:prstGeom prst="rightArrow">
            <a:avLst/>
          </a:prstGeom>
          <a:solidFill>
            <a:srgbClr val="5A6B85"/>
          </a:solidFill>
          <a:ln w="12700">
            <a:solidFill>
              <a:srgbClr val="5A6B85"/>
            </a:solidFill>
            <a:prstDash val="solid"/>
          </a:ln>
        </p:spPr>
      </p:sp>
      <p:sp>
        <p:nvSpPr>
          <p:cNvPr id="52" name="Shape 45"/>
          <p:cNvSpPr/>
          <p:nvPr/>
        </p:nvSpPr>
        <p:spPr>
          <a:xfrm>
            <a:off x="3840480" y="3840480"/>
            <a:ext cx="1463040" cy="475488"/>
          </a:xfrm>
          <a:prstGeom prst="roundRect">
            <a:avLst>
              <a:gd name="adj" fmla="val 11538"/>
            </a:avLst>
          </a:prstGeom>
          <a:solidFill>
            <a:srgbClr val="FBE9E7"/>
          </a:solidFill>
          <a:ln w="12700">
            <a:solidFill>
              <a:srgbClr val="FBE9E7"/>
            </a:solidFill>
            <a:prstDash val="solid"/>
          </a:ln>
        </p:spPr>
      </p:sp>
      <p:sp>
        <p:nvSpPr>
          <p:cNvPr id="53" name="Text 46"/>
          <p:cNvSpPr txBox="1"/>
          <p:nvPr/>
        </p:nvSpPr>
        <p:spPr>
          <a:xfrm>
            <a:off x="3840480" y="384048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Break-glass not built</a:t>
            </a:r>
            <a:endParaRPr lang="en-US" sz="1000" dirty="0"/>
          </a:p>
        </p:txBody>
      </p:sp>
      <p:sp>
        <p:nvSpPr>
          <p:cNvPr id="54" name="Shape 47"/>
          <p:cNvSpPr/>
          <p:nvPr/>
        </p:nvSpPr>
        <p:spPr>
          <a:xfrm>
            <a:off x="5532120" y="3840480"/>
            <a:ext cx="1463040" cy="475488"/>
          </a:xfrm>
          <a:prstGeom prst="roundRect">
            <a:avLst>
              <a:gd name="adj" fmla="val 11538"/>
            </a:avLst>
          </a:prstGeom>
          <a:solidFill>
            <a:srgbClr val="DCE8F5"/>
          </a:solidFill>
          <a:ln w="12700">
            <a:solidFill>
              <a:srgbClr val="DCE8F5"/>
            </a:solidFill>
            <a:prstDash val="solid"/>
          </a:ln>
        </p:spPr>
      </p:sp>
      <p:sp>
        <p:nvSpPr>
          <p:cNvPr id="55" name="Text 48"/>
          <p:cNvSpPr txBox="1"/>
          <p:nvPr/>
        </p:nvSpPr>
        <p:spPr>
          <a:xfrm>
            <a:off x="5532120" y="384048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Designed in policy</a:t>
            </a:r>
            <a:endParaRPr lang="en-US" sz="1000" dirty="0"/>
          </a:p>
        </p:txBody>
      </p:sp>
      <p:sp>
        <p:nvSpPr>
          <p:cNvPr id="56" name="Shape 49"/>
          <p:cNvSpPr/>
          <p:nvPr/>
        </p:nvSpPr>
        <p:spPr>
          <a:xfrm>
            <a:off x="7223760" y="3840480"/>
            <a:ext cx="1463040" cy="475488"/>
          </a:xfrm>
          <a:prstGeom prst="roundRect">
            <a:avLst>
              <a:gd name="adj" fmla="val 11538"/>
            </a:avLst>
          </a:prstGeom>
          <a:solidFill>
            <a:srgbClr val="FFF4D6"/>
          </a:solidFill>
          <a:ln w="12700">
            <a:solidFill>
              <a:srgbClr val="FFF4D6"/>
            </a:solidFill>
            <a:prstDash val="solid"/>
          </a:ln>
        </p:spPr>
      </p:sp>
      <p:sp>
        <p:nvSpPr>
          <p:cNvPr id="57" name="Text 50"/>
          <p:cNvSpPr txBox="1"/>
          <p:nvPr/>
        </p:nvSpPr>
        <p:spPr>
          <a:xfrm>
            <a:off x="7223760" y="384048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Build + alert rule</a:t>
            </a:r>
            <a:endParaRPr lang="en-US" sz="1000" dirty="0"/>
          </a:p>
        </p:txBody>
      </p:sp>
      <p:sp>
        <p:nvSpPr>
          <p:cNvPr id="58" name="Shape 51"/>
          <p:cNvSpPr/>
          <p:nvPr/>
        </p:nvSpPr>
        <p:spPr>
          <a:xfrm>
            <a:off x="5340096" y="4005072"/>
            <a:ext cx="164592" cy="146304"/>
          </a:xfrm>
          <a:prstGeom prst="rightArrow">
            <a:avLst/>
          </a:prstGeom>
          <a:solidFill>
            <a:srgbClr val="5A6B85"/>
          </a:solidFill>
          <a:ln w="12700">
            <a:solidFill>
              <a:srgbClr val="5A6B85"/>
            </a:solidFill>
            <a:prstDash val="solid"/>
          </a:ln>
        </p:spPr>
      </p:sp>
      <p:sp>
        <p:nvSpPr>
          <p:cNvPr id="59" name="Shape 52"/>
          <p:cNvSpPr/>
          <p:nvPr/>
        </p:nvSpPr>
        <p:spPr>
          <a:xfrm>
            <a:off x="7031736" y="4005072"/>
            <a:ext cx="164592" cy="146304"/>
          </a:xfrm>
          <a:prstGeom prst="rightArrow">
            <a:avLst/>
          </a:prstGeom>
          <a:solidFill>
            <a:srgbClr val="5A6B85"/>
          </a:solidFill>
          <a:ln w="12700">
            <a:solidFill>
              <a:srgbClr val="5A6B85"/>
            </a:solidFill>
            <a:prstDash val="solid"/>
          </a:ln>
        </p:spPr>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60920" y="320040"/>
            <a:ext cx="1325880" cy="566928"/>
          </a:xfrm>
          <a:prstGeom prst="roundRect">
            <a:avLst>
              <a:gd name="adj" fmla="val 16129"/>
            </a:avLst>
          </a:prstGeom>
          <a:solidFill>
            <a:srgbClr val="FFFFFF"/>
          </a:solidFill>
          <a:ln w="12700">
            <a:solidFill>
              <a:srgbClr val="FFFFFF"/>
            </a:solidFill>
            <a:prstDash val="solid"/>
          </a:ln>
        </p:spPr>
      </p:sp>
      <p:pic>
        <p:nvPicPr>
          <p:cNvPr id="3" name="Image 0" descr="dae logo">    </p:cNvPr>
          <p:cNvPicPr>
            <a:picLocks noChangeAspect="1"/>
          </p:cNvPicPr>
          <p:nvPr/>
        </p:nvPicPr>
        <p:blipFill>
          <a:blip r:embed="rId1"/>
          <a:stretch>
            <a:fillRect/>
          </a:stretch>
        </p:blipFill>
        <p:spPr>
          <a:xfrm>
            <a:off x="7470648" y="384048"/>
            <a:ext cx="1106424" cy="448056"/>
          </a:xfrm>
          <a:prstGeom prst="rect">
            <a:avLst/>
          </a:prstGeom>
        </p:spPr>
      </p:pic>
      <p:sp>
        <p:nvSpPr>
          <p:cNvPr id="4" name="Text 1"/>
          <p:cNvSpPr txBox="1"/>
          <p:nvPr/>
        </p:nvSpPr>
        <p:spPr>
          <a:xfrm>
            <a:off x="548640" y="457200"/>
            <a:ext cx="5120640" cy="731520"/>
          </a:xfrm>
          <a:prstGeom prst="rect">
            <a:avLst/>
          </a:prstGeom>
          <a:noFill/>
          <a:ln/>
        </p:spPr>
        <p:txBody>
          <a:bodyPr wrap="square" lIns="0" tIns="0" rIns="0" bIns="0" rtlCol="0" anchor="ctr"/>
          <a:lstStyle/>
          <a:p>
            <a:pPr indent="0" marL="0">
              <a:buNone/>
            </a:pPr>
            <a:r>
              <a:rPr lang="en-US" sz="4000" b="1" dirty="0">
                <a:solidFill>
                  <a:srgbClr val="FFFFFF"/>
                </a:solidFill>
              </a:rPr>
              <a:t>Thank you</a:t>
            </a:r>
            <a:endParaRPr lang="en-US" sz="4000" dirty="0"/>
          </a:p>
        </p:txBody>
      </p:sp>
      <p:sp>
        <p:nvSpPr>
          <p:cNvPr id="5" name="Shape 2"/>
          <p:cNvSpPr/>
          <p:nvPr/>
        </p:nvSpPr>
        <p:spPr>
          <a:xfrm>
            <a:off x="548640" y="1463040"/>
            <a:ext cx="502920" cy="502920"/>
          </a:xfrm>
          <a:prstGeom prst="ellipse">
            <a:avLst/>
          </a:prstGeom>
          <a:solidFill>
            <a:srgbClr val="2E6FB7"/>
          </a:solidFill>
          <a:ln w="12700">
            <a:solidFill>
              <a:srgbClr val="2E6FB7"/>
            </a:solidFill>
            <a:prstDash val="solid"/>
          </a:ln>
        </p:spPr>
      </p:sp>
      <p:pic>
        <p:nvPicPr>
          <p:cNvPr id="6" name="Image 1" descr="preencoded.png">    </p:cNvPr>
          <p:cNvPicPr>
            <a:picLocks noChangeAspect="1"/>
          </p:cNvPicPr>
          <p:nvPr/>
        </p:nvPicPr>
        <p:blipFill>
          <a:blip r:embed="rId2"/>
          <a:stretch>
            <a:fillRect/>
          </a:stretch>
        </p:blipFill>
        <p:spPr>
          <a:xfrm>
            <a:off x="659282" y="1573682"/>
            <a:ext cx="281635" cy="281635"/>
          </a:xfrm>
          <a:prstGeom prst="rect">
            <a:avLst/>
          </a:prstGeom>
        </p:spPr>
      </p:pic>
      <p:sp>
        <p:nvSpPr>
          <p:cNvPr id="7" name="Text 3"/>
          <p:cNvSpPr txBox="1"/>
          <p:nvPr/>
        </p:nvSpPr>
        <p:spPr>
          <a:xfrm>
            <a:off x="1234440" y="1389888"/>
            <a:ext cx="4480560" cy="685800"/>
          </a:xfrm>
          <a:prstGeom prst="rect">
            <a:avLst/>
          </a:prstGeom>
          <a:noFill/>
          <a:ln/>
        </p:spPr>
        <p:txBody>
          <a:bodyPr wrap="square" lIns="0" tIns="0" rIns="0" bIns="0" rtlCol="0" anchor="ctr"/>
          <a:lstStyle/>
          <a:p>
            <a:pPr indent="0" marL="0">
              <a:buNone/>
            </a:pPr>
            <a:r>
              <a:rPr lang="en-US" sz="1500" b="1" dirty="0">
                <a:solidFill>
                  <a:srgbClr val="FFFFFF"/>
                </a:solidFill>
              </a:rPr>
              <a:t>To the dignitaries and industry experts</a:t>
            </a:r>
            <a:endParaRPr lang="en-US" sz="1500" dirty="0"/>
          </a:p>
          <a:p>
            <a:pPr indent="0" marL="0">
              <a:buNone/>
            </a:pPr>
            <a:r>
              <a:rPr lang="en-US" sz="1300" dirty="0">
                <a:solidFill>
                  <a:srgbClr val="DCE8F5"/>
                </a:solidFill>
              </a:rPr>
              <a:t>for your valuable presence and insights.</a:t>
            </a:r>
            <a:endParaRPr lang="en-US" sz="1500" dirty="0"/>
          </a:p>
        </p:txBody>
      </p:sp>
      <p:sp>
        <p:nvSpPr>
          <p:cNvPr id="8" name="Shape 4"/>
          <p:cNvSpPr/>
          <p:nvPr/>
        </p:nvSpPr>
        <p:spPr>
          <a:xfrm>
            <a:off x="548640" y="2423160"/>
            <a:ext cx="502920" cy="502920"/>
          </a:xfrm>
          <a:prstGeom prst="ellipse">
            <a:avLst/>
          </a:prstGeom>
          <a:solidFill>
            <a:srgbClr val="2E6FB7"/>
          </a:solidFill>
          <a:ln w="12700">
            <a:solidFill>
              <a:srgbClr val="2E6FB7"/>
            </a:solidFill>
            <a:prstDash val="solid"/>
          </a:ln>
        </p:spPr>
      </p:sp>
      <p:pic>
        <p:nvPicPr>
          <p:cNvPr id="9" name="Image 2" descr="preencoded.png">    </p:cNvPr>
          <p:cNvPicPr>
            <a:picLocks noChangeAspect="1"/>
          </p:cNvPicPr>
          <p:nvPr/>
        </p:nvPicPr>
        <p:blipFill>
          <a:blip r:embed="rId3"/>
          <a:stretch>
            <a:fillRect/>
          </a:stretch>
        </p:blipFill>
        <p:spPr>
          <a:xfrm>
            <a:off x="659282" y="2533802"/>
            <a:ext cx="281635" cy="281635"/>
          </a:xfrm>
          <a:prstGeom prst="rect">
            <a:avLst/>
          </a:prstGeom>
        </p:spPr>
      </p:pic>
      <p:sp>
        <p:nvSpPr>
          <p:cNvPr id="10" name="Text 5"/>
          <p:cNvSpPr txBox="1"/>
          <p:nvPr/>
        </p:nvSpPr>
        <p:spPr>
          <a:xfrm>
            <a:off x="1234440" y="2350008"/>
            <a:ext cx="4480560" cy="685800"/>
          </a:xfrm>
          <a:prstGeom prst="rect">
            <a:avLst/>
          </a:prstGeom>
          <a:noFill/>
          <a:ln/>
        </p:spPr>
        <p:txBody>
          <a:bodyPr wrap="square" lIns="0" tIns="0" rIns="0" bIns="0" rtlCol="0" anchor="ctr"/>
          <a:lstStyle/>
          <a:p>
            <a:pPr indent="0" marL="0">
              <a:buNone/>
            </a:pPr>
            <a:r>
              <a:rPr lang="en-US" sz="1500" b="1" dirty="0">
                <a:solidFill>
                  <a:srgbClr val="FFFFFF"/>
                </a:solidFill>
              </a:rPr>
              <a:t>To the dae team and my peers</a:t>
            </a:r>
            <a:endParaRPr lang="en-US" sz="1500" dirty="0"/>
          </a:p>
          <a:p>
            <a:pPr indent="0" marL="0">
              <a:buNone/>
            </a:pPr>
            <a:r>
              <a:rPr lang="en-US" sz="1300" dirty="0">
                <a:solidFill>
                  <a:srgbClr val="DCE8F5"/>
                </a:solidFill>
              </a:rPr>
              <a:t>for your continued support, guidance and encouragement.</a:t>
            </a:r>
            <a:endParaRPr lang="en-US" sz="1500" dirty="0"/>
          </a:p>
        </p:txBody>
      </p:sp>
      <p:sp>
        <p:nvSpPr>
          <p:cNvPr id="11" name="Text 6"/>
          <p:cNvSpPr txBox="1"/>
          <p:nvPr/>
        </p:nvSpPr>
        <p:spPr>
          <a:xfrm>
            <a:off x="548640" y="3566160"/>
            <a:ext cx="4572000" cy="457200"/>
          </a:xfrm>
          <a:prstGeom prst="rect">
            <a:avLst/>
          </a:prstGeom>
          <a:noFill/>
          <a:ln/>
        </p:spPr>
        <p:txBody>
          <a:bodyPr wrap="square" lIns="0" tIns="0" rIns="0" bIns="0" rtlCol="0" anchor="ctr"/>
          <a:lstStyle/>
          <a:p>
            <a:pPr indent="0" marL="0">
              <a:buNone/>
            </a:pPr>
            <a:r>
              <a:rPr lang="en-US" sz="2000" b="1" dirty="0">
                <a:solidFill>
                  <a:srgbClr val="F2A900"/>
                </a:solidFill>
              </a:rPr>
              <a:t>Questions?</a:t>
            </a:r>
            <a:endParaRPr lang="en-US" sz="2000" dirty="0"/>
          </a:p>
        </p:txBody>
      </p:sp>
      <p:sp>
        <p:nvSpPr>
          <p:cNvPr id="12" name="Text 7"/>
          <p:cNvSpPr txBox="1"/>
          <p:nvPr/>
        </p:nvSpPr>
        <p:spPr>
          <a:xfrm>
            <a:off x="548640" y="4069080"/>
            <a:ext cx="5120640" cy="274320"/>
          </a:xfrm>
          <a:prstGeom prst="rect">
            <a:avLst/>
          </a:prstGeom>
          <a:noFill/>
          <a:ln/>
        </p:spPr>
        <p:txBody>
          <a:bodyPr wrap="square" lIns="0" tIns="0" rIns="0" bIns="0" rtlCol="0" anchor="ctr"/>
          <a:lstStyle/>
          <a:p>
            <a:pPr indent="0" marL="0">
              <a:buNone/>
            </a:pPr>
            <a:r>
              <a:rPr lang="en-US" sz="1200" dirty="0">
                <a:solidFill>
                  <a:srgbClr val="AFC3DD"/>
                </a:solidFill>
              </a:rPr>
              <a:t>Akhila Chennamaneni  |  Care Access Navigator</a:t>
            </a:r>
            <a:endParaRPr lang="en-US" sz="1200" dirty="0"/>
          </a:p>
        </p:txBody>
      </p:sp>
      <p:sp>
        <p:nvSpPr>
          <p:cNvPr id="13" name="Shape 8"/>
          <p:cNvSpPr/>
          <p:nvPr/>
        </p:nvSpPr>
        <p:spPr>
          <a:xfrm>
            <a:off x="5897880" y="1463040"/>
            <a:ext cx="1325880" cy="1874520"/>
          </a:xfrm>
          <a:prstGeom prst="roundRect">
            <a:avLst>
              <a:gd name="adj" fmla="val 5517"/>
            </a:avLst>
          </a:prstGeom>
          <a:solidFill>
            <a:srgbClr val="FFFFFF"/>
          </a:solidFill>
          <a:ln w="12700">
            <a:solidFill>
              <a:srgbClr val="FFFFFF"/>
            </a:solidFill>
            <a:prstDash val="solid"/>
          </a:ln>
        </p:spPr>
      </p:sp>
      <p:pic>
        <p:nvPicPr>
          <p:cNvPr id="14" name="Image 3" descr="/home/claude/deck/img/qr_github.png">    </p:cNvPr>
          <p:cNvPicPr>
            <a:picLocks noChangeAspect="1"/>
          </p:cNvPicPr>
          <p:nvPr/>
        </p:nvPicPr>
        <p:blipFill>
          <a:blip r:embed="rId4"/>
          <a:stretch>
            <a:fillRect/>
          </a:stretch>
        </p:blipFill>
        <p:spPr>
          <a:xfrm>
            <a:off x="5989320" y="1554480"/>
            <a:ext cx="1143000" cy="1143000"/>
          </a:xfrm>
          <a:prstGeom prst="rect">
            <a:avLst/>
          </a:prstGeom>
        </p:spPr>
      </p:pic>
      <p:sp>
        <p:nvSpPr>
          <p:cNvPr id="15" name="Text 9"/>
          <p:cNvSpPr txBox="1"/>
          <p:nvPr/>
        </p:nvSpPr>
        <p:spPr>
          <a:xfrm>
            <a:off x="5943600" y="2743200"/>
            <a:ext cx="1234440" cy="502920"/>
          </a:xfrm>
          <a:prstGeom prst="rect">
            <a:avLst/>
          </a:prstGeom>
          <a:noFill/>
          <a:ln/>
        </p:spPr>
        <p:txBody>
          <a:bodyPr wrap="square" lIns="0" tIns="0" rIns="0" bIns="0" rtlCol="0" anchor="ctr"/>
          <a:lstStyle/>
          <a:p>
            <a:pPr algn="ctr" indent="0" marL="0">
              <a:buNone/>
            </a:pPr>
            <a:r>
              <a:rPr lang="en-US" sz="1200" b="1" dirty="0">
                <a:solidFill>
                  <a:srgbClr val="1B2A4A"/>
                </a:solidFill>
              </a:rPr>
              <a:t>GitHub</a:t>
            </a:r>
            <a:endParaRPr lang="en-US" sz="1200" dirty="0"/>
          </a:p>
          <a:p>
            <a:pPr algn="ctr" indent="0" marL="0">
              <a:buNone/>
            </a:pPr>
            <a:r>
              <a:rPr lang="en-US" sz="800" dirty="0">
                <a:solidFill>
                  <a:srgbClr val="5A6B85"/>
                </a:solidFill>
              </a:rPr>
              <a:t>github.com/Akchrao</a:t>
            </a:r>
            <a:endParaRPr lang="en-US" sz="1200" dirty="0"/>
          </a:p>
        </p:txBody>
      </p:sp>
      <p:sp>
        <p:nvSpPr>
          <p:cNvPr id="16" name="Shape 10"/>
          <p:cNvSpPr/>
          <p:nvPr/>
        </p:nvSpPr>
        <p:spPr>
          <a:xfrm>
            <a:off x="7360920" y="1463040"/>
            <a:ext cx="1325880" cy="1874520"/>
          </a:xfrm>
          <a:prstGeom prst="roundRect">
            <a:avLst>
              <a:gd name="adj" fmla="val 5517"/>
            </a:avLst>
          </a:prstGeom>
          <a:solidFill>
            <a:srgbClr val="FFFFFF"/>
          </a:solidFill>
          <a:ln w="12700">
            <a:solidFill>
              <a:srgbClr val="FFFFFF"/>
            </a:solidFill>
            <a:prstDash val="solid"/>
          </a:ln>
        </p:spPr>
      </p:sp>
      <p:pic>
        <p:nvPicPr>
          <p:cNvPr id="17" name="Image 4" descr="/home/claude/deck/img/qr_linkedin.png">    </p:cNvPr>
          <p:cNvPicPr>
            <a:picLocks noChangeAspect="1"/>
          </p:cNvPicPr>
          <p:nvPr/>
        </p:nvPicPr>
        <p:blipFill>
          <a:blip r:embed="rId5"/>
          <a:stretch>
            <a:fillRect/>
          </a:stretch>
        </p:blipFill>
        <p:spPr>
          <a:xfrm>
            <a:off x="7452360" y="1554480"/>
            <a:ext cx="1143000" cy="1143000"/>
          </a:xfrm>
          <a:prstGeom prst="rect">
            <a:avLst/>
          </a:prstGeom>
        </p:spPr>
      </p:pic>
      <p:sp>
        <p:nvSpPr>
          <p:cNvPr id="18" name="Text 11"/>
          <p:cNvSpPr txBox="1"/>
          <p:nvPr/>
        </p:nvSpPr>
        <p:spPr>
          <a:xfrm>
            <a:off x="7406640" y="2743200"/>
            <a:ext cx="1234440" cy="502920"/>
          </a:xfrm>
          <a:prstGeom prst="rect">
            <a:avLst/>
          </a:prstGeom>
          <a:noFill/>
          <a:ln/>
        </p:spPr>
        <p:txBody>
          <a:bodyPr wrap="square" lIns="0" tIns="0" rIns="0" bIns="0" rtlCol="0" anchor="ctr"/>
          <a:lstStyle/>
          <a:p>
            <a:pPr algn="ctr" indent="0" marL="0">
              <a:buNone/>
            </a:pPr>
            <a:r>
              <a:rPr lang="en-US" sz="1200" b="1" dirty="0">
                <a:solidFill>
                  <a:srgbClr val="1B2A4A"/>
                </a:solidFill>
              </a:rPr>
              <a:t>LinkedIn</a:t>
            </a:r>
            <a:endParaRPr lang="en-US" sz="1200" dirty="0"/>
          </a:p>
          <a:p>
            <a:pPr algn="ctr" indent="0" marL="0">
              <a:buNone/>
            </a:pPr>
            <a:r>
              <a:rPr lang="en-US" sz="800" dirty="0">
                <a:solidFill>
                  <a:srgbClr val="5A6B85"/>
                </a:solidFill>
              </a:rPr>
              <a:t>akhila-chennamaneni</a:t>
            </a:r>
            <a:endParaRPr lang="en-US" sz="1200" dirty="0"/>
          </a:p>
        </p:txBody>
      </p:sp>
      <p:sp>
        <p:nvSpPr>
          <p:cNvPr id="19" name="Text 12"/>
          <p:cNvSpPr txBox="1"/>
          <p:nvPr/>
        </p:nvSpPr>
        <p:spPr>
          <a:xfrm>
            <a:off x="5897880" y="3429000"/>
            <a:ext cx="2788920" cy="365760"/>
          </a:xfrm>
          <a:prstGeom prst="rect">
            <a:avLst/>
          </a:prstGeom>
          <a:noFill/>
          <a:ln/>
        </p:spPr>
        <p:txBody>
          <a:bodyPr wrap="square" lIns="0" tIns="0" rIns="0" bIns="0" rtlCol="0" anchor="ctr"/>
          <a:lstStyle/>
          <a:p>
            <a:pPr algn="ctr" indent="0" marL="0">
              <a:buNone/>
            </a:pPr>
            <a:r>
              <a:rPr lang="en-US" sz="1000" dirty="0">
                <a:solidFill>
                  <a:srgbClr val="DCE8F5"/>
                </a:solidFill>
              </a:rPr>
              <a:t>Scan to view the project repository and connect with me</a:t>
            </a:r>
            <a:endParaRPr lang="en-US" sz="1000" dirty="0"/>
          </a:p>
        </p:txBody>
      </p:sp>
      <p:sp>
        <p:nvSpPr>
          <p:cNvPr id="21"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algn="l" indent="0" marL="0">
              <a:buNone/>
            </a:pPr>
            <a:endParaRPr lang="en-US" sz="3600" dirty="0"/>
          </a:p>
        </p:txBody>
      </p:sp>
    </p:spTree>
  </p:cSld>
  <p:clrMapOvr>
    <a:masterClrMapping/>
  </p:clrMapOvr>
</p:sld>
</file>

<file path=ppt/theme/theme1.xml><?xml version="1.0" encoding="utf-8"?>
<a:theme xmlns:a="http://schemas.openxmlformats.org/drawingml/2006/main" name="Care Access Navigator">
  <a:themeElements>
    <a:clrScheme name="Care Access Navigator">
      <a:dk1>
        <a:srgbClr val="1F2937"/>
      </a:dk1>
      <a:lt1>
        <a:srgbClr val="FFFFFF"/>
      </a:lt1>
      <a:dk2>
        <a:srgbClr val="1B2A4A"/>
      </a:dk2>
      <a:lt2>
        <a:srgbClr val="DCE8F5"/>
      </a:lt2>
      <a:accent1>
        <a:srgbClr val="2E6FB7"/>
      </a:accent1>
      <a:accent2>
        <a:srgbClr val="F2A900"/>
      </a:accent2>
      <a:accent3>
        <a:srgbClr val="2E8B57"/>
      </a:accent3>
      <a:accent4>
        <a:srgbClr val="C0392B"/>
      </a:accent4>
      <a:accent5>
        <a:srgbClr val="5A6B85"/>
      </a:accent5>
      <a:accent6>
        <a:srgbClr val="0F8B8D"/>
      </a:accent6>
      <a:hlink>
        <a:srgbClr val="2E6FB7"/>
      </a:hlink>
      <a:folHlink>
        <a:srgbClr val="5A6B85"/>
      </a:folHlink>
    </a:clrScheme>
    <a:fontScheme name="Care Access Naviga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Access Navigator - MVP Demo</dc:title>
  <dc:subject>PptxGenJS Presentation</dc:subject>
  <dc:creator>Akhila Chennamaneni</dc:creator>
  <cp:lastModifiedBy>Akhila Chennamaneni</cp:lastModifiedBy>
  <cp:revision>1</cp:revision>
  <dcterms:created xsi:type="dcterms:W3CDTF">2026-10-21T18:38:45Z</dcterms:created>
  <dcterms:modified xsi:type="dcterms:W3CDTF">2026-10-21T18:38:45Z</dcterms:modified>
</cp:coreProperties>
</file>