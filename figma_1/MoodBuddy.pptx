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66" r:id="rId3"/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7" r:id="rId14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44855" y="2132330"/>
            <a:ext cx="6096000" cy="1137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4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MoodBuddy.</a:t>
            </a:r>
            <a:endParaRPr lang="en-US" sz="4400" b="1" dirty="0">
              <a:solidFill>
                <a:schemeClr val="accent2">
                  <a:lumMod val="60000"/>
                  <a:lumOff val="40000"/>
                </a:schemeClr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  <a:sym typeface="+mn-ea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Every mood matters!</a:t>
            </a:r>
            <a:endParaRPr lang="en-US" altLang="en-US" sz="2400" b="1" dirty="0">
              <a:solidFill>
                <a:schemeClr val="accent2">
                  <a:lumMod val="60000"/>
                  <a:lumOff val="40000"/>
                </a:schemeClr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49605" y="42360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sym typeface="+mn-ea"/>
              </a:rPr>
              <a:t>  Complete Emotion Tracking Program</a:t>
            </a:r>
            <a:endParaRPr lang="en-US" altLang="en-US" dirty="0">
              <a:solidFill>
                <a:schemeClr val="accent6">
                  <a:lumMod val="60000"/>
                  <a:lumOff val="40000"/>
                </a:schemeClr>
              </a:solidFill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86765" y="342900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accent4">
                    <a:lumMod val="75000"/>
                  </a:schemeClr>
                </a:solidFill>
                <a:sym typeface="+mn-ea"/>
              </a:rPr>
              <a:t>Track feelings. Understand Patterns. Support well-being.</a:t>
            </a:r>
            <a:endParaRPr>
              <a:solidFill>
                <a:schemeClr val="accent4">
                  <a:lumMod val="75000"/>
                </a:schemeClr>
              </a:solidFill>
              <a:sym typeface="+mn-ea"/>
            </a:endParaRPr>
          </a:p>
          <a:p>
            <a:endParaRPr lang="en-GB" altLang="en-US">
              <a:solidFill>
                <a:schemeClr val="accent4">
                  <a:lumMod val="75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89405" y="346710"/>
            <a:ext cx="837501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    What is MoodBuddy about?       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85927" y="2651887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589405" y="1128395"/>
            <a:ext cx="916876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3F4F6"/>
                </a:solidFill>
              </a:rPr>
              <a:t>A simple Python application that validates each user, prevents duplicate records, asks for their mood stores all  emotions, and gives a personalised response.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1885" y="2101850"/>
            <a:ext cx="1417320" cy="1005840"/>
          </a:xfrm>
          <a:prstGeom prst="rect">
            <a:avLst/>
          </a:prstGeom>
          <a:solidFill>
            <a:srgbClr val="DDF4EF"/>
          </a:solidFill>
          <a:ln w="12700">
            <a:solidFill>
              <a:srgbClr val="DDF4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</a:rPr>
              <a:t>Name + Age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</a:rPr>
              <a:t>validated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166745" y="4065905"/>
            <a:ext cx="1417320" cy="100584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</a:rPr>
              <a:t>All emotions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</a:rPr>
              <a:t>saved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505450" y="5589905"/>
            <a:ext cx="1417320" cy="1005840"/>
          </a:xfrm>
          <a:prstGeom prst="rect">
            <a:avLst/>
          </a:prstGeom>
          <a:solidFill>
            <a:srgbClr val="FFF5E6"/>
          </a:solidFill>
          <a:ln w="12700">
            <a:solidFill>
              <a:srgbClr val="FFF5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</a:rPr>
              <a:t>History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</a:rPr>
              <a:t>tracked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79055" y="4204335"/>
            <a:ext cx="1417320" cy="1005840"/>
          </a:xfrm>
          <a:prstGeom prst="rect">
            <a:avLst/>
          </a:prstGeom>
          <a:solidFill>
            <a:srgbClr val="FFE6E6"/>
          </a:solidFill>
          <a:ln w="12700">
            <a:solidFill>
              <a:srgbClr val="FFE6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</a:rPr>
              <a:t>Warnings for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</a:rPr>
              <a:t>repeated negative emotions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7043420" y="2092960"/>
            <a:ext cx="1417320" cy="1005840"/>
          </a:xfrm>
          <a:prstGeom prst="rect">
            <a:avLst/>
          </a:prstGeom>
          <a:solidFill>
            <a:srgbClr val="FFE6E6"/>
          </a:solidFill>
          <a:ln w="12700">
            <a:solidFill>
              <a:srgbClr val="FFE6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/>
              <a:t>Every emotion has a message and activity suggestion</a:t>
            </a:r>
            <a:endParaRPr lang="en-US" sz="1500" b="1" dirty="0"/>
          </a:p>
        </p:txBody>
      </p:sp>
      <p:sp>
        <p:nvSpPr>
          <p:cNvPr id="13" name="Rectangles 12"/>
          <p:cNvSpPr/>
          <p:nvPr/>
        </p:nvSpPr>
        <p:spPr>
          <a:xfrm>
            <a:off x="5558155" y="3773170"/>
            <a:ext cx="1231265" cy="914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b="1">
                <a:solidFill>
                  <a:schemeClr val="tx1"/>
                </a:solidFill>
              </a:rPr>
              <a:t>For every unique  user</a:t>
            </a:r>
            <a:endParaRPr lang="en-US" altLang="en-GB" b="1">
              <a:solidFill>
                <a:schemeClr val="tx1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H="1" flipV="1">
            <a:off x="4773930" y="3322320"/>
            <a:ext cx="592455" cy="6064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6509385" y="3206750"/>
            <a:ext cx="413385" cy="3549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4773930" y="4515485"/>
            <a:ext cx="73152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214110" y="4899025"/>
            <a:ext cx="0" cy="5016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7043420" y="4636135"/>
            <a:ext cx="381635" cy="262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                                            Objective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0467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508760"/>
            <a:ext cx="2011680" cy="502920"/>
          </a:xfrm>
          <a:prstGeom prst="rect">
            <a:avLst/>
          </a:prstGeom>
          <a:solidFill>
            <a:srgbClr val="DDF4EF"/>
          </a:solidFill>
          <a:ln w="12700">
            <a:solidFill>
              <a:srgbClr val="DDF4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</a:rPr>
              <a:t>Main goal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429000" y="1316990"/>
            <a:ext cx="7955280" cy="6400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</a:rPr>
              <a:t>MoodBuddy is a beginner-friendly mood tracker that remembers each user and saves their complete emotional check-in pattern over time.</a:t>
            </a:r>
            <a:endParaRPr lang="en-US" sz="2400" dirty="0"/>
          </a:p>
        </p:txBody>
      </p:sp>
      <p:sp>
        <p:nvSpPr>
          <p:cNvPr id="7" name="Text 5"/>
          <p:cNvSpPr/>
          <p:nvPr>
            <p:custDataLst>
              <p:tags r:id="rId1"/>
            </p:custDataLst>
          </p:nvPr>
        </p:nvSpPr>
        <p:spPr>
          <a:xfrm>
            <a:off x="822960" y="2514600"/>
            <a:ext cx="457200" cy="45720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1481328" y="2496312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</a:rPr>
              <a:t>Identify the user</a:t>
            </a:r>
            <a:endParaRPr lang="en-US" sz="1600" dirty="0"/>
          </a:p>
        </p:txBody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4160520" y="2487168"/>
            <a:ext cx="68122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Ask for a valid name and age, then use the name as the unique saved key.</a:t>
            </a:r>
            <a:endParaRPr lang="en-US" sz="1500" dirty="0"/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822960" y="3291840"/>
            <a:ext cx="457200" cy="457200"/>
          </a:xfrm>
          <a:prstGeom prst="rect">
            <a:avLst/>
          </a:prstGeom>
          <a:solidFill>
            <a:srgbClr val="DDF4EF"/>
          </a:solidFill>
          <a:ln w="12700">
            <a:solidFill>
              <a:srgbClr val="DDF4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1481328" y="3273552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</a:rPr>
              <a:t>Avoid duplicate records</a:t>
            </a:r>
            <a:endParaRPr lang="en-US" sz="1600" dirty="0"/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4160520" y="3264408"/>
            <a:ext cx="68122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If the same name returns, the saved age must match.</a:t>
            </a:r>
            <a:endParaRPr lang="en-US" sz="1500" dirty="0"/>
          </a:p>
        </p:txBody>
      </p:sp>
      <p:sp>
        <p:nvSpPr>
          <p:cNvPr id="13" name="Text 11"/>
          <p:cNvSpPr/>
          <p:nvPr>
            <p:custDataLst>
              <p:tags r:id="rId7"/>
            </p:custDataLst>
          </p:nvPr>
        </p:nvSpPr>
        <p:spPr>
          <a:xfrm>
            <a:off x="822960" y="4069080"/>
            <a:ext cx="457200" cy="457200"/>
          </a:xfrm>
          <a:prstGeom prst="rect">
            <a:avLst/>
          </a:prstGeom>
          <a:solidFill>
            <a:srgbClr val="FFF5E6"/>
          </a:solidFill>
          <a:ln w="12700">
            <a:solidFill>
              <a:srgbClr val="FFF5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1481328" y="4050792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</a:rPr>
              <a:t>Track every emotion</a:t>
            </a:r>
            <a:endParaRPr lang="en-US" sz="1600" dirty="0"/>
          </a:p>
        </p:txBody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4160520" y="4041648"/>
            <a:ext cx="68122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Save counts for Happy, Sad, Angry, Lazy, Anxious, and Excited.</a:t>
            </a:r>
            <a:endParaRPr lang="en-US" sz="1500" dirty="0"/>
          </a:p>
        </p:txBody>
      </p:sp>
      <p:sp>
        <p:nvSpPr>
          <p:cNvPr id="16" name="Text 14"/>
          <p:cNvSpPr/>
          <p:nvPr>
            <p:custDataLst>
              <p:tags r:id="rId10"/>
            </p:custDataLst>
          </p:nvPr>
        </p:nvSpPr>
        <p:spPr>
          <a:xfrm>
            <a:off x="822960" y="4846320"/>
            <a:ext cx="457200" cy="457200"/>
          </a:xfrm>
          <a:prstGeom prst="rect">
            <a:avLst/>
          </a:prstGeom>
          <a:solidFill>
            <a:srgbClr val="FFE6E6"/>
          </a:solidFill>
          <a:ln w="12700">
            <a:solidFill>
              <a:srgbClr val="FFE6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>
            <p:custDataLst>
              <p:tags r:id="rId11"/>
            </p:custDataLst>
          </p:nvPr>
        </p:nvSpPr>
        <p:spPr>
          <a:xfrm>
            <a:off x="1481328" y="4828032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</a:rPr>
              <a:t>Give support</a:t>
            </a:r>
            <a:endParaRPr lang="en-US" sz="1600" dirty="0"/>
          </a:p>
        </p:txBody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4160520" y="4818888"/>
            <a:ext cx="68122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Display a message, an activity, and a gentle warning for repeated negative moods.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6537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MoodBuddy — Complete Emotion Tracking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384280" y="653796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What Data Is Saved?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0467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         The JSON file becomes the program memory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017520" cy="502920"/>
          </a:xfrm>
          <a:prstGeom prst="rect">
            <a:avLst/>
          </a:prstGeom>
          <a:solidFill>
            <a:schemeClr val="accent5"/>
          </a:solidFill>
          <a:ln w="12700">
            <a:solidFill>
              <a:srgbClr val="1E3A5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moodbuddy_users.json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</a:rPr>
              <a:t>One saved record per user name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1325880" cy="329184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name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67712" y="2660904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Original display name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172968"/>
            <a:ext cx="1325880" cy="329184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67712" y="3227832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Stored age, must match later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3739896"/>
            <a:ext cx="1325880" cy="329184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total_check_ins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67712" y="3794760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Overall number of entries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4306824"/>
            <a:ext cx="1325880" cy="329184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last_mood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67712" y="4361688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Most recent mood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66360" y="1595755"/>
            <a:ext cx="2468880" cy="1783080"/>
          </a:xfrm>
          <a:prstGeom prst="rect">
            <a:avLst/>
          </a:prstGeom>
          <a:solidFill>
            <a:srgbClr val="D9F2E6"/>
          </a:solidFill>
          <a:ln w="12700">
            <a:solidFill>
              <a:srgbClr val="D9F2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3A5F"/>
                </a:solidFill>
              </a:rPr>
              <a:t>emotion_counters</a:t>
            </a:r>
            <a:endParaRPr lang="en-US" sz="1700" dirty="0"/>
          </a:p>
          <a:p>
            <a:pPr marL="0" indent="0" algn="ctr">
              <a:buNone/>
            </a:pP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E3A5F"/>
                </a:solidFill>
              </a:rPr>
              <a:t>Happy | Sad | Angry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E3A5F"/>
                </a:solidFill>
              </a:rPr>
              <a:t>Lazy | Anxious | Excited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49640" y="1595755"/>
            <a:ext cx="2468880" cy="1783080"/>
          </a:xfrm>
          <a:prstGeom prst="rect">
            <a:avLst/>
          </a:prstGeom>
          <a:solidFill>
            <a:srgbClr val="FFE6E6"/>
          </a:solidFill>
          <a:ln w="12700">
            <a:solidFill>
              <a:srgbClr val="FFE6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</a:rPr>
              <a:t>negative_counters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</a:rPr>
              <a:t>Sad | Angry | Anxious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</a:rPr>
              <a:t>used only for warning logic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96075" y="3923030"/>
            <a:ext cx="3108960" cy="1234440"/>
          </a:xfrm>
          <a:prstGeom prst="rect">
            <a:avLst/>
          </a:prstGeom>
          <a:solidFill>
            <a:srgbClr val="FFF5E6"/>
          </a:solidFill>
          <a:ln w="12700">
            <a:solidFill>
              <a:srgbClr val="FFF5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</a:rPr>
              <a:t>check_in_history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</a:rPr>
              <a:t>Time + mood + age group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</a:rPr>
              <a:t>for every check-in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69080" y="2057400"/>
            <a:ext cx="594360" cy="0"/>
          </a:xfrm>
          <a:prstGeom prst="line">
            <a:avLst/>
          </a:prstGeom>
          <a:noFill/>
          <a:ln w="25400">
            <a:solidFill>
              <a:srgbClr val="1D9A8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60920" y="2926080"/>
            <a:ext cx="274320" cy="0"/>
          </a:xfrm>
          <a:prstGeom prst="line">
            <a:avLst/>
          </a:prstGeom>
          <a:noFill/>
          <a:ln w="25400">
            <a:solidFill>
              <a:srgbClr val="1D9A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50555" y="3465830"/>
            <a:ext cx="0" cy="228600"/>
          </a:xfrm>
          <a:prstGeom prst="line">
            <a:avLst/>
          </a:prstGeom>
          <a:noFill/>
          <a:ln w="25400">
            <a:solidFill>
              <a:srgbClr val="1D9A8A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60120" y="5806440"/>
            <a:ext cx="10241280" cy="3474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</a:rPr>
              <a:t> MoodBuddy remembers who the user is and builds a complete emotional profile over time.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2920" y="6537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MoodBuddy — Complete Emotion Tracking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384280" y="653796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Functions Used: Setup &amp; Data Safety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2788920" cy="41148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3A5F"/>
                </a:solidFill>
              </a:rPr>
              <a:t>load_saved_data()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794760" y="1417320"/>
            <a:ext cx="7360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</a:rPr>
              <a:t>Loads existing users from the JSON file, or starts empty if the file is missing.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2057400"/>
            <a:ext cx="2788920" cy="411480"/>
          </a:xfrm>
          <a:prstGeom prst="rect">
            <a:avLst/>
          </a:prstGeom>
          <a:solidFill>
            <a:srgbClr val="DDF4EF"/>
          </a:solidFill>
          <a:ln w="12700">
            <a:solidFill>
              <a:srgbClr val="DDF4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3A5F"/>
                </a:solidFill>
              </a:rPr>
              <a:t>save_saved_data()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794760" y="2057400"/>
            <a:ext cx="7360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</a:rPr>
              <a:t>Saves all updates safely so check-ins are not lost.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2697480"/>
            <a:ext cx="2788920" cy="41148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3A5F"/>
                </a:solidFill>
              </a:rPr>
              <a:t>get_valid_name()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794760" y="2697480"/>
            <a:ext cx="7360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</a:rPr>
              <a:t>Accepts only non-blank names with letters only, max 20 characters.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3232" y="3337560"/>
            <a:ext cx="2788920" cy="411480"/>
          </a:xfrm>
          <a:prstGeom prst="rect">
            <a:avLst/>
          </a:prstGeom>
          <a:solidFill>
            <a:srgbClr val="DDF4EF"/>
          </a:solidFill>
          <a:ln w="12700">
            <a:solidFill>
              <a:srgbClr val="DDF4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3A5F"/>
                </a:solidFill>
              </a:rPr>
              <a:t>get_valid_age()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794760" y="3337560"/>
            <a:ext cx="7360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</a:rPr>
              <a:t>Accepts only ages between 4 and 100.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13232" y="3977640"/>
            <a:ext cx="2788920" cy="41148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3A5F"/>
                </a:solidFill>
              </a:rPr>
              <a:t>get_age_group()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94760" y="3977640"/>
            <a:ext cx="7360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</a:rPr>
              <a:t>Converts age into Child, Teen, Adult, Senior, Elder, etc.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13232" y="4617720"/>
            <a:ext cx="2788920" cy="411480"/>
          </a:xfrm>
          <a:prstGeom prst="rect">
            <a:avLst/>
          </a:prstGeom>
          <a:solidFill>
            <a:srgbClr val="DDF4EF"/>
          </a:solidFill>
          <a:ln w="12700">
            <a:solidFill>
              <a:srgbClr val="DDF4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3A5F"/>
                </a:solidFill>
              </a:rPr>
              <a:t>get_or_create_user()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794760" y="4617720"/>
            <a:ext cx="7360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</a:rPr>
              <a:t>Finds a returning user or creates one new record; blocks conflicting ages.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60120" y="5640705"/>
            <a:ext cx="10149840" cy="55181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3A5F"/>
                </a:solidFill>
              </a:rPr>
              <a:t>Why these functions matter: they keep the program reliable, simple to read, and safe from duplicate or incorrect user records.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02920" y="6537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MoodBuddy — Complete Emotion Tracking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384280" y="653796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Functions Used: Mood Check-In &amp; Response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325880"/>
            <a:ext cx="2788920" cy="329184"/>
          </a:xfrm>
          <a:prstGeom prst="rect">
            <a:avLst/>
          </a:prstGeom>
          <a:solidFill>
            <a:srgbClr val="FFF5E6"/>
          </a:solidFill>
          <a:ln w="12700">
            <a:solidFill>
              <a:srgbClr val="FFF5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5F"/>
                </a:solidFill>
              </a:rPr>
              <a:t>clean_emotion_counters()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75888" y="1325880"/>
            <a:ext cx="7498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827"/>
                </a:solidFill>
              </a:rPr>
              <a:t>Makes sure all six emotion totals exist and fixes older saved data.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1819656"/>
            <a:ext cx="2788920" cy="329184"/>
          </a:xfrm>
          <a:prstGeom prst="rect">
            <a:avLst/>
          </a:prstGeom>
          <a:solidFill>
            <a:srgbClr val="F0ECFF"/>
          </a:solidFill>
          <a:ln w="12700">
            <a:solidFill>
              <a:srgbClr val="F0EC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5F"/>
                </a:solidFill>
              </a:rPr>
              <a:t>clean_negative_counters()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75888" y="1819656"/>
            <a:ext cx="7498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827"/>
                </a:solidFill>
              </a:rPr>
              <a:t>Keeps only Sad, Angry, and Anxious warning counters.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2313432"/>
            <a:ext cx="2788920" cy="329184"/>
          </a:xfrm>
          <a:prstGeom prst="rect">
            <a:avLst/>
          </a:prstGeom>
          <a:solidFill>
            <a:srgbClr val="FFF5E6"/>
          </a:solidFill>
          <a:ln w="12700">
            <a:solidFill>
              <a:srgbClr val="FFF5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5F"/>
                </a:solidFill>
              </a:rPr>
              <a:t>clean_check_in_history()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75888" y="2313432"/>
            <a:ext cx="7498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827"/>
                </a:solidFill>
              </a:rPr>
              <a:t>Keeps only valid timestamped mood-history entries.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2807208"/>
            <a:ext cx="2788920" cy="329184"/>
          </a:xfrm>
          <a:prstGeom prst="rect">
            <a:avLst/>
          </a:prstGeom>
          <a:solidFill>
            <a:srgbClr val="F0ECFF"/>
          </a:solidFill>
          <a:ln w="12700">
            <a:solidFill>
              <a:srgbClr val="F0EC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5F"/>
                </a:solidFill>
              </a:rPr>
              <a:t>get_valid_mood()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75888" y="2807208"/>
            <a:ext cx="7498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827"/>
                </a:solidFill>
              </a:rPr>
              <a:t>Shows six mood options and accepts only choices 1–6.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3300984"/>
            <a:ext cx="2788920" cy="329184"/>
          </a:xfrm>
          <a:prstGeom prst="rect">
            <a:avLst/>
          </a:prstGeom>
          <a:solidFill>
            <a:srgbClr val="FFF5E6"/>
          </a:solidFill>
          <a:ln w="12700">
            <a:solidFill>
              <a:srgbClr val="FFF5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5F"/>
                </a:solidFill>
              </a:rPr>
              <a:t>show_response()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75888" y="3300984"/>
            <a:ext cx="7498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827"/>
                </a:solidFill>
              </a:rPr>
              <a:t>Picks the correct message and one activity for the user’s age group and mood.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8368" y="3794760"/>
            <a:ext cx="2788920" cy="329184"/>
          </a:xfrm>
          <a:prstGeom prst="rect">
            <a:avLst/>
          </a:prstGeom>
          <a:solidFill>
            <a:srgbClr val="F0ECFF"/>
          </a:solidFill>
          <a:ln w="12700">
            <a:solidFill>
              <a:srgbClr val="F0EC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5F"/>
                </a:solidFill>
              </a:rPr>
              <a:t>show_warning()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75888" y="3794760"/>
            <a:ext cx="7498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827"/>
                </a:solidFill>
              </a:rPr>
              <a:t>Shows a gentle support warning when negative check-ins repeat.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8368" y="4288536"/>
            <a:ext cx="2788920" cy="329184"/>
          </a:xfrm>
          <a:prstGeom prst="rect">
            <a:avLst/>
          </a:prstGeom>
          <a:solidFill>
            <a:srgbClr val="FFF5E6"/>
          </a:solidFill>
          <a:ln w="12700">
            <a:solidFill>
              <a:srgbClr val="FFF5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5F"/>
                </a:solidFill>
              </a:rPr>
              <a:t>get_continue_choice()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75888" y="4288536"/>
            <a:ext cx="7498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827"/>
                </a:solidFill>
              </a:rPr>
              <a:t>Lets the user check in again or quit.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8368" y="4782312"/>
            <a:ext cx="2788920" cy="329184"/>
          </a:xfrm>
          <a:prstGeom prst="rect">
            <a:avLst/>
          </a:prstGeom>
          <a:solidFill>
            <a:srgbClr val="F0ECFF"/>
          </a:solidFill>
          <a:ln w="12700">
            <a:solidFill>
              <a:srgbClr val="F0EC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5F"/>
                </a:solidFill>
              </a:rPr>
              <a:t>main()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75888" y="4782312"/>
            <a:ext cx="7498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827"/>
                </a:solidFill>
              </a:rPr>
              <a:t>Connects all functions in the correct order and saves after every check-in.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5669280"/>
            <a:ext cx="10149840" cy="4389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DDF4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3A5F"/>
                </a:solidFill>
              </a:rPr>
              <a:t> Each function does one job, like a small helper in the program.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02920" y="6537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MoodBuddy — Complete Emotion Tracking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384280" y="653796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47120" cy="51244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3100" b="1">
                <a:solidFill>
                  <a:srgbClr val="1D375A"/>
                </a:solidFill>
                <a:latin typeface="Aptos"/>
              </a:rPr>
              <a:t>  </a:t>
            </a:r>
            <a:r>
              <a:rPr sz="3100" b="1">
                <a:solidFill>
                  <a:srgbClr val="1D375A"/>
                </a:solidFill>
                <a:latin typeface="Aptos"/>
              </a:rPr>
              <a:t>Program Flow: From Login to Saved Check-In</a:t>
            </a:r>
            <a:endParaRPr sz="3100" b="1">
              <a:solidFill>
                <a:srgbClr val="1D375A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881360" cy="2432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350" b="0">
                <a:solidFill>
                  <a:srgbClr val="556478"/>
                </a:solidFill>
                <a:latin typeface="Aptos"/>
              </a:rPr>
              <a:t>                                                                  </a:t>
            </a:r>
            <a:r>
              <a:rPr sz="1350" b="0">
                <a:solidFill>
                  <a:srgbClr val="556478"/>
                </a:solidFill>
                <a:latin typeface="Aptos"/>
              </a:rPr>
              <a:t>A simple three-stage view of how MoodBuddy works</a:t>
            </a:r>
            <a:endParaRPr sz="1350" b="0">
              <a:solidFill>
                <a:srgbClr val="556478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201400" cy="9144"/>
          </a:xfrm>
          <a:prstGeom prst="rect">
            <a:avLst/>
          </a:prstGeom>
          <a:solidFill>
            <a:srgbClr val="D7E0EB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337560" cy="841248"/>
          </a:xfrm>
          <a:prstGeom prst="roundRect">
            <a:avLst/>
          </a:prstGeom>
          <a:solidFill>
            <a:srgbClr val="E6F2FF"/>
          </a:solidFill>
          <a:ln w="15875">
            <a:solidFill>
              <a:srgbClr val="2A6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l"/>
            <a:r>
              <a:rPr sz="1500" b="1">
                <a:solidFill>
                  <a:srgbClr val="1D375A"/>
                </a:solidFill>
                <a:latin typeface="Aptos"/>
              </a:rPr>
              <a:t>1. Login &amp; Validate</a:t>
            </a:r>
            <a:endParaRPr sz="1500" b="1">
              <a:solidFill>
                <a:srgbClr val="1D375A"/>
              </a:solidFill>
              <a:latin typeface="Aptos"/>
            </a:endParaRPr>
          </a:p>
          <a:p>
            <a:pPr algn="l">
              <a:spcBef>
                <a:spcPts val="500"/>
              </a:spcBef>
            </a:pPr>
            <a:r>
              <a:rPr sz="1070">
                <a:solidFill>
                  <a:srgbClr val="283548"/>
                </a:solidFill>
                <a:latin typeface="Aptos"/>
              </a:rPr>
              <a:t>The program first makes sure the user details are clean and realistic.</a:t>
            </a:r>
            <a:endParaRPr sz="1070">
              <a:solidFill>
                <a:srgbClr val="283548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34840" y="1417320"/>
            <a:ext cx="3337560" cy="841248"/>
          </a:xfrm>
          <a:prstGeom prst="roundRect">
            <a:avLst/>
          </a:prstGeom>
          <a:solidFill>
            <a:srgbClr val="FFF4E2"/>
          </a:solidFill>
          <a:ln w="15875">
            <a:solidFill>
              <a:srgbClr val="EB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l"/>
            <a:r>
              <a:rPr sz="1500" b="1">
                <a:solidFill>
                  <a:srgbClr val="1D375A"/>
                </a:solidFill>
                <a:latin typeface="Aptos"/>
              </a:rPr>
              <a:t>2. Find the User Record</a:t>
            </a:r>
            <a:endParaRPr sz="1500" b="1">
              <a:solidFill>
                <a:srgbClr val="1D375A"/>
              </a:solidFill>
              <a:latin typeface="Aptos"/>
            </a:endParaRPr>
          </a:p>
          <a:p>
            <a:pPr algn="l">
              <a:spcBef>
                <a:spcPts val="500"/>
              </a:spcBef>
            </a:pPr>
            <a:r>
              <a:rPr sz="1070">
                <a:solidFill>
                  <a:srgbClr val="283548"/>
                </a:solidFill>
                <a:latin typeface="Aptos"/>
              </a:rPr>
              <a:t>The program prevents duplicate users by checking saved JSON data.</a:t>
            </a:r>
            <a:endParaRPr sz="1070">
              <a:solidFill>
                <a:srgbClr val="283548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75320" y="1417320"/>
            <a:ext cx="3337560" cy="841248"/>
          </a:xfrm>
          <a:prstGeom prst="roundRect">
            <a:avLst/>
          </a:prstGeom>
          <a:solidFill>
            <a:srgbClr val="DAF2E5"/>
          </a:solidFill>
          <a:ln w="15875">
            <a:solidFill>
              <a:srgbClr val="2F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l"/>
            <a:r>
              <a:rPr sz="1500" b="1">
                <a:solidFill>
                  <a:srgbClr val="1D375A"/>
                </a:solidFill>
                <a:latin typeface="Aptos"/>
              </a:rPr>
              <a:t>3. Check Mood &amp; Save</a:t>
            </a:r>
            <a:endParaRPr sz="1500" b="1">
              <a:solidFill>
                <a:srgbClr val="1D375A"/>
              </a:solidFill>
              <a:latin typeface="Aptos"/>
            </a:endParaRPr>
          </a:p>
          <a:p>
            <a:pPr algn="l">
              <a:spcBef>
                <a:spcPts val="500"/>
              </a:spcBef>
            </a:pPr>
            <a:r>
              <a:rPr sz="1070">
                <a:solidFill>
                  <a:srgbClr val="283548"/>
                </a:solidFill>
                <a:latin typeface="Aptos"/>
              </a:rPr>
              <a:t>The program records the mood, updates counters, and saves before continuing.</a:t>
            </a:r>
            <a:endParaRPr sz="1070">
              <a:solidFill>
                <a:srgbClr val="283548"/>
              </a:solidFill>
              <a:latin typeface="Aptos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3977639" y="1719072"/>
            <a:ext cx="292608" cy="219456"/>
          </a:xfrm>
          <a:prstGeom prst="rightArrow">
            <a:avLst/>
          </a:prstGeom>
          <a:solidFill>
            <a:srgbClr val="2A6DB3"/>
          </a:solidFill>
          <a:ln>
            <a:solidFill>
              <a:srgbClr val="2A6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7818120" y="1719072"/>
            <a:ext cx="292608" cy="219456"/>
          </a:xfrm>
          <a:prstGeom prst="rightArrow">
            <a:avLst/>
          </a:prstGeom>
          <a:solidFill>
            <a:srgbClr val="2A6DB3"/>
          </a:solidFill>
          <a:ln>
            <a:solidFill>
              <a:srgbClr val="2A6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" y="2514600"/>
            <a:ext cx="2926080" cy="594360"/>
          </a:xfrm>
          <a:prstGeom prst="roundRect">
            <a:avLst/>
          </a:prstGeom>
          <a:solidFill>
            <a:srgbClr val="E6F2FF"/>
          </a:solidFill>
          <a:ln w="15875">
            <a:solidFill>
              <a:srgbClr val="2A6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ctr"/>
          <a:lstStyle/>
          <a:p>
            <a:pPr algn="ctr"/>
            <a:r>
              <a:rPr sz="1250" b="1">
                <a:solidFill>
                  <a:srgbClr val="1D375A"/>
                </a:solidFill>
                <a:latin typeface="Aptos"/>
              </a:rPr>
              <a:t>1
Welcome message</a:t>
            </a:r>
            <a:endParaRPr sz="1250" b="1">
              <a:solidFill>
                <a:srgbClr val="1D375A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4672" y="3255264"/>
            <a:ext cx="2926080" cy="594360"/>
          </a:xfrm>
          <a:prstGeom prst="roundRect">
            <a:avLst/>
          </a:prstGeom>
          <a:solidFill>
            <a:srgbClr val="DCF4F0"/>
          </a:solidFill>
          <a:ln w="15875">
            <a:solidFill>
              <a:srgbClr val="129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ctr"/>
          <a:lstStyle/>
          <a:p>
            <a:pPr algn="ctr"/>
            <a:r>
              <a:rPr sz="1150" b="1">
                <a:solidFill>
                  <a:srgbClr val="1D375A"/>
                </a:solidFill>
                <a:latin typeface="Aptos"/>
              </a:rPr>
              <a:t>2
Validate name
letters only, ≤20</a:t>
            </a:r>
            <a:endParaRPr sz="1150" b="1">
              <a:solidFill>
                <a:srgbClr val="1D375A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4672" y="3995928"/>
            <a:ext cx="2926080" cy="594360"/>
          </a:xfrm>
          <a:prstGeom prst="roundRect">
            <a:avLst/>
          </a:prstGeom>
          <a:solidFill>
            <a:srgbClr val="DCF4F0"/>
          </a:solidFill>
          <a:ln w="15875">
            <a:solidFill>
              <a:srgbClr val="129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ctr"/>
          <a:lstStyle/>
          <a:p>
            <a:pPr algn="ctr"/>
            <a:r>
              <a:rPr sz="1150" b="1">
                <a:solidFill>
                  <a:srgbClr val="1D375A"/>
                </a:solidFill>
                <a:latin typeface="Aptos"/>
              </a:rPr>
              <a:t>3
Validate age
4 to 100</a:t>
            </a:r>
            <a:endParaRPr sz="1150" b="1">
              <a:solidFill>
                <a:srgbClr val="1D375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672" y="4736592"/>
            <a:ext cx="29260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50" b="0">
                <a:solidFill>
                  <a:srgbClr val="556478"/>
                </a:solidFill>
                <a:latin typeface="Aptos"/>
              </a:rPr>
              <a:t>Invalid input loops back until corrected.</a:t>
            </a:r>
            <a:endParaRPr sz="1050" b="0">
              <a:solidFill>
                <a:srgbClr val="556478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45152" y="2514600"/>
            <a:ext cx="2926080" cy="594360"/>
          </a:xfrm>
          <a:prstGeom prst="roundRect">
            <a:avLst/>
          </a:prstGeom>
          <a:solidFill>
            <a:srgbClr val="FFF4E2"/>
          </a:solidFill>
          <a:ln w="15875">
            <a:solidFill>
              <a:srgbClr val="EB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ctr"/>
          <a:lstStyle/>
          <a:p>
            <a:pPr algn="ctr"/>
            <a:r>
              <a:rPr sz="1150" b="1">
                <a:solidFill>
                  <a:srgbClr val="1D375A"/>
                </a:solidFill>
                <a:latin typeface="Aptos"/>
              </a:rPr>
              <a:t>4
Normalize name
Sam → sam</a:t>
            </a:r>
            <a:endParaRPr sz="1150" b="1">
              <a:solidFill>
                <a:srgbClr val="1D375A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645152" y="3255264"/>
            <a:ext cx="2926080" cy="594360"/>
          </a:xfrm>
          <a:prstGeom prst="roundRect">
            <a:avLst/>
          </a:prstGeom>
          <a:solidFill>
            <a:srgbClr val="FFF4E2"/>
          </a:solidFill>
          <a:ln w="15875">
            <a:solidFill>
              <a:srgbClr val="EB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ctr"/>
          <a:lstStyle/>
          <a:p>
            <a:pPr algn="ctr"/>
            <a:r>
              <a:rPr sz="1150" b="1">
                <a:solidFill>
                  <a:srgbClr val="1D375A"/>
                </a:solidFill>
                <a:latin typeface="Aptos"/>
              </a:rPr>
              <a:t>5
Check JSON file
existing user?</a:t>
            </a:r>
            <a:endParaRPr sz="1150" b="1">
              <a:solidFill>
                <a:srgbClr val="1D375A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645152" y="4050791"/>
            <a:ext cx="137160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150" b="1">
                <a:solidFill>
                  <a:srgbClr val="1D375A"/>
                </a:solidFill>
                <a:latin typeface="Aptos"/>
              </a:rPr>
              <a:t>Load</a:t>
            </a:r>
            <a:endParaRPr sz="1150" b="1">
              <a:solidFill>
                <a:srgbClr val="1D375A"/>
              </a:solidFill>
              <a:latin typeface="Aptos"/>
            </a:endParaRPr>
          </a:p>
          <a:p>
            <a:pPr algn="l">
              <a:spcBef>
                <a:spcPts val="500"/>
              </a:spcBef>
            </a:pPr>
            <a:r>
              <a:rPr sz="950">
                <a:solidFill>
                  <a:srgbClr val="283548"/>
                </a:solidFill>
                <a:latin typeface="Aptos"/>
              </a:rPr>
              <a:t>same age</a:t>
            </a:r>
            <a:endParaRPr sz="950">
              <a:solidFill>
                <a:srgbClr val="283548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99632" y="4050791"/>
            <a:ext cx="137160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A6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150" b="1">
                <a:solidFill>
                  <a:srgbClr val="1D375A"/>
                </a:solidFill>
                <a:latin typeface="Aptos"/>
              </a:rPr>
              <a:t>Create</a:t>
            </a:r>
            <a:endParaRPr sz="1150" b="1">
              <a:solidFill>
                <a:srgbClr val="1D375A"/>
              </a:solidFill>
              <a:latin typeface="Aptos"/>
            </a:endParaRPr>
          </a:p>
          <a:p>
            <a:pPr algn="l">
              <a:spcBef>
                <a:spcPts val="500"/>
              </a:spcBef>
            </a:pPr>
            <a:r>
              <a:rPr sz="950">
                <a:solidFill>
                  <a:srgbClr val="283548"/>
                </a:solidFill>
                <a:latin typeface="Aptos"/>
              </a:rPr>
              <a:t>new name</a:t>
            </a:r>
            <a:endParaRPr sz="950">
              <a:solidFill>
                <a:srgbClr val="283548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645152" y="4754880"/>
            <a:ext cx="2926080" cy="594360"/>
          </a:xfrm>
          <a:prstGeom prst="roundRect">
            <a:avLst/>
          </a:prstGeom>
          <a:solidFill>
            <a:srgbClr val="FDE4E4"/>
          </a:solidFill>
          <a:ln w="15875">
            <a:solidFill>
              <a:srgbClr val="DD4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200" b="1">
                <a:solidFill>
                  <a:srgbClr val="1D375A"/>
                </a:solidFill>
                <a:latin typeface="Aptos"/>
              </a:rPr>
              <a:t>Block duplicate</a:t>
            </a:r>
            <a:endParaRPr sz="1200" b="1">
              <a:solidFill>
                <a:srgbClr val="1D375A"/>
              </a:solidFill>
              <a:latin typeface="Aptos"/>
            </a:endParaRPr>
          </a:p>
          <a:p>
            <a:pPr algn="l">
              <a:spcBef>
                <a:spcPts val="500"/>
              </a:spcBef>
            </a:pPr>
            <a:r>
              <a:rPr sz="950">
                <a:solidFill>
                  <a:srgbClr val="283548"/>
                </a:solidFill>
                <a:latin typeface="Aptos"/>
              </a:rPr>
              <a:t>same name + different age → ask again</a:t>
            </a:r>
            <a:endParaRPr sz="950">
              <a:solidFill>
                <a:srgbClr val="283548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485632" y="2514600"/>
            <a:ext cx="2926080" cy="594360"/>
          </a:xfrm>
          <a:prstGeom prst="roundRect">
            <a:avLst/>
          </a:prstGeom>
          <a:solidFill>
            <a:srgbClr val="EBE6FF"/>
          </a:solidFill>
          <a:ln w="15875">
            <a:solidFill>
              <a:srgbClr val="73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ctr"/>
          <a:lstStyle/>
          <a:p>
            <a:pPr algn="ctr"/>
            <a:r>
              <a:rPr sz="1150" b="1">
                <a:solidFill>
                  <a:srgbClr val="1D375A"/>
                </a:solidFill>
                <a:latin typeface="Aptos"/>
              </a:rPr>
              <a:t>6
Ask mood
1 to 6</a:t>
            </a:r>
            <a:endParaRPr sz="1150" b="1">
              <a:solidFill>
                <a:srgbClr val="1D375A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485632" y="3255264"/>
            <a:ext cx="2926080" cy="594360"/>
          </a:xfrm>
          <a:prstGeom prst="roundRect">
            <a:avLst/>
          </a:prstGeom>
          <a:solidFill>
            <a:srgbClr val="DAF2E5"/>
          </a:solidFill>
          <a:ln w="15875">
            <a:solidFill>
              <a:srgbClr val="2F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ctr"/>
          <a:lstStyle/>
          <a:p>
            <a:pPr algn="ctr"/>
            <a:r>
              <a:rPr sz="1150" b="1">
                <a:solidFill>
                  <a:srgbClr val="1D375A"/>
                </a:solidFill>
                <a:latin typeface="Aptos"/>
              </a:rPr>
              <a:t>7
Add +1 to
that emotion total</a:t>
            </a:r>
            <a:endParaRPr sz="1150" b="1">
              <a:solidFill>
                <a:srgbClr val="1D375A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485632" y="3995928"/>
            <a:ext cx="2926080" cy="594360"/>
          </a:xfrm>
          <a:prstGeom prst="roundRect">
            <a:avLst/>
          </a:prstGeom>
          <a:solidFill>
            <a:srgbClr val="FDE4E4"/>
          </a:solidFill>
          <a:ln w="15875">
            <a:solidFill>
              <a:srgbClr val="DD4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ctr"/>
          <a:lstStyle/>
          <a:p>
            <a:pPr algn="ctr"/>
            <a:r>
              <a:rPr sz="1050" b="1">
                <a:solidFill>
                  <a:srgbClr val="1D375A"/>
                </a:solidFill>
                <a:latin typeface="Aptos"/>
              </a:rPr>
              <a:t>8
Run warning logic
only for Sad/Angry/Anxious</a:t>
            </a:r>
            <a:endParaRPr sz="1050" b="1">
              <a:solidFill>
                <a:srgbClr val="1D375A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485632" y="4736592"/>
            <a:ext cx="2926080" cy="594360"/>
          </a:xfrm>
          <a:prstGeom prst="roundRect">
            <a:avLst/>
          </a:prstGeom>
          <a:solidFill>
            <a:srgbClr val="E6F2FF"/>
          </a:solidFill>
          <a:ln w="15875">
            <a:solidFill>
              <a:srgbClr val="2A6D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ctr"/>
          <a:lstStyle/>
          <a:p>
            <a:pPr algn="ctr"/>
            <a:r>
              <a:rPr sz="1150" b="1">
                <a:solidFill>
                  <a:srgbClr val="1D375A"/>
                </a:solidFill>
                <a:latin typeface="Aptos"/>
              </a:rPr>
              <a:t>9
Save JSON
then continue or quit</a:t>
            </a:r>
            <a:endParaRPr sz="1150" b="1">
              <a:solidFill>
                <a:srgbClr val="1D375A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417320" y="5806440"/>
            <a:ext cx="9509760" cy="43891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D375A"/>
                </a:solidFill>
                <a:latin typeface="Aptos"/>
              </a:rPr>
              <a:t>Key idea: one saved user record grows over time — no duplicate records for the same person.</a:t>
            </a:r>
            <a:endParaRPr sz="1500" b="1">
              <a:solidFill>
                <a:srgbClr val="1D375A"/>
              </a:solidFill>
              <a:latin typeface="Apto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02920" y="6455664"/>
            <a:ext cx="11201400" cy="9144"/>
          </a:xfrm>
          <a:prstGeom prst="rect">
            <a:avLst/>
          </a:prstGeom>
          <a:solidFill>
            <a:srgbClr val="D7E0EB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583680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50" b="0">
                <a:solidFill>
                  <a:srgbClr val="647286"/>
                </a:solidFill>
                <a:latin typeface="Aptos"/>
              </a:rPr>
              <a:t>MoodBuddy — Complete Emotion Tracking</a:t>
            </a:r>
            <a:endParaRPr sz="850" b="0">
              <a:solidFill>
                <a:srgbClr val="647286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3200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850" b="0">
                <a:solidFill>
                  <a:srgbClr val="647286"/>
                </a:solidFill>
                <a:latin typeface="Aptos"/>
              </a:rPr>
              <a:t>6</a:t>
            </a:r>
            <a:endParaRPr sz="850" b="0">
              <a:solidFill>
                <a:srgbClr val="64728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8428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1600" b="1">
                <a:solidFill>
                  <a:srgbClr val="000000"/>
                </a:solidFill>
                <a:latin typeface="Aptos"/>
              </a:rPr>
              <a:t>                                               </a:t>
            </a:r>
            <a:r>
              <a:rPr sz="2000" b="1">
                <a:solidFill>
                  <a:srgbClr val="000000"/>
                </a:solidFill>
                <a:latin typeface="Aptos"/>
              </a:rPr>
              <a:t>Emotion Tracking Logic: Negative vs Non-Negative</a:t>
            </a:r>
            <a:endParaRPr sz="2000" b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8912" y="576072"/>
            <a:ext cx="11109960" cy="256032"/>
          </a:xfrm>
          <a:prstGeom prst="rect">
            <a:avLst/>
          </a:prstGeom>
          <a:noFill/>
        </p:spPr>
        <p:txBody>
          <a:bodyPr wrap="square">
            <a:normAutofit fontScale="70000"/>
          </a:bodyPr>
          <a:lstStyle/>
          <a:p>
            <a:pPr algn="l"/>
            <a:endParaRPr sz="1350" b="0">
              <a:solidFill>
                <a:srgbClr val="505050"/>
              </a:solidFill>
              <a:latin typeface="Aptos"/>
            </a:endParaRPr>
          </a:p>
        </p:txBody>
      </p:sp>
      <p:cxnSp>
        <p:nvCxnSpPr>
          <p:cNvPr id="4" name="Connector 3"/>
          <p:cNvCxnSpPr>
            <a:endCxn id="11" idx="1"/>
          </p:cNvCxnSpPr>
          <p:nvPr/>
        </p:nvCxnSpPr>
        <p:spPr>
          <a:xfrm flipV="1">
            <a:off x="2290445" y="1259840"/>
            <a:ext cx="2651760" cy="3175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>
            <a:stCxn id="11" idx="3"/>
          </p:cNvCxnSpPr>
          <p:nvPr/>
        </p:nvCxnSpPr>
        <p:spPr>
          <a:xfrm>
            <a:off x="7045325" y="1259840"/>
            <a:ext cx="2270125" cy="3175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>
            <a:stCxn id="11" idx="2"/>
            <a:endCxn id="13" idx="3"/>
          </p:cNvCxnSpPr>
          <p:nvPr/>
        </p:nvCxnSpPr>
        <p:spPr>
          <a:xfrm flipH="1">
            <a:off x="2880360" y="1652778"/>
            <a:ext cx="3113405" cy="41910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>
            <a:stCxn id="11" idx="2"/>
          </p:cNvCxnSpPr>
          <p:nvPr/>
        </p:nvCxnSpPr>
        <p:spPr>
          <a:xfrm>
            <a:off x="5993765" y="1652778"/>
            <a:ext cx="3669030" cy="424815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880360" y="4882896"/>
            <a:ext cx="2560320" cy="621792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903720" y="4882896"/>
            <a:ext cx="2194560" cy="621792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78865" y="1050544"/>
            <a:ext cx="1920240" cy="530352"/>
          </a:xfrm>
          <a:prstGeom prst="roundRect">
            <a:avLst/>
          </a:prstGeom>
          <a:solidFill>
            <a:srgbClr val="E8F2FF"/>
          </a:solidFill>
          <a:ln w="15240">
            <a:solidFill>
              <a:srgbClr val="91B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Aptos"/>
              </a:rPr>
              <a:t>User selects a mood</a:t>
            </a:r>
            <a:endParaRPr sz="1500" b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" name="Diamond 10"/>
          <p:cNvSpPr/>
          <p:nvPr/>
        </p:nvSpPr>
        <p:spPr>
          <a:xfrm>
            <a:off x="4942205" y="866648"/>
            <a:ext cx="2103120" cy="786384"/>
          </a:xfrm>
          <a:prstGeom prst="diamond">
            <a:avLst/>
          </a:prstGeom>
          <a:solidFill>
            <a:srgbClr val="FFF7D6"/>
          </a:solidFill>
          <a:ln w="15240">
            <a:solidFill>
              <a:srgbClr val="C8A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rtlCol="0" anchor="ctr"/>
          <a:lstStyle/>
          <a:p>
            <a:pPr algn="ctr"/>
            <a:r>
              <a:rPr sz="1450" b="1">
                <a:solidFill>
                  <a:srgbClr val="000000"/>
                </a:solidFill>
                <a:latin typeface="Aptos"/>
              </a:rPr>
              <a:t>Is it a negative mood?</a:t>
            </a:r>
            <a:endParaRPr sz="1450" b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173845" y="1061339"/>
            <a:ext cx="1920240" cy="530352"/>
          </a:xfrm>
          <a:prstGeom prst="roundRect">
            <a:avLst/>
          </a:prstGeom>
          <a:solidFill>
            <a:srgbClr val="E8F2FF"/>
          </a:solidFill>
          <a:ln w="15240">
            <a:solidFill>
              <a:srgbClr val="91B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Aptos"/>
              </a:rPr>
              <a:t>Mood data saved</a:t>
            </a:r>
            <a:endParaRPr sz="1500" b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350008" y="1916303"/>
            <a:ext cx="530352" cy="310896"/>
          </a:xfrm>
          <a:prstGeom prst="roundRect">
            <a:avLst/>
          </a:prstGeom>
          <a:solidFill>
            <a:srgbClr val="DFF5E9"/>
          </a:solidFill>
          <a:ln w="15240">
            <a:solidFill>
              <a:srgbClr val="64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Aptos"/>
              </a:rPr>
              <a:t>No</a:t>
            </a:r>
            <a:endParaRPr sz="1300" b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270238" y="1916938"/>
            <a:ext cx="530352" cy="310896"/>
          </a:xfrm>
          <a:prstGeom prst="roundRect">
            <a:avLst/>
          </a:prstGeom>
          <a:solidFill>
            <a:srgbClr val="FFE8E2"/>
          </a:solidFill>
          <a:ln w="15240">
            <a:solidFill>
              <a:srgbClr val="D2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Aptos"/>
              </a:rPr>
              <a:t>Yes</a:t>
            </a:r>
            <a:endParaRPr sz="1300" b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66928" y="2331720"/>
            <a:ext cx="4983480" cy="2331720"/>
          </a:xfrm>
          <a:prstGeom prst="roundRect">
            <a:avLst/>
          </a:prstGeom>
          <a:solidFill>
            <a:srgbClr val="EFFAF3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2000" b="1">
                <a:solidFill>
                  <a:srgbClr val="000000"/>
                </a:solidFill>
                <a:latin typeface="Aptos"/>
              </a:rPr>
              <a:t>Non-negative mood path</a:t>
            </a:r>
            <a:endParaRPr sz="2000" b="1">
              <a:solidFill>
                <a:srgbClr val="000000"/>
              </a:solidFill>
              <a:latin typeface="Aptos"/>
            </a:endParaRPr>
          </a:p>
          <a:p>
            <a:pPr>
              <a:spcBef>
                <a:spcPts val="400"/>
              </a:spcBef>
              <a:defRPr sz="1450">
                <a:solidFill>
                  <a:srgbClr val="000000"/>
                </a:solidFill>
                <a:latin typeface="Aptos"/>
              </a:defRPr>
            </a:pPr>
            <a:r>
              <a:t>Applies to Happy, Excited, and Lazy.</a:t>
            </a:r>
          </a:p>
          <a:p>
            <a:pPr>
              <a:spcBef>
                <a:spcPts val="400"/>
              </a:spcBef>
              <a:defRPr sz="1450">
                <a:solidFill>
                  <a:srgbClr val="000000"/>
                </a:solidFill>
                <a:latin typeface="Aptos"/>
              </a:defRPr>
            </a:pPr>
            <a:r>
              <a:t>Adds +1 to that emotion’s permanent total.</a:t>
            </a:r>
          </a:p>
          <a:p>
            <a:pPr>
              <a:spcBef>
                <a:spcPts val="400"/>
              </a:spcBef>
              <a:defRPr sz="1450">
                <a:solidFill>
                  <a:srgbClr val="000000"/>
                </a:solidFill>
                <a:latin typeface="Aptos"/>
              </a:defRPr>
            </a:pPr>
            <a:r>
              <a:t>Adds one record to check-in history.</a:t>
            </a:r>
          </a:p>
          <a:p>
            <a:pPr>
              <a:spcBef>
                <a:spcPts val="400"/>
              </a:spcBef>
              <a:defRPr sz="1450">
                <a:solidFill>
                  <a:srgbClr val="000000"/>
                </a:solidFill>
                <a:latin typeface="Aptos"/>
              </a:defRPr>
            </a:pPr>
            <a:r>
              <a:t>Resets Sad, Angry, and Anxious warning counters to 0.</a:t>
            </a:r>
          </a:p>
          <a:p>
            <a:pPr>
              <a:spcBef>
                <a:spcPts val="400"/>
              </a:spcBef>
              <a:defRPr sz="1450">
                <a:solidFill>
                  <a:srgbClr val="000000"/>
                </a:solidFill>
                <a:latin typeface="Aptos"/>
              </a:defRPr>
            </a:pPr>
            <a:r>
              <a:t>Shows one matching message and activity.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0256" y="2331720"/>
            <a:ext cx="4983480" cy="2331720"/>
          </a:xfrm>
          <a:prstGeom prst="roundRect">
            <a:avLst/>
          </a:prstGeom>
          <a:solidFill>
            <a:srgbClr val="FFF2EE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l"/>
            <a:r>
              <a:rPr sz="2000" b="1">
                <a:solidFill>
                  <a:srgbClr val="000000"/>
                </a:solidFill>
                <a:latin typeface="Aptos"/>
              </a:rPr>
              <a:t>Negative mood path</a:t>
            </a:r>
            <a:endParaRPr sz="2000" b="1">
              <a:solidFill>
                <a:srgbClr val="000000"/>
              </a:solidFill>
              <a:latin typeface="Aptos"/>
            </a:endParaRPr>
          </a:p>
          <a:p>
            <a:pPr>
              <a:spcBef>
                <a:spcPts val="400"/>
              </a:spcBef>
              <a:defRPr sz="1450">
                <a:solidFill>
                  <a:srgbClr val="000000"/>
                </a:solidFill>
                <a:latin typeface="Aptos"/>
              </a:defRPr>
            </a:pPr>
            <a:r>
              <a:t>Applies to Sad, Angry, and Anxious.</a:t>
            </a:r>
          </a:p>
          <a:p>
            <a:pPr>
              <a:spcBef>
                <a:spcPts val="400"/>
              </a:spcBef>
              <a:defRPr sz="1450">
                <a:solidFill>
                  <a:srgbClr val="000000"/>
                </a:solidFill>
                <a:latin typeface="Aptos"/>
              </a:defRPr>
            </a:pPr>
            <a:r>
              <a:t>Adds +1 to that emotion’s permanent total.</a:t>
            </a:r>
          </a:p>
          <a:p>
            <a:pPr>
              <a:spcBef>
                <a:spcPts val="400"/>
              </a:spcBef>
              <a:defRPr sz="1450">
                <a:solidFill>
                  <a:srgbClr val="000000"/>
                </a:solidFill>
                <a:latin typeface="Aptos"/>
              </a:defRPr>
            </a:pPr>
            <a:r>
              <a:t>Adds one record to check-in history.</a:t>
            </a:r>
          </a:p>
          <a:p>
            <a:pPr>
              <a:spcBef>
                <a:spcPts val="400"/>
              </a:spcBef>
              <a:defRPr sz="1450">
                <a:solidFill>
                  <a:srgbClr val="000000"/>
                </a:solidFill>
                <a:latin typeface="Aptos"/>
              </a:defRPr>
            </a:pPr>
            <a:r>
              <a:t>Increases only that mood’s warning counter.</a:t>
            </a:r>
          </a:p>
          <a:p>
            <a:pPr>
              <a:spcBef>
                <a:spcPts val="400"/>
              </a:spcBef>
              <a:defRPr sz="1450">
                <a:solidFill>
                  <a:srgbClr val="000000"/>
                </a:solidFill>
                <a:latin typeface="Aptos"/>
              </a:defRPr>
            </a:pPr>
            <a:r>
              <a:t>If the warning counter reaches 3 or more, shows a gentle warning.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718304"/>
            <a:ext cx="4718304" cy="566928"/>
          </a:xfrm>
          <a:prstGeom prst="roundRect">
            <a:avLst/>
          </a:prstGeom>
          <a:solidFill>
            <a:srgbClr val="F8FFFA"/>
          </a:solidFill>
          <a:ln w="15240">
            <a:solidFill>
              <a:srgbClr val="AA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/>
            <a:r>
              <a:rPr sz="1280" b="0">
                <a:solidFill>
                  <a:srgbClr val="000000"/>
                </a:solidFill>
                <a:latin typeface="Aptos"/>
              </a:rPr>
              <a:t>Example: Sam had Sad warning = 2, then chooses Happy → Happy total +1, history saved, warning counters reset to 0. Sad total still stays 2.</a:t>
            </a:r>
            <a:endParaRPr sz="1280" b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757416" y="4718304"/>
            <a:ext cx="4718304" cy="566928"/>
          </a:xfrm>
          <a:prstGeom prst="roundRect">
            <a:avLst/>
          </a:prstGeom>
          <a:solidFill>
            <a:srgbClr val="FFF8F6"/>
          </a:solidFill>
          <a:ln w="15240">
            <a:solidFill>
              <a:srgbClr val="E1A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/>
            <a:r>
              <a:rPr sz="1280" b="0">
                <a:solidFill>
                  <a:srgbClr val="000000"/>
                </a:solidFill>
                <a:latin typeface="Aptos"/>
              </a:rPr>
              <a:t>Example: Sam chooses Sad three times → Sad total = 3, Sad warning counter = 3, so the program shows a support warning.</a:t>
            </a:r>
            <a:endParaRPr sz="1280" b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60120" y="5504688"/>
            <a:ext cx="10241280" cy="98755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82296" rIns="164592" bIns="54864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Overall scenario saved after every check-in</a:t>
            </a:r>
            <a:endParaRPr sz="1800" b="1">
              <a:solidFill>
                <a:srgbClr val="000000"/>
              </a:solidFill>
              <a:latin typeface="Aptos"/>
            </a:endParaRPr>
          </a:p>
          <a:p>
            <a:pPr algn="ctr"/>
            <a:r>
              <a:rPr sz="1400">
                <a:solidFill>
                  <a:srgbClr val="000000"/>
                </a:solidFill>
                <a:latin typeface="Aptos"/>
              </a:rPr>
              <a:t>Complete totals for all six emotions  +  total check-ins  +  last mood  +  timestamped history  +  warning counters for negative moods</a:t>
            </a:r>
            <a:endParaRPr sz="1400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Test Cases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0467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      Simple checks to show the updated program works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114300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Test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011680" y="1325880"/>
            <a:ext cx="374904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Input / Action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126480" y="1325880"/>
            <a:ext cx="544068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Expected Result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1847088"/>
            <a:ext cx="1143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</a:rPr>
              <a:t>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011680" y="1847088"/>
            <a:ext cx="3749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111827"/>
                </a:solidFill>
              </a:rPr>
              <a:t>New user: Name = Sam, Age = 21</a:t>
            </a:r>
            <a:endParaRPr lang="en-US" sz="1210" dirty="0"/>
          </a:p>
        </p:txBody>
      </p:sp>
      <p:sp>
        <p:nvSpPr>
          <p:cNvPr id="10" name="Text 8"/>
          <p:cNvSpPr/>
          <p:nvPr/>
        </p:nvSpPr>
        <p:spPr>
          <a:xfrm>
            <a:off x="6126480" y="1847088"/>
            <a:ext cx="5440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111827"/>
                </a:solidFill>
              </a:rPr>
              <a:t>Creates one user record with all emotion counters set to 0.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594360" y="2423160"/>
            <a:ext cx="1143000" cy="438912"/>
          </a:xfrm>
          <a:prstGeom prst="rect">
            <a:avLst/>
          </a:prstGeom>
          <a:solidFill>
            <a:srgbClr val="F3F6FA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</a:rPr>
              <a:t>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011680" y="2423160"/>
            <a:ext cx="3749040" cy="438912"/>
          </a:xfrm>
          <a:prstGeom prst="rect">
            <a:avLst/>
          </a:prstGeom>
          <a:solidFill>
            <a:srgbClr val="F3F6FA"/>
          </a:solidFill>
          <a:ln w="12700"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111827"/>
                </a:solidFill>
              </a:rPr>
              <a:t>Sam checks in as Happy, then Excited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6126480" y="2423160"/>
            <a:ext cx="5440680" cy="438912"/>
          </a:xfrm>
          <a:prstGeom prst="rect">
            <a:avLst/>
          </a:prstGeom>
          <a:solidFill>
            <a:srgbClr val="F3F6FA"/>
          </a:solidFill>
          <a:ln w="12700"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111827"/>
                </a:solidFill>
              </a:rPr>
              <a:t>Happy = 1, Excited = 1, total_check_ins = 2.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594360" y="2999232"/>
            <a:ext cx="1143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</a:rPr>
              <a:t>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011680" y="2999232"/>
            <a:ext cx="3749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111827"/>
                </a:solidFill>
              </a:rPr>
              <a:t>Sam returns with Age = 25</a:t>
            </a:r>
            <a:endParaRPr lang="en-US" sz="1210" dirty="0"/>
          </a:p>
        </p:txBody>
      </p:sp>
      <p:sp>
        <p:nvSpPr>
          <p:cNvPr id="16" name="Text 14"/>
          <p:cNvSpPr/>
          <p:nvPr/>
        </p:nvSpPr>
        <p:spPr>
          <a:xfrm>
            <a:off x="6126480" y="2999232"/>
            <a:ext cx="5440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111827"/>
                </a:solidFill>
              </a:rPr>
              <a:t>Program rejects the age because saved Sam is 21.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594360" y="3575304"/>
            <a:ext cx="1143000" cy="438912"/>
          </a:xfrm>
          <a:prstGeom prst="rect">
            <a:avLst/>
          </a:prstGeom>
          <a:solidFill>
            <a:srgbClr val="F3F6FA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</a:rPr>
              <a:t>4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011680" y="3575304"/>
            <a:ext cx="3749040" cy="438912"/>
          </a:xfrm>
          <a:prstGeom prst="rect">
            <a:avLst/>
          </a:prstGeom>
          <a:solidFill>
            <a:srgbClr val="F3F6FA"/>
          </a:solidFill>
          <a:ln w="12700"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111827"/>
                </a:solidFill>
              </a:rPr>
              <a:t>Sam checks in Sad three times</a:t>
            </a:r>
            <a:endParaRPr lang="en-US" sz="1210" dirty="0"/>
          </a:p>
        </p:txBody>
      </p:sp>
      <p:sp>
        <p:nvSpPr>
          <p:cNvPr id="19" name="Text 17"/>
          <p:cNvSpPr/>
          <p:nvPr/>
        </p:nvSpPr>
        <p:spPr>
          <a:xfrm>
            <a:off x="6126480" y="3575304"/>
            <a:ext cx="5440680" cy="438912"/>
          </a:xfrm>
          <a:prstGeom prst="rect">
            <a:avLst/>
          </a:prstGeom>
          <a:solidFill>
            <a:srgbClr val="F3F6FA"/>
          </a:solidFill>
          <a:ln w="12700"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111827"/>
                </a:solidFill>
              </a:rPr>
              <a:t>Sad cumulative count increases and warning appears on count 3.</a:t>
            </a:r>
            <a:endParaRPr lang="en-US" sz="1210" dirty="0"/>
          </a:p>
        </p:txBody>
      </p:sp>
      <p:sp>
        <p:nvSpPr>
          <p:cNvPr id="20" name="Text 18"/>
          <p:cNvSpPr/>
          <p:nvPr/>
        </p:nvSpPr>
        <p:spPr>
          <a:xfrm>
            <a:off x="594360" y="4151376"/>
            <a:ext cx="1143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</a:rPr>
              <a:t>5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011680" y="4151376"/>
            <a:ext cx="3749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111827"/>
                </a:solidFill>
              </a:rPr>
              <a:t>After Sad warnings, Sam checks in Lazy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6126480" y="4151376"/>
            <a:ext cx="5440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111827"/>
                </a:solidFill>
              </a:rPr>
              <a:t>Lazy count increases; negative warning counters reset only.</a:t>
            </a:r>
            <a:endParaRPr lang="en-US" sz="1210" dirty="0"/>
          </a:p>
        </p:txBody>
      </p:sp>
      <p:sp>
        <p:nvSpPr>
          <p:cNvPr id="23" name="Text 21"/>
          <p:cNvSpPr/>
          <p:nvPr/>
        </p:nvSpPr>
        <p:spPr>
          <a:xfrm>
            <a:off x="594360" y="4727448"/>
            <a:ext cx="1143000" cy="438912"/>
          </a:xfrm>
          <a:prstGeom prst="rect">
            <a:avLst/>
          </a:prstGeom>
          <a:solidFill>
            <a:srgbClr val="F3F6FA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</a:rPr>
              <a:t>6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011680" y="4727448"/>
            <a:ext cx="3749040" cy="438912"/>
          </a:xfrm>
          <a:prstGeom prst="rect">
            <a:avLst/>
          </a:prstGeom>
          <a:solidFill>
            <a:srgbClr val="F3F6FA"/>
          </a:solidFill>
          <a:ln w="12700"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111827"/>
                </a:solidFill>
              </a:rPr>
              <a:t>Close and reopen program for Sam, Age = 21</a:t>
            </a:r>
            <a:endParaRPr lang="en-US" sz="1210" dirty="0"/>
          </a:p>
        </p:txBody>
      </p:sp>
      <p:sp>
        <p:nvSpPr>
          <p:cNvPr id="25" name="Text 23"/>
          <p:cNvSpPr/>
          <p:nvPr/>
        </p:nvSpPr>
        <p:spPr>
          <a:xfrm>
            <a:off x="6126480" y="4727448"/>
            <a:ext cx="5440680" cy="438912"/>
          </a:xfrm>
          <a:prstGeom prst="rect">
            <a:avLst/>
          </a:prstGeom>
          <a:solidFill>
            <a:srgbClr val="F3F6FA"/>
          </a:solidFill>
          <a:ln w="12700"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111827"/>
                </a:solidFill>
              </a:rPr>
              <a:t>Saved counters and check-in history are loaded again.</a:t>
            </a:r>
            <a:endParaRPr lang="en-US" sz="1210" dirty="0"/>
          </a:p>
        </p:txBody>
      </p:sp>
      <p:sp>
        <p:nvSpPr>
          <p:cNvPr id="26" name="Text 24"/>
          <p:cNvSpPr/>
          <p:nvPr/>
        </p:nvSpPr>
        <p:spPr>
          <a:xfrm>
            <a:off x="914400" y="5795645"/>
            <a:ext cx="10241280" cy="44577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</a:rPr>
              <a:t>These tests cover user creation, duplicate prevention, complete emotion tracking, warnings, reset logic, and persistence.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02920" y="6537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MoodBuddy — Complete Emotion Tracking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384280" y="653796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                                            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0467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3200400" cy="658368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3A5F"/>
                </a:solidFill>
              </a:rPr>
              <a:t>MoodBuddy checks identity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508760"/>
            <a:ext cx="3200400" cy="658368"/>
          </a:xfrm>
          <a:prstGeom prst="rect">
            <a:avLst/>
          </a:prstGeom>
          <a:solidFill>
            <a:srgbClr val="DDF4EF"/>
          </a:solidFill>
          <a:ln w="12700">
            <a:solidFill>
              <a:srgbClr val="DDF4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3A5F"/>
                </a:solidFill>
              </a:rPr>
              <a:t>MoodBuddy records emotion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0" y="1508760"/>
            <a:ext cx="3200400" cy="658368"/>
          </a:xfrm>
          <a:prstGeom prst="rect">
            <a:avLst/>
          </a:prstGeom>
          <a:solidFill>
            <a:srgbClr val="FFF5E6"/>
          </a:solidFill>
          <a:ln w="12700">
            <a:solidFill>
              <a:srgbClr val="FFF5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3A5F"/>
                </a:solidFill>
              </a:rPr>
              <a:t>MoodBuddy saves history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096512" y="1828800"/>
            <a:ext cx="219456" cy="0"/>
          </a:xfrm>
          <a:prstGeom prst="line">
            <a:avLst/>
          </a:prstGeom>
          <a:noFill/>
          <a:ln w="27940">
            <a:solidFill>
              <a:srgbClr val="1D9A8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08392" y="1828800"/>
            <a:ext cx="219456" cy="0"/>
          </a:xfrm>
          <a:prstGeom prst="line">
            <a:avLst/>
          </a:prstGeom>
          <a:noFill/>
          <a:ln w="27940">
            <a:solidFill>
              <a:srgbClr val="1D9A8A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051560" y="27889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3273552"/>
            <a:ext cx="201168" cy="20116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DDF4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32461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It is like a friendly mood diary that remembers the user.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1143000" y="3730752"/>
            <a:ext cx="201168" cy="20116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DDF4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37033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It gives a helpful message and activity every time.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0" y="27889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92240" y="3273552"/>
            <a:ext cx="201168" cy="20116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3246120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It uses functions, dictionaries, JSON storage, validation, and loops.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92240" y="3730752"/>
            <a:ext cx="201168" cy="20116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3703320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It separates cumulative counters from warning counters.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43000" y="5074920"/>
            <a:ext cx="9921240" cy="7132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1E3A5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Key takeaway: the updated program tracks the complete emotional journey of each user without creating duplicate or conflicting records.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2920" y="65379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MoodBuddy — Complete Emotion Tracking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84280" y="653796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</p:pic>
      <p:sp>
        <p:nvSpPr>
          <p:cNvPr id="3" name="Rounded Rectangle 2"/>
          <p:cNvSpPr/>
          <p:nvPr/>
        </p:nvSpPr>
        <p:spPr>
          <a:xfrm>
            <a:off x="327025" y="876300"/>
            <a:ext cx="10889615" cy="49301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1135" y="1097280"/>
            <a:ext cx="8415655" cy="15360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4600" b="1">
                <a:solidFill>
                  <a:srgbClr val="2B3A55"/>
                </a:solidFill>
                <a:latin typeface="Aptos Display"/>
              </a:rPr>
              <a:t>                  </a:t>
            </a:r>
            <a:r>
              <a:rPr sz="4600" b="1">
                <a:solidFill>
                  <a:srgbClr val="2B3A55"/>
                </a:solidFill>
                <a:latin typeface="Aptos Display"/>
              </a:rPr>
              <a:t>Thank You!</a:t>
            </a:r>
            <a:endParaRPr sz="4600" b="1">
              <a:solidFill>
                <a:srgbClr val="2B3A55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91790" y="2331720"/>
            <a:ext cx="6757670" cy="914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100" b="0">
                <a:solidFill>
                  <a:srgbClr val="404C64"/>
                </a:solidFill>
                <a:latin typeface="Aptos"/>
              </a:rPr>
              <a:t>MoodBuddy helps users pause, reflect, and understand their emotions over time.</a:t>
            </a:r>
            <a:endParaRPr sz="2100" b="0">
              <a:solidFill>
                <a:srgbClr val="404C64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73375" y="3429000"/>
            <a:ext cx="6059170" cy="7689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534989"/>
                </a:solidFill>
                <a:latin typeface="Aptos"/>
              </a:rPr>
              <a:t>Keep checking in — small moments of awareness can make a big difference.</a:t>
            </a:r>
            <a:endParaRPr sz="2500" b="1">
              <a:solidFill>
                <a:srgbClr val="534989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23110" y="4663440"/>
            <a:ext cx="823976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200" b="0">
                <a:solidFill>
                  <a:srgbClr val="2B3A55"/>
                </a:solidFill>
                <a:latin typeface="Aptos"/>
              </a:rPr>
              <a:t>              </a:t>
            </a:r>
            <a:r>
              <a:rPr sz="2200" b="0">
                <a:solidFill>
                  <a:srgbClr val="2B3A55"/>
                </a:solidFill>
                <a:latin typeface="Aptos"/>
              </a:rPr>
              <a:t>Wish you a calm, positive, and nice day!</a:t>
            </a:r>
            <a:r>
              <a:rPr lang="en-US" sz="2200" b="0">
                <a:solidFill>
                  <a:srgbClr val="2B3A55"/>
                </a:solidFill>
                <a:latin typeface="Aptos"/>
              </a:rPr>
              <a:t>  </a:t>
            </a:r>
            <a:endParaRPr lang="en-US" sz="2200" b="0">
              <a:solidFill>
                <a:srgbClr val="2B3A55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33295" y="5276215"/>
            <a:ext cx="6317615" cy="3930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800" b="1">
                <a:solidFill>
                  <a:srgbClr val="5B8570"/>
                </a:solidFill>
                <a:latin typeface="Aptos"/>
              </a:rPr>
              <a:t>                                    </a:t>
            </a:r>
            <a:r>
              <a:rPr sz="1800" b="1">
                <a:solidFill>
                  <a:srgbClr val="5B8570"/>
                </a:solidFill>
                <a:latin typeface="Aptos"/>
              </a:rPr>
              <a:t>Questions &amp; Discussion</a:t>
            </a:r>
            <a:endParaRPr sz="1800" b="1">
              <a:solidFill>
                <a:srgbClr val="5B8570"/>
              </a:solidFill>
              <a:latin typeface="Apto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1.76000000000005,&quot;left&quot;:64.8,&quot;top&quot;:195.83999999999997,&quot;width&quot;:799.2}"/>
</p:tagLst>
</file>

<file path=ppt/tags/tag2.xml><?xml version="1.0" encoding="utf-8"?>
<p:tagLst xmlns:p="http://schemas.openxmlformats.org/presentationml/2006/main">
  <p:tag name="KSO_WM_DIAGRAM_VIRTUALLY_FRAME" val="{&quot;height&quot;:221.76000000000005,&quot;left&quot;:64.8,&quot;top&quot;:195.83999999999997,&quot;width&quot;:799.2}"/>
</p:tagLst>
</file>

<file path=ppt/tags/tag3.xml><?xml version="1.0" encoding="utf-8"?>
<p:tagLst xmlns:p="http://schemas.openxmlformats.org/presentationml/2006/main">
  <p:tag name="KSO_WM_DIAGRAM_VIRTUALLY_FRAME" val="{&quot;height&quot;:221.76000000000005,&quot;left&quot;:64.8,&quot;top&quot;:195.83999999999997,&quot;width&quot;:799.2}"/>
</p:tagLst>
</file>

<file path=ppt/tags/tag4.xml><?xml version="1.0" encoding="utf-8"?>
<p:tagLst xmlns:p="http://schemas.openxmlformats.org/presentationml/2006/main">
  <p:tag name="KSO_WM_DIAGRAM_VIRTUALLY_FRAME" val="{&quot;height&quot;:221.76000000000005,&quot;left&quot;:64.8,&quot;top&quot;:195.83999999999997,&quot;width&quot;:799.2}"/>
</p:tagLst>
</file>

<file path=ppt/tags/tag5.xml><?xml version="1.0" encoding="utf-8"?>
<p:tagLst xmlns:p="http://schemas.openxmlformats.org/presentationml/2006/main">
  <p:tag name="KSO_WM_DIAGRAM_VIRTUALLY_FRAME" val="{&quot;height&quot;:221.76000000000005,&quot;left&quot;:64.8,&quot;top&quot;:195.83999999999997,&quot;width&quot;:799.2}"/>
</p:tagLst>
</file>

<file path=ppt/tags/tag6.xml><?xml version="1.0" encoding="utf-8"?>
<p:tagLst xmlns:p="http://schemas.openxmlformats.org/presentationml/2006/main">
  <p:tag name="KSO_WM_DIAGRAM_VIRTUALLY_FRAME" val="{&quot;height&quot;:221.76000000000005,&quot;left&quot;:64.8,&quot;top&quot;:195.83999999999997,&quot;width&quot;:799.2}"/>
</p:tagLst>
</file>

<file path=ppt/tags/tag7.xml><?xml version="1.0" encoding="utf-8"?>
<p:tagLst xmlns:p="http://schemas.openxmlformats.org/presentationml/2006/main">
  <p:tag name="KSO_WM_DIAGRAM_VIRTUALLY_FRAME" val="{&quot;height&quot;:221.76000000000005,&quot;left&quot;:64.8,&quot;top&quot;:195.83999999999997,&quot;width&quot;:799.2}"/>
</p:tagLst>
</file>

<file path=ppt/tags/tag8.xml><?xml version="1.0" encoding="utf-8"?>
<p:tagLst xmlns:p="http://schemas.openxmlformats.org/presentationml/2006/main">
  <p:tag name="KSO_WM_DIAGRAM_VIRTUALLY_FRAME" val="{&quot;height&quot;:221.76000000000005,&quot;left&quot;:64.8,&quot;top&quot;:195.83999999999997,&quot;width&quot;:799.2}"/>
</p:tagLst>
</file>

<file path=ppt/tags/tag9.xml><?xml version="1.0" encoding="utf-8"?>
<p:tagLst xmlns:p="http://schemas.openxmlformats.org/presentationml/2006/main">
  <p:tag name="KSO_WM_DIAGRAM_VIRTUALLY_FRAME" val="{&quot;height&quot;:221.76000000000005,&quot;left&quot;:64.8,&quot;top&quot;:195.83999999999997,&quot;width&quot;:799.2}"/>
</p:tagLst>
</file>

<file path=ppt/tags/tag10.xml><?xml version="1.0" encoding="utf-8"?>
<p:tagLst xmlns:p="http://schemas.openxmlformats.org/presentationml/2006/main">
  <p:tag name="KSO_WM_DIAGRAM_VIRTUALLY_FRAME" val="{&quot;height&quot;:221.76000000000005,&quot;left&quot;:64.8,&quot;top&quot;:195.83999999999997,&quot;width&quot;:799.2}"/>
</p:tagLst>
</file>

<file path=ppt/tags/tag11.xml><?xml version="1.0" encoding="utf-8"?>
<p:tagLst xmlns:p="http://schemas.openxmlformats.org/presentationml/2006/main">
  <p:tag name="KSO_WM_DIAGRAM_VIRTUALLY_FRAME" val="{&quot;height&quot;:221.76000000000005,&quot;left&quot;:64.8,&quot;top&quot;:195.83999999999997,&quot;width&quot;:799.2}"/>
</p:tagLst>
</file>

<file path=ppt/tags/tag12.xml><?xml version="1.0" encoding="utf-8"?>
<p:tagLst xmlns:p="http://schemas.openxmlformats.org/presentationml/2006/main">
  <p:tag name="KSO_WM_DIAGRAM_VIRTUALLY_FRAME" val="{&quot;height&quot;:221.76000000000005,&quot;left&quot;:64.8,&quot;top&quot;:195.83999999999997,&quot;width&quot;:799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6634</Words>
  <Application>WPS Presentation</Application>
  <PresentationFormat>On-screen Show (16:9)</PresentationFormat>
  <Paragraphs>344</Paragraphs>
  <Slides>11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Aptos Display</vt:lpstr>
      <vt:lpstr>Segoe UI Variable Display</vt:lpstr>
      <vt:lpstr>Aptos Display</vt:lpstr>
      <vt:lpstr>Aptos Display</vt:lpstr>
      <vt:lpstr>Aptos</vt:lpstr>
      <vt:lpstr>Segoe UI</vt:lpstr>
      <vt:lpstr>Aptos Display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MoodBuddy: Complete Emotion Tracking</dc:title>
  <dc:creator>OpenAI</dc:creator>
  <dc:subject>MoodBuddy updated program presentation</dc:subject>
  <cp:lastModifiedBy>Akhila Chennamaneni</cp:lastModifiedBy>
  <cp:revision>8</cp:revision>
  <dcterms:created xsi:type="dcterms:W3CDTF">2026-07-15T08:31:00Z</dcterms:created>
  <dcterms:modified xsi:type="dcterms:W3CDTF">2026-07-15T13:31:18Z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0A689E87EA81430E97853A94B7E7D18F_13</vt:lpwstr>
  </property>
  <property fmtid="{D5CDD505-2E9C-101B-9397-08002B2CF9AE}" pid="3" name="KSOProductBuildVer">
    <vt:lpwstr>2057-12.2.0.23206</vt:lpwstr>
  </property>
</Properties>
</file>